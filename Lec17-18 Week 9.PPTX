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69" r:id="rId2"/>
    <p:sldId id="256" r:id="rId3"/>
    <p:sldId id="258" r:id="rId4"/>
    <p:sldId id="270" r:id="rId5"/>
    <p:sldId id="271" r:id="rId6"/>
    <p:sldId id="272" r:id="rId7"/>
    <p:sldId id="273" r:id="rId8"/>
    <p:sldId id="274" r:id="rId9"/>
    <p:sldId id="275" r:id="rId10"/>
    <p:sldId id="276" r:id="rId11"/>
    <p:sldId id="277" r:id="rId12"/>
    <p:sldId id="278" r:id="rId13"/>
    <p:sldId id="279" r:id="rId14"/>
    <p:sldId id="280" r:id="rId15"/>
    <p:sldId id="281" r:id="rId16"/>
    <p:sldId id="282" r:id="rId17"/>
    <p:sldId id="283" r:id="rId18"/>
    <p:sldId id="284" r:id="rId19"/>
    <p:sldId id="285" r:id="rId20"/>
    <p:sldId id="286" r:id="rId21"/>
    <p:sldId id="287" r:id="rId22"/>
    <p:sldId id="288"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6E9C27-E3E9-4ECE-91D6-C86B8A982AFF}" type="datetimeFigureOut">
              <a:rPr lang="en-US" smtClean="0"/>
              <a:t>4/21/2020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9C65CE-6E43-4991-BCB5-F04EC8E19620}" type="slidenum">
              <a:rPr lang="en-US" smtClean="0"/>
              <a:t>‹#›</a:t>
            </a:fld>
            <a:endParaRPr lang="en-US"/>
          </a:p>
        </p:txBody>
      </p:sp>
    </p:spTree>
    <p:extLst>
      <p:ext uri="{BB962C8B-B14F-4D97-AF65-F5344CB8AC3E}">
        <p14:creationId xmlns:p14="http://schemas.microsoft.com/office/powerpoint/2010/main" val="1449594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A4929E7D-67C2-478D-B0AC-3878201898D8}" type="datetimeFigureOut">
              <a:rPr lang="en-US" smtClean="0"/>
              <a:t>4/21/2020</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1533613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929E7D-67C2-478D-B0AC-3878201898D8}" type="datetimeFigureOut">
              <a:rPr lang="en-US" smtClean="0"/>
              <a:t>4/21/2020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186617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929E7D-67C2-478D-B0AC-3878201898D8}" type="datetimeFigureOut">
              <a:rPr lang="en-US" smtClean="0"/>
              <a:t>4/21/2020</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608802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929E7D-67C2-478D-B0AC-3878201898D8}" type="datetimeFigureOut">
              <a:rPr lang="en-US" smtClean="0"/>
              <a:t>4/21/2020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1342479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929E7D-67C2-478D-B0AC-3878201898D8}" type="datetimeFigureOut">
              <a:rPr lang="en-US" smtClean="0"/>
              <a:t>4/21/2020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3394841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929E7D-67C2-478D-B0AC-3878201898D8}" type="datetimeFigureOut">
              <a:rPr lang="en-US" smtClean="0"/>
              <a:t>4/21/2020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811724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929E7D-67C2-478D-B0AC-3878201898D8}" type="datetimeFigureOut">
              <a:rPr lang="en-US" smtClean="0"/>
              <a:t>4/21/2020</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926420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929E7D-67C2-478D-B0AC-3878201898D8}" type="datetimeFigureOut">
              <a:rPr lang="en-US" smtClean="0"/>
              <a:t>4/21/2020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1215843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929E7D-67C2-478D-B0AC-3878201898D8}" type="datetimeFigureOut">
              <a:rPr lang="en-US" smtClean="0"/>
              <a:t>4/21/2020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387495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929E7D-67C2-478D-B0AC-3878201898D8}" type="datetimeFigureOut">
              <a:rPr lang="en-US" smtClean="0"/>
              <a:t>4/21/2020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28521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4929E7D-67C2-478D-B0AC-3878201898D8}" type="datetimeFigureOut">
              <a:rPr lang="en-US" smtClean="0"/>
              <a:t>4/21/2020</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7071221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4929E7D-67C2-478D-B0AC-3878201898D8}" type="datetimeFigureOut">
              <a:rPr lang="en-US" smtClean="0"/>
              <a:t>4/21/2020</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1746390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929E7D-67C2-478D-B0AC-3878201898D8}" type="datetimeFigureOut">
              <a:rPr lang="en-US" smtClean="0"/>
              <a:t>4/21/2020</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4684204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A4929E7D-67C2-478D-B0AC-3878201898D8}" type="datetimeFigureOut">
              <a:rPr lang="en-US" smtClean="0"/>
              <a:t>4/21/2020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7988893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A4929E7D-67C2-478D-B0AC-3878201898D8}" type="datetimeFigureOut">
              <a:rPr lang="en-US" smtClean="0"/>
              <a:t>4/21/2020</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4674948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A4929E7D-67C2-478D-B0AC-3878201898D8}" type="datetimeFigureOut">
              <a:rPr lang="en-US" smtClean="0"/>
              <a:t>4/21/2020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2658168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A4929E7D-67C2-478D-B0AC-3878201898D8}" type="datetimeFigureOut">
              <a:rPr lang="en-US" smtClean="0"/>
              <a:t>4/21/2020</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1868651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A4929E7D-67C2-478D-B0AC-3878201898D8}" type="datetimeFigureOut">
              <a:rPr lang="en-US" smtClean="0"/>
              <a:t>4/21/2020</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C7E73C9B-D9A2-4DA2-AF94-DBE9ACB31512}" type="slidenum">
              <a:rPr lang="en-US" smtClean="0"/>
              <a:t>‹#›</a:t>
            </a:fld>
            <a:endParaRPr lang="en-US"/>
          </a:p>
        </p:txBody>
      </p:sp>
    </p:spTree>
    <p:extLst>
      <p:ext uri="{BB962C8B-B14F-4D97-AF65-F5344CB8AC3E}">
        <p14:creationId xmlns:p14="http://schemas.microsoft.com/office/powerpoint/2010/main" val="38078877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5065" y="1064260"/>
            <a:ext cx="8825865" cy="3713480"/>
          </a:xfrm>
        </p:spPr>
        <p:txBody>
          <a:bodyPr>
            <a:normAutofit fontScale="90000"/>
          </a:bodyPr>
          <a:lstStyle/>
          <a:p>
            <a:pPr algn="ctr"/>
            <a:br>
              <a:rPr lang="en-US" dirty="0"/>
            </a:br>
            <a:br>
              <a:rPr lang="en-US" dirty="0"/>
            </a:br>
            <a:br>
              <a:rPr lang="en-US" dirty="0"/>
            </a:br>
            <a:br>
              <a:rPr lang="en-US" dirty="0"/>
            </a:br>
            <a:br>
              <a:rPr lang="en-US" dirty="0"/>
            </a:br>
            <a:br>
              <a:rPr lang="en-US" dirty="0"/>
            </a:br>
            <a:r>
              <a:rPr lang="en-US" sz="4000" dirty="0"/>
              <a:t>BSSE    -Software Quality Engineering</a:t>
            </a:r>
            <a:r>
              <a:rPr lang="en-US" sz="4400" dirty="0"/>
              <a:t>					</a:t>
            </a:r>
            <a:br>
              <a:rPr lang="en-US" sz="4400" dirty="0"/>
            </a:br>
            <a:r>
              <a:rPr lang="en-US" sz="4400" dirty="0"/>
              <a:t>Week-9	</a:t>
            </a:r>
            <a:r>
              <a:rPr lang="en-US" sz="4400"/>
              <a:t>	Lecture17-18</a:t>
            </a:r>
            <a:br>
              <a:rPr lang="en-US" sz="4400" dirty="0"/>
            </a:br>
            <a:r>
              <a:rPr lang="en-US" sz="4400" dirty="0"/>
              <a:t>	</a:t>
            </a:r>
            <a:r>
              <a:rPr lang="en-US" sz="2800" dirty="0"/>
              <a:t>Semester 6- Fall 2020</a:t>
            </a:r>
          </a:p>
        </p:txBody>
      </p:sp>
      <p:sp>
        <p:nvSpPr>
          <p:cNvPr id="3" name="Subtitle 2"/>
          <p:cNvSpPr>
            <a:spLocks noGrp="1"/>
          </p:cNvSpPr>
          <p:nvPr>
            <p:ph type="subTitle" idx="1"/>
          </p:nvPr>
        </p:nvSpPr>
        <p:spPr>
          <a:xfrm>
            <a:off x="1155065" y="4777105"/>
            <a:ext cx="8825865" cy="1313815"/>
          </a:xfrm>
        </p:spPr>
        <p:txBody>
          <a:bodyPr>
            <a:normAutofit/>
          </a:bodyPr>
          <a:lstStyle/>
          <a:p>
            <a:pPr lvl="8" algn="l"/>
            <a:r>
              <a:rPr lang="en-US" dirty="0">
                <a:latin typeface="Arial" panose="020B0604020202020204" pitchFamily="34" charset="0"/>
                <a:cs typeface="Arial" panose="020B0604020202020204" pitchFamily="34" charset="0"/>
              </a:rPr>
              <a:t>			</a:t>
            </a:r>
          </a:p>
        </p:txBody>
      </p:sp>
      <p:sp>
        <p:nvSpPr>
          <p:cNvPr id="5" name="Footer Placeholder 4"/>
          <p:cNvSpPr>
            <a:spLocks noGrp="1"/>
          </p:cNvSpPr>
          <p:nvPr>
            <p:ph type="ftr" sz="quarter" idx="11"/>
          </p:nvPr>
        </p:nvSpPr>
        <p:spPr/>
        <p:txBody>
          <a:bodyPr/>
          <a:lstStyle/>
          <a:p>
            <a:r>
              <a:rPr lang="en-US"/>
              <a:t>Lahore Garrison University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 y="90351"/>
            <a:ext cx="1905000" cy="1905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7DDE3-1166-4864-A589-F0348820FB31}"/>
              </a:ext>
            </a:extLst>
          </p:cNvPr>
          <p:cNvSpPr>
            <a:spLocks noGrp="1"/>
          </p:cNvSpPr>
          <p:nvPr>
            <p:ph type="ctrTitle"/>
          </p:nvPr>
        </p:nvSpPr>
        <p:spPr>
          <a:xfrm>
            <a:off x="1028346" y="1219200"/>
            <a:ext cx="8825658" cy="2677648"/>
          </a:xfrm>
        </p:spPr>
        <p:txBody>
          <a:bodyPr/>
          <a:lstStyle/>
          <a:p>
            <a:r>
              <a:rPr lang="en-US" dirty="0"/>
              <a:t>TYPES OF TESTING TECHNIQUES</a:t>
            </a:r>
          </a:p>
        </p:txBody>
      </p:sp>
      <p:sp>
        <p:nvSpPr>
          <p:cNvPr id="3" name="Subtitle 2">
            <a:extLst>
              <a:ext uri="{FF2B5EF4-FFF2-40B4-BE49-F238E27FC236}">
                <a16:creationId xmlns:a16="http://schemas.microsoft.com/office/drawing/2014/main" id="{EB48AA91-670D-4FE5-A42D-FF21D0BDF00F}"/>
              </a:ext>
            </a:extLst>
          </p:cNvPr>
          <p:cNvSpPr>
            <a:spLocks noGrp="1"/>
          </p:cNvSpPr>
          <p:nvPr>
            <p:ph type="subTitle" idx="1"/>
          </p:nvPr>
        </p:nvSpPr>
        <p:spPr>
          <a:xfrm>
            <a:off x="1140887" y="4186537"/>
            <a:ext cx="9255138" cy="1173254"/>
          </a:xfrm>
        </p:spPr>
        <p:txBody>
          <a:bodyPr>
            <a:normAutofit/>
          </a:bodyPr>
          <a:lstStyle/>
          <a:p>
            <a:endParaRPr lang="en-US" dirty="0">
              <a:solidFill>
                <a:schemeClr val="bg1"/>
              </a:solidFill>
            </a:endParaRPr>
          </a:p>
          <a:p>
            <a:r>
              <a:rPr lang="en-US" dirty="0">
                <a:solidFill>
                  <a:schemeClr val="bg1"/>
                </a:solidFill>
              </a:rPr>
              <a:t>Ms. Zarsha Nazim</a:t>
            </a:r>
          </a:p>
        </p:txBody>
      </p:sp>
    </p:spTree>
    <p:extLst>
      <p:ext uri="{BB962C8B-B14F-4D97-AF65-F5344CB8AC3E}">
        <p14:creationId xmlns:p14="http://schemas.microsoft.com/office/powerpoint/2010/main" val="2843346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F7717-7695-43CC-8338-F41E9437AD7B}"/>
              </a:ext>
            </a:extLst>
          </p:cNvPr>
          <p:cNvSpPr>
            <a:spLocks noGrp="1"/>
          </p:cNvSpPr>
          <p:nvPr>
            <p:ph type="title"/>
          </p:nvPr>
        </p:nvSpPr>
        <p:spPr/>
        <p:txBody>
          <a:bodyPr/>
          <a:lstStyle/>
          <a:p>
            <a:r>
              <a:rPr lang="en-US" dirty="0"/>
              <a:t>Learning Outcomes</a:t>
            </a:r>
          </a:p>
        </p:txBody>
      </p:sp>
      <p:sp>
        <p:nvSpPr>
          <p:cNvPr id="3" name="Content Placeholder 2">
            <a:extLst>
              <a:ext uri="{FF2B5EF4-FFF2-40B4-BE49-F238E27FC236}">
                <a16:creationId xmlns:a16="http://schemas.microsoft.com/office/drawing/2014/main" id="{E10509C8-B7EF-44E5-AD9F-AE3D12A03D5F}"/>
              </a:ext>
            </a:extLst>
          </p:cNvPr>
          <p:cNvSpPr>
            <a:spLocks noGrp="1"/>
          </p:cNvSpPr>
          <p:nvPr>
            <p:ph idx="1"/>
          </p:nvPr>
        </p:nvSpPr>
        <p:spPr>
          <a:xfrm>
            <a:off x="633045" y="2321169"/>
            <a:ext cx="10860259" cy="4079631"/>
          </a:xfrm>
        </p:spPr>
        <p:txBody>
          <a:bodyPr>
            <a:normAutofit/>
          </a:bodyPr>
          <a:lstStyle/>
          <a:p>
            <a:endParaRPr lang="en-US" dirty="0"/>
          </a:p>
        </p:txBody>
      </p:sp>
    </p:spTree>
    <p:extLst>
      <p:ext uri="{BB962C8B-B14F-4D97-AF65-F5344CB8AC3E}">
        <p14:creationId xmlns:p14="http://schemas.microsoft.com/office/powerpoint/2010/main" val="4006220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071F2-E445-4FF5-A422-DB0388A06089}"/>
              </a:ext>
            </a:extLst>
          </p:cNvPr>
          <p:cNvSpPr>
            <a:spLocks noGrp="1"/>
          </p:cNvSpPr>
          <p:nvPr>
            <p:ph type="title"/>
          </p:nvPr>
        </p:nvSpPr>
        <p:spPr>
          <a:xfrm>
            <a:off x="1154954" y="1156548"/>
            <a:ext cx="8761413" cy="706964"/>
          </a:xfrm>
        </p:spPr>
        <p:txBody>
          <a:bodyPr/>
          <a:lstStyle/>
          <a:p>
            <a:r>
              <a:rPr lang="en-US" dirty="0"/>
              <a:t>What are the different types of Software Testing?</a:t>
            </a:r>
            <a:br>
              <a:rPr lang="en-US" dirty="0"/>
            </a:br>
            <a:endParaRPr lang="en-US" dirty="0"/>
          </a:p>
        </p:txBody>
      </p:sp>
      <p:sp>
        <p:nvSpPr>
          <p:cNvPr id="3" name="Content Placeholder 2">
            <a:extLst>
              <a:ext uri="{FF2B5EF4-FFF2-40B4-BE49-F238E27FC236}">
                <a16:creationId xmlns:a16="http://schemas.microsoft.com/office/drawing/2014/main" id="{8D2FD23F-AE1C-452F-A5FC-5EEE36ED8D36}"/>
              </a:ext>
            </a:extLst>
          </p:cNvPr>
          <p:cNvSpPr>
            <a:spLocks noGrp="1"/>
          </p:cNvSpPr>
          <p:nvPr>
            <p:ph idx="1"/>
          </p:nvPr>
        </p:nvSpPr>
        <p:spPr/>
        <p:txBody>
          <a:bodyPr/>
          <a:lstStyle/>
          <a:p>
            <a:endParaRPr lang="en-US" dirty="0"/>
          </a:p>
          <a:p>
            <a:r>
              <a:rPr lang="en-US" dirty="0"/>
              <a:t>We, as testers are aware of the various types of Software Testing such as Functional Testing, Non-Functional Testing, Automation Testing, Agile Testing, and their sub-types, etc.</a:t>
            </a:r>
          </a:p>
          <a:p>
            <a:r>
              <a:rPr lang="en-US" dirty="0"/>
              <a:t>Each of us would have come across several types of testing in our testing journey. We might have heard some and we might have worked on some, but not everyone has knowledge about all the testing types</a:t>
            </a:r>
          </a:p>
        </p:txBody>
      </p:sp>
    </p:spTree>
    <p:extLst>
      <p:ext uri="{BB962C8B-B14F-4D97-AF65-F5344CB8AC3E}">
        <p14:creationId xmlns:p14="http://schemas.microsoft.com/office/powerpoint/2010/main" val="886989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0FF06-71D3-49C4-A547-E0F319E23ECC}"/>
              </a:ext>
            </a:extLst>
          </p:cNvPr>
          <p:cNvSpPr>
            <a:spLocks noGrp="1"/>
          </p:cNvSpPr>
          <p:nvPr>
            <p:ph type="title"/>
          </p:nvPr>
        </p:nvSpPr>
        <p:spPr>
          <a:xfrm>
            <a:off x="1589649" y="1083212"/>
            <a:ext cx="9248615" cy="808435"/>
          </a:xfrm>
        </p:spPr>
        <p:txBody>
          <a:bodyPr/>
          <a:lstStyle/>
          <a:p>
            <a:r>
              <a:rPr lang="en-US" dirty="0"/>
              <a:t>Different Types Of Software Testing</a:t>
            </a:r>
            <a:br>
              <a:rPr lang="en-US" dirty="0"/>
            </a:br>
            <a:r>
              <a:rPr lang="en-US" dirty="0"/>
              <a:t>Given below is the list of some common types of Software Testing:</a:t>
            </a:r>
            <a:br>
              <a:rPr lang="en-US" dirty="0"/>
            </a:br>
            <a:endParaRPr lang="en-US" dirty="0"/>
          </a:p>
        </p:txBody>
      </p:sp>
      <p:sp>
        <p:nvSpPr>
          <p:cNvPr id="3" name="Content Placeholder 2">
            <a:extLst>
              <a:ext uri="{FF2B5EF4-FFF2-40B4-BE49-F238E27FC236}">
                <a16:creationId xmlns:a16="http://schemas.microsoft.com/office/drawing/2014/main" id="{BFAAA77F-E0B0-45C7-ACBC-880AD79274D3}"/>
              </a:ext>
            </a:extLst>
          </p:cNvPr>
          <p:cNvSpPr>
            <a:spLocks noGrp="1"/>
          </p:cNvSpPr>
          <p:nvPr>
            <p:ph idx="1"/>
          </p:nvPr>
        </p:nvSpPr>
        <p:spPr>
          <a:xfrm>
            <a:off x="732000" y="2391508"/>
            <a:ext cx="9248614" cy="3628292"/>
          </a:xfrm>
        </p:spPr>
        <p:txBody>
          <a:bodyPr>
            <a:normAutofit fontScale="77500" lnSpcReduction="20000"/>
          </a:bodyPr>
          <a:lstStyle/>
          <a:p>
            <a:endParaRPr lang="en-US" dirty="0"/>
          </a:p>
          <a:p>
            <a:r>
              <a:rPr lang="en-US" dirty="0"/>
              <a:t>Functional Testing types include:</a:t>
            </a:r>
          </a:p>
          <a:p>
            <a:endParaRPr lang="en-US" dirty="0"/>
          </a:p>
          <a:p>
            <a:r>
              <a:rPr lang="en-US" dirty="0"/>
              <a:t>Unit Testing</a:t>
            </a:r>
          </a:p>
          <a:p>
            <a:r>
              <a:rPr lang="en-US" dirty="0"/>
              <a:t>Integration Testing</a:t>
            </a:r>
          </a:p>
          <a:p>
            <a:r>
              <a:rPr lang="en-US" dirty="0"/>
              <a:t>System Testing</a:t>
            </a:r>
          </a:p>
          <a:p>
            <a:r>
              <a:rPr lang="en-US" dirty="0"/>
              <a:t>Sanity Testing</a:t>
            </a:r>
          </a:p>
          <a:p>
            <a:r>
              <a:rPr lang="en-US" dirty="0"/>
              <a:t>Smoke Testing</a:t>
            </a:r>
          </a:p>
          <a:p>
            <a:r>
              <a:rPr lang="en-US" dirty="0"/>
              <a:t>Interface Testing</a:t>
            </a:r>
          </a:p>
          <a:p>
            <a:r>
              <a:rPr lang="en-US" dirty="0"/>
              <a:t>Regression Testing</a:t>
            </a:r>
          </a:p>
          <a:p>
            <a:r>
              <a:rPr lang="en-US" dirty="0"/>
              <a:t>Beta/Acceptance Testing</a:t>
            </a:r>
          </a:p>
          <a:p>
            <a:r>
              <a:rPr lang="en-US" dirty="0"/>
              <a:t>Non-functional Testing types include:</a:t>
            </a:r>
          </a:p>
          <a:p>
            <a:endParaRPr lang="en-US" dirty="0"/>
          </a:p>
          <a:p>
            <a:endParaRPr lang="en-US" dirty="0"/>
          </a:p>
        </p:txBody>
      </p:sp>
    </p:spTree>
    <p:extLst>
      <p:ext uri="{BB962C8B-B14F-4D97-AF65-F5344CB8AC3E}">
        <p14:creationId xmlns:p14="http://schemas.microsoft.com/office/powerpoint/2010/main" val="3746025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BE9B7-A73A-4070-B57B-D9A4F018889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AE3BD6D-D25C-46C4-9B98-34978F7465D1}"/>
              </a:ext>
            </a:extLst>
          </p:cNvPr>
          <p:cNvSpPr>
            <a:spLocks noGrp="1"/>
          </p:cNvSpPr>
          <p:nvPr>
            <p:ph idx="1"/>
          </p:nvPr>
        </p:nvSpPr>
        <p:spPr>
          <a:xfrm>
            <a:off x="1012874" y="2229272"/>
            <a:ext cx="9150619" cy="4339168"/>
          </a:xfrm>
        </p:spPr>
        <p:txBody>
          <a:bodyPr>
            <a:normAutofit fontScale="92500" lnSpcReduction="10000"/>
          </a:bodyPr>
          <a:lstStyle/>
          <a:p>
            <a:r>
              <a:rPr lang="en-US" dirty="0"/>
              <a:t>Performance Testing</a:t>
            </a:r>
          </a:p>
          <a:p>
            <a:r>
              <a:rPr lang="en-US" dirty="0"/>
              <a:t>Load Testing</a:t>
            </a:r>
          </a:p>
          <a:p>
            <a:r>
              <a:rPr lang="en-US" dirty="0"/>
              <a:t>Stress Testing</a:t>
            </a:r>
          </a:p>
          <a:p>
            <a:r>
              <a:rPr lang="en-US" dirty="0"/>
              <a:t>Volume Testing</a:t>
            </a:r>
          </a:p>
          <a:p>
            <a:r>
              <a:rPr lang="en-US" dirty="0"/>
              <a:t>Security Testing</a:t>
            </a:r>
          </a:p>
          <a:p>
            <a:r>
              <a:rPr lang="en-US" dirty="0"/>
              <a:t>Compatibility Testing</a:t>
            </a:r>
          </a:p>
          <a:p>
            <a:r>
              <a:rPr lang="en-US" dirty="0"/>
              <a:t>Install Testing</a:t>
            </a:r>
          </a:p>
          <a:p>
            <a:r>
              <a:rPr lang="en-US" dirty="0"/>
              <a:t>Recovery Testing</a:t>
            </a:r>
          </a:p>
          <a:p>
            <a:r>
              <a:rPr lang="en-US" dirty="0"/>
              <a:t>Reliability Testing</a:t>
            </a:r>
          </a:p>
          <a:p>
            <a:r>
              <a:rPr lang="en-US" dirty="0"/>
              <a:t>Usability Testing</a:t>
            </a:r>
          </a:p>
          <a:p>
            <a:r>
              <a:rPr lang="en-US" dirty="0"/>
              <a:t>Compliance Testing</a:t>
            </a:r>
          </a:p>
          <a:p>
            <a:r>
              <a:rPr lang="en-US" dirty="0"/>
              <a:t>Localization Testing</a:t>
            </a:r>
          </a:p>
        </p:txBody>
      </p:sp>
    </p:spTree>
    <p:extLst>
      <p:ext uri="{BB962C8B-B14F-4D97-AF65-F5344CB8AC3E}">
        <p14:creationId xmlns:p14="http://schemas.microsoft.com/office/powerpoint/2010/main" val="1172112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29531-D2C2-4960-9449-C97789E4C8A4}"/>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F1DF98A2-40B4-4621-8487-1957332D2190}"/>
              </a:ext>
            </a:extLst>
          </p:cNvPr>
          <p:cNvPicPr>
            <a:picLocks noGrp="1" noChangeAspect="1"/>
          </p:cNvPicPr>
          <p:nvPr>
            <p:ph idx="1"/>
          </p:nvPr>
        </p:nvPicPr>
        <p:blipFill>
          <a:blip r:embed="rId2"/>
          <a:stretch>
            <a:fillRect/>
          </a:stretch>
        </p:blipFill>
        <p:spPr>
          <a:xfrm>
            <a:off x="1154954" y="581985"/>
            <a:ext cx="8761413" cy="5998540"/>
          </a:xfrm>
          <a:prstGeom prst="rect">
            <a:avLst/>
          </a:prstGeom>
        </p:spPr>
      </p:pic>
    </p:spTree>
    <p:extLst>
      <p:ext uri="{BB962C8B-B14F-4D97-AF65-F5344CB8AC3E}">
        <p14:creationId xmlns:p14="http://schemas.microsoft.com/office/powerpoint/2010/main" val="2750596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63F54-BDE4-4B35-AB7E-F00747B5A46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654032E-C51C-4B76-9391-DBD6E0EEA9E5}"/>
              </a:ext>
            </a:extLst>
          </p:cNvPr>
          <p:cNvSpPr>
            <a:spLocks noGrp="1"/>
          </p:cNvSpPr>
          <p:nvPr>
            <p:ph idx="1"/>
          </p:nvPr>
        </p:nvSpPr>
        <p:spPr>
          <a:xfrm>
            <a:off x="567396" y="2510627"/>
            <a:ext cx="11057207" cy="5295771"/>
          </a:xfrm>
        </p:spPr>
        <p:txBody>
          <a:bodyPr>
            <a:normAutofit/>
          </a:bodyPr>
          <a:lstStyle/>
          <a:p>
            <a:r>
              <a:rPr lang="en-US" dirty="0"/>
              <a:t>#1) Alpha Testing</a:t>
            </a:r>
          </a:p>
          <a:p>
            <a:r>
              <a:rPr lang="en-US" dirty="0"/>
              <a:t>It is the most common type of testing used in the Software industry. The objective of this testing is to identify all possible issues or defects before releasing it into the market or to the user.</a:t>
            </a:r>
          </a:p>
          <a:p>
            <a:r>
              <a:rPr lang="en-US" dirty="0"/>
              <a:t>Alpha Testing is carried out at the end of the software development phase but before the Beta Testing. Still, minor design changes may be made as a result of such testing.</a:t>
            </a:r>
          </a:p>
          <a:p>
            <a:r>
              <a:rPr lang="en-US" dirty="0"/>
              <a:t>Alpha Testing is conducted at the developer’s site. In-house virtual user environment can be created for this type of testing.</a:t>
            </a:r>
          </a:p>
          <a:p>
            <a:endParaRPr lang="en-US" dirty="0"/>
          </a:p>
        </p:txBody>
      </p:sp>
    </p:spTree>
    <p:extLst>
      <p:ext uri="{BB962C8B-B14F-4D97-AF65-F5344CB8AC3E}">
        <p14:creationId xmlns:p14="http://schemas.microsoft.com/office/powerpoint/2010/main" val="4262737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B2D49-4AF4-432E-B9D7-E44A14B87A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6CC5A0A-75C6-4256-B043-040CDAA21257}"/>
              </a:ext>
            </a:extLst>
          </p:cNvPr>
          <p:cNvSpPr>
            <a:spLocks noGrp="1"/>
          </p:cNvSpPr>
          <p:nvPr>
            <p:ph idx="1"/>
          </p:nvPr>
        </p:nvSpPr>
        <p:spPr/>
        <p:txBody>
          <a:bodyPr/>
          <a:lstStyle/>
          <a:p>
            <a:r>
              <a:rPr lang="en-US" dirty="0"/>
              <a:t>#2) Acceptance Testing</a:t>
            </a:r>
          </a:p>
          <a:p>
            <a:r>
              <a:rPr lang="en-US" dirty="0"/>
              <a:t>An Acceptance Test is performed by the client and verifies whether the end to end the flow of the system is as per the business requirements or not and if it is as per the needs of the end-user. Client accepts the software only when all the features and functionalities work as expected.</a:t>
            </a:r>
          </a:p>
          <a:p>
            <a:r>
              <a:rPr lang="en-US" dirty="0"/>
              <a:t>It is the last phase of the testing, after which the software goes into production. This is also called User Acceptance Testing (UAT).</a:t>
            </a:r>
          </a:p>
          <a:p>
            <a:endParaRPr lang="en-US" dirty="0"/>
          </a:p>
        </p:txBody>
      </p:sp>
    </p:spTree>
    <p:extLst>
      <p:ext uri="{BB962C8B-B14F-4D97-AF65-F5344CB8AC3E}">
        <p14:creationId xmlns:p14="http://schemas.microsoft.com/office/powerpoint/2010/main" val="448002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96ED2-2854-4BF5-BD45-3148CB0549C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4FB887C-9355-4FAD-8C0A-62E4B0D20183}"/>
              </a:ext>
            </a:extLst>
          </p:cNvPr>
          <p:cNvSpPr>
            <a:spLocks noGrp="1"/>
          </p:cNvSpPr>
          <p:nvPr>
            <p:ph idx="1"/>
          </p:nvPr>
        </p:nvSpPr>
        <p:spPr/>
        <p:txBody>
          <a:bodyPr>
            <a:normAutofit fontScale="92500" lnSpcReduction="20000"/>
          </a:bodyPr>
          <a:lstStyle/>
          <a:p>
            <a:r>
              <a:rPr lang="en-US" dirty="0"/>
              <a:t>#3) Ad-hoc Testing</a:t>
            </a:r>
          </a:p>
          <a:p>
            <a:r>
              <a:rPr lang="en-US" dirty="0"/>
              <a:t>The name itself suggests that this testing is performed on an Ad-hoc basis i.e. with no reference to the test case and also without any plan or documentation in place for such type of testing.</a:t>
            </a:r>
          </a:p>
          <a:p>
            <a:endParaRPr lang="en-US" dirty="0"/>
          </a:p>
          <a:p>
            <a:r>
              <a:rPr lang="en-US" dirty="0"/>
              <a:t>The objective of this testing is to find the defects and break the application by executing any flow of the application or any random functionality.</a:t>
            </a:r>
          </a:p>
          <a:p>
            <a:endParaRPr lang="en-US" dirty="0"/>
          </a:p>
          <a:p>
            <a:r>
              <a:rPr lang="en-US" dirty="0"/>
              <a:t>Ad-hoc Testing is an informal way of finding defects and can be performed by anyone in the project. It is difficult to identify defects without a test case but sometimes it is possible that defects found during ad-hoc testing might not have been identified using existing test cases.</a:t>
            </a:r>
          </a:p>
        </p:txBody>
      </p:sp>
    </p:spTree>
    <p:extLst>
      <p:ext uri="{BB962C8B-B14F-4D97-AF65-F5344CB8AC3E}">
        <p14:creationId xmlns:p14="http://schemas.microsoft.com/office/powerpoint/2010/main" val="4275072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0ABFC-A9F0-42CF-9ECD-92A6E71B26B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74CF1D6-7423-43FE-B7DE-A49E9822B6AC}"/>
              </a:ext>
            </a:extLst>
          </p:cNvPr>
          <p:cNvSpPr>
            <a:spLocks noGrp="1"/>
          </p:cNvSpPr>
          <p:nvPr>
            <p:ph idx="1"/>
          </p:nvPr>
        </p:nvSpPr>
        <p:spPr/>
        <p:txBody>
          <a:bodyPr/>
          <a:lstStyle/>
          <a:p>
            <a:r>
              <a:rPr lang="en-US" dirty="0"/>
              <a:t>#4) Accessibility Testing</a:t>
            </a:r>
          </a:p>
          <a:p>
            <a:r>
              <a:rPr lang="en-US" dirty="0"/>
              <a:t>The aim of Accessibility Testing is to determine whether the software or application is accessible for disabled people or not.</a:t>
            </a:r>
          </a:p>
          <a:p>
            <a:endParaRPr lang="en-US" dirty="0"/>
          </a:p>
          <a:p>
            <a:r>
              <a:rPr lang="en-US" dirty="0"/>
              <a:t>Here, disability means deaf, color blind, mentally disabled, blind, old age and other disabled groups. Various checks are performed such as font size for visually disabled, color and contrast for color blindness, etc.</a:t>
            </a:r>
          </a:p>
          <a:p>
            <a:endParaRPr lang="en-US" dirty="0"/>
          </a:p>
        </p:txBody>
      </p:sp>
    </p:spTree>
    <p:extLst>
      <p:ext uri="{BB962C8B-B14F-4D97-AF65-F5344CB8AC3E}">
        <p14:creationId xmlns:p14="http://schemas.microsoft.com/office/powerpoint/2010/main" val="3215253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D3B07-9466-41DA-A3FB-6A9CC2F84D1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3EDCB43-6166-446E-A4FD-A4322BA76959}"/>
              </a:ext>
            </a:extLst>
          </p:cNvPr>
          <p:cNvSpPr>
            <a:spLocks noGrp="1"/>
          </p:cNvSpPr>
          <p:nvPr>
            <p:ph idx="1"/>
          </p:nvPr>
        </p:nvSpPr>
        <p:spPr>
          <a:xfrm>
            <a:off x="675249" y="2447778"/>
            <a:ext cx="9811801" cy="3543886"/>
          </a:xfrm>
        </p:spPr>
        <p:txBody>
          <a:bodyPr>
            <a:normAutofit fontScale="85000" lnSpcReduction="20000"/>
          </a:bodyPr>
          <a:lstStyle/>
          <a:p>
            <a:r>
              <a:rPr lang="en-US" dirty="0"/>
              <a:t>#5) Beta Testing</a:t>
            </a:r>
          </a:p>
          <a:p>
            <a:r>
              <a:rPr lang="en-US" dirty="0"/>
              <a:t>Beta Testing is a formal type of Software Testing which is carried out by the customer. It is performed in the Real Environment before releasing the product to the market for the actual end-users.</a:t>
            </a:r>
          </a:p>
          <a:p>
            <a:endParaRPr lang="en-US" dirty="0"/>
          </a:p>
          <a:p>
            <a:r>
              <a:rPr lang="en-US" dirty="0"/>
              <a:t>Beta Testing is carried out to ensure that there are no major failures in the software or product and it satisfies the business requirements from an end-user perspective. Beta Testing is successful when the customer accepts the software.</a:t>
            </a:r>
          </a:p>
          <a:p>
            <a:endParaRPr lang="en-US" dirty="0"/>
          </a:p>
          <a:p>
            <a:r>
              <a:rPr lang="en-US" dirty="0"/>
              <a:t>Usually, this testing is typically done by end-users or others. It is the final testing done before releasing an application for commercial purpose. Usually, the Beta version of the software or product released is limited to a certain number of users in a specific area.</a:t>
            </a:r>
          </a:p>
          <a:p>
            <a:endParaRPr lang="en-US" dirty="0"/>
          </a:p>
          <a:p>
            <a:r>
              <a:rPr lang="en-US" dirty="0"/>
              <a:t>So end-user actually uses the software and shares the feedback to the company. Company then takes necessary action before releasing the software to the worldwide.</a:t>
            </a:r>
          </a:p>
        </p:txBody>
      </p:sp>
    </p:spTree>
    <p:extLst>
      <p:ext uri="{BB962C8B-B14F-4D97-AF65-F5344CB8AC3E}">
        <p14:creationId xmlns:p14="http://schemas.microsoft.com/office/powerpoint/2010/main" val="1453680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5C834-47F1-4B89-9A1D-6D20BBD5B8E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983A4E3-F58A-4D19-AF9F-FDBC689F3624}"/>
              </a:ext>
            </a:extLst>
          </p:cNvPr>
          <p:cNvSpPr>
            <a:spLocks noGrp="1"/>
          </p:cNvSpPr>
          <p:nvPr>
            <p:ph idx="1"/>
          </p:nvPr>
        </p:nvSpPr>
        <p:spPr>
          <a:xfrm>
            <a:off x="745589" y="2349304"/>
            <a:ext cx="9375702" cy="3881511"/>
          </a:xfrm>
        </p:spPr>
        <p:txBody>
          <a:bodyPr>
            <a:normAutofit fontScale="85000" lnSpcReduction="20000"/>
          </a:bodyPr>
          <a:lstStyle/>
          <a:p>
            <a:r>
              <a:rPr lang="en-US" dirty="0"/>
              <a:t>#5) Beta Testing</a:t>
            </a:r>
          </a:p>
          <a:p>
            <a:r>
              <a:rPr lang="en-US" dirty="0"/>
              <a:t>Beta Testing is a formal type of Software Testing which is carried out by the customer. It is performed in the Real Environment before releasing the product to the market for the actual end-users.</a:t>
            </a:r>
          </a:p>
          <a:p>
            <a:endParaRPr lang="en-US" dirty="0"/>
          </a:p>
          <a:p>
            <a:r>
              <a:rPr lang="en-US" dirty="0"/>
              <a:t>Beta Testing is carried out to ensure that there are no major failures in the software or product and it satisfies the business requirements from an end-user perspective. Beta Testing is successful when the customer accepts the software.</a:t>
            </a:r>
          </a:p>
          <a:p>
            <a:endParaRPr lang="en-US" dirty="0"/>
          </a:p>
          <a:p>
            <a:r>
              <a:rPr lang="en-US" dirty="0"/>
              <a:t>Usually, this testing is typically done by end-users or others. It is the final testing done before releasing an application for commercial purpose. Usually, the Beta version of the software or product released is limited to a certain number of users in a specific area.</a:t>
            </a:r>
          </a:p>
          <a:p>
            <a:endParaRPr lang="en-US" dirty="0"/>
          </a:p>
          <a:p>
            <a:r>
              <a:rPr lang="en-US" dirty="0"/>
              <a:t>So end-user actually uses the software and shares the feedback to the company. Company then takes necessary action before releasing the software to the worldwide.</a:t>
            </a:r>
          </a:p>
          <a:p>
            <a:endParaRPr lang="en-US" dirty="0"/>
          </a:p>
          <a:p>
            <a:endParaRPr lang="en-US" dirty="0"/>
          </a:p>
        </p:txBody>
      </p:sp>
    </p:spTree>
    <p:extLst>
      <p:ext uri="{BB962C8B-B14F-4D97-AF65-F5344CB8AC3E}">
        <p14:creationId xmlns:p14="http://schemas.microsoft.com/office/powerpoint/2010/main" val="1841614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6A2AD-AA7F-4E87-A1ED-48C76C142B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EC1FB8-4F5C-4360-BD23-72AD04BFDA0C}"/>
              </a:ext>
            </a:extLst>
          </p:cNvPr>
          <p:cNvSpPr>
            <a:spLocks noGrp="1"/>
          </p:cNvSpPr>
          <p:nvPr>
            <p:ph idx="1"/>
          </p:nvPr>
        </p:nvSpPr>
        <p:spPr>
          <a:xfrm>
            <a:off x="815926" y="2419644"/>
            <a:ext cx="10367889" cy="3742006"/>
          </a:xfrm>
        </p:spPr>
        <p:txBody>
          <a:bodyPr>
            <a:normAutofit fontScale="92500" lnSpcReduction="20000"/>
          </a:bodyPr>
          <a:lstStyle/>
          <a:p>
            <a:r>
              <a:rPr lang="en-US" dirty="0"/>
              <a:t>#6) Back-end Testing</a:t>
            </a:r>
          </a:p>
          <a:p>
            <a:r>
              <a:rPr lang="en-US" dirty="0"/>
              <a:t>Whenever an input or data is entered on front-end application, it stores in the database and the testing of such database is known as Database Testing or Backend Testing.</a:t>
            </a:r>
          </a:p>
          <a:p>
            <a:endParaRPr lang="en-US" dirty="0"/>
          </a:p>
          <a:p>
            <a:r>
              <a:rPr lang="en-US" dirty="0"/>
              <a:t>There are different databases like SQL Server, MySQL, and Oracle, etc. Database Testing involves testing of table structure, schema, stored procedure, data structure and so on.</a:t>
            </a:r>
          </a:p>
          <a:p>
            <a:endParaRPr lang="en-US" dirty="0"/>
          </a:p>
          <a:p>
            <a:r>
              <a:rPr lang="en-US" dirty="0"/>
              <a:t>In Back-end Testing GUI is not involved, testers are directly connected to the database with proper access and testers can easily verify data by running a few queries on the database.</a:t>
            </a:r>
          </a:p>
          <a:p>
            <a:endParaRPr lang="en-US" dirty="0"/>
          </a:p>
          <a:p>
            <a:r>
              <a:rPr lang="en-US" dirty="0"/>
              <a:t>There can be issues identified like data loss, deadlock, data corruption </a:t>
            </a:r>
            <a:r>
              <a:rPr lang="en-US" dirty="0" err="1"/>
              <a:t>etc</a:t>
            </a:r>
            <a:r>
              <a:rPr lang="en-US" dirty="0"/>
              <a:t> during this back-end testing and these issues are critical to fixing before the system goes live into the production environment</a:t>
            </a:r>
          </a:p>
        </p:txBody>
      </p:sp>
    </p:spTree>
    <p:extLst>
      <p:ext uri="{BB962C8B-B14F-4D97-AF65-F5344CB8AC3E}">
        <p14:creationId xmlns:p14="http://schemas.microsoft.com/office/powerpoint/2010/main" val="3017196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4F2B2-F972-4267-8C8A-0E9C0529162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901A872-4CA9-4409-AC94-C6985F2832BD}"/>
              </a:ext>
            </a:extLst>
          </p:cNvPr>
          <p:cNvSpPr>
            <a:spLocks noGrp="1"/>
          </p:cNvSpPr>
          <p:nvPr>
            <p:ph idx="1"/>
          </p:nvPr>
        </p:nvSpPr>
        <p:spPr/>
        <p:txBody>
          <a:bodyPr>
            <a:normAutofit/>
          </a:bodyPr>
          <a:lstStyle/>
          <a:p>
            <a:r>
              <a:rPr lang="en-US" dirty="0"/>
              <a:t>Browser Compatibility Testing</a:t>
            </a:r>
          </a:p>
          <a:p>
            <a:r>
              <a:rPr lang="en-US" dirty="0"/>
              <a:t>It is a subtype of Compatibility Testing (which is explained below) and is performed by the testing team.</a:t>
            </a:r>
          </a:p>
          <a:p>
            <a:endParaRPr lang="en-US" dirty="0"/>
          </a:p>
          <a:p>
            <a:r>
              <a:rPr lang="en-US" dirty="0"/>
              <a:t>Browser Compatibility Testing is performed for web applications and it ensures that the software can run with the combination of different browser and operating system. This type of testing also validates whether web application runs on all versions of all browsers or not.</a:t>
            </a:r>
          </a:p>
          <a:p>
            <a:endParaRPr lang="en-US" dirty="0"/>
          </a:p>
        </p:txBody>
      </p:sp>
    </p:spTree>
    <p:extLst>
      <p:ext uri="{BB962C8B-B14F-4D97-AF65-F5344CB8AC3E}">
        <p14:creationId xmlns:p14="http://schemas.microsoft.com/office/powerpoint/2010/main" val="3534641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A268B-2C64-4428-9B72-ECE8A3C9967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8604A95-F6DC-466C-A559-26922CF3A908}"/>
              </a:ext>
            </a:extLst>
          </p:cNvPr>
          <p:cNvSpPr>
            <a:spLocks noGrp="1"/>
          </p:cNvSpPr>
          <p:nvPr>
            <p:ph idx="1"/>
          </p:nvPr>
        </p:nvSpPr>
        <p:spPr>
          <a:xfrm>
            <a:off x="661182" y="2603500"/>
            <a:ext cx="9319431" cy="3416300"/>
          </a:xfrm>
        </p:spPr>
        <p:txBody>
          <a:bodyPr>
            <a:normAutofit fontScale="92500" lnSpcReduction="10000"/>
          </a:bodyPr>
          <a:lstStyle/>
          <a:p>
            <a:r>
              <a:rPr lang="en-US" dirty="0"/>
              <a:t>#8) Backward Compatibility Testing</a:t>
            </a:r>
          </a:p>
          <a:p>
            <a:r>
              <a:rPr lang="en-US" dirty="0"/>
              <a:t>It is a type of testing which validates whether the newly developed software or updated software works well with the older version of the environment or not.</a:t>
            </a:r>
          </a:p>
          <a:p>
            <a:endParaRPr lang="en-US" dirty="0"/>
          </a:p>
          <a:p>
            <a:r>
              <a:rPr lang="en-US" dirty="0"/>
              <a:t>Backward Compatibility Testing checks whether the new version of the software works properly with file format created by an older version of the software; it also works well with data tables, data files, data structure created by the older version of that software.</a:t>
            </a:r>
          </a:p>
          <a:p>
            <a:endParaRPr lang="en-US" dirty="0"/>
          </a:p>
          <a:p>
            <a:r>
              <a:rPr lang="en-US" dirty="0"/>
              <a:t>If any of the software is updated then it should work well on top of the previous version of that software.</a:t>
            </a:r>
          </a:p>
          <a:p>
            <a:endParaRPr lang="en-US" dirty="0"/>
          </a:p>
        </p:txBody>
      </p:sp>
    </p:spTree>
    <p:extLst>
      <p:ext uri="{BB962C8B-B14F-4D97-AF65-F5344CB8AC3E}">
        <p14:creationId xmlns:p14="http://schemas.microsoft.com/office/powerpoint/2010/main" val="2941353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90277-A44E-4284-8B9E-7950A15E7F5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BD1EFF-46D6-42FA-A7AE-ADA2F042F002}"/>
              </a:ext>
            </a:extLst>
          </p:cNvPr>
          <p:cNvSpPr>
            <a:spLocks noGrp="1"/>
          </p:cNvSpPr>
          <p:nvPr>
            <p:ph idx="1"/>
          </p:nvPr>
        </p:nvSpPr>
        <p:spPr>
          <a:xfrm>
            <a:off x="239152" y="2307102"/>
            <a:ext cx="10789920" cy="4079630"/>
          </a:xfrm>
        </p:spPr>
        <p:txBody>
          <a:bodyPr>
            <a:normAutofit fontScale="85000" lnSpcReduction="20000"/>
          </a:bodyPr>
          <a:lstStyle/>
          <a:p>
            <a:r>
              <a:rPr lang="en-US" dirty="0"/>
              <a:t>#11) Branch Testing</a:t>
            </a:r>
          </a:p>
          <a:p>
            <a:r>
              <a:rPr lang="en-US" dirty="0"/>
              <a:t>It is a type of White box Testing and is carried out during Unit Testing. Branch Testing, the name itself suggests that the code is tested thoroughly by traversing at every branch.</a:t>
            </a:r>
          </a:p>
          <a:p>
            <a:endParaRPr lang="en-US" dirty="0"/>
          </a:p>
          <a:p>
            <a:r>
              <a:rPr lang="en-US" dirty="0"/>
              <a:t>#12) Comparison Testing</a:t>
            </a:r>
          </a:p>
          <a:p>
            <a:r>
              <a:rPr lang="en-US" dirty="0"/>
              <a:t>Comparison of a product's strength and weaknesses with its previous versions or other similar products is termed as Comparison Testing.</a:t>
            </a:r>
          </a:p>
          <a:p>
            <a:endParaRPr lang="en-US" dirty="0"/>
          </a:p>
          <a:p>
            <a:r>
              <a:rPr lang="en-US" dirty="0"/>
              <a:t>#13) Compatibility Testing</a:t>
            </a:r>
          </a:p>
          <a:p>
            <a:r>
              <a:rPr lang="en-US" dirty="0"/>
              <a:t>It is a testing type in which it validates how software behaves and runs in a different environment, web servers, hardware, and network environment.</a:t>
            </a:r>
          </a:p>
          <a:p>
            <a:endParaRPr lang="en-US" dirty="0"/>
          </a:p>
          <a:p>
            <a:r>
              <a:rPr lang="en-US" dirty="0"/>
              <a:t>Compatibility testing ensures that software can run on a different configuration, different database, different browsers, and their versions. Compatibility testing is performed by the testing team.</a:t>
            </a:r>
          </a:p>
        </p:txBody>
      </p:sp>
    </p:spTree>
    <p:extLst>
      <p:ext uri="{BB962C8B-B14F-4D97-AF65-F5344CB8AC3E}">
        <p14:creationId xmlns:p14="http://schemas.microsoft.com/office/powerpoint/2010/main" val="2021140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E59BB-BAE7-4092-BC69-5C1E84E47BC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88F9CE-4A87-487A-9CA5-A3388DD34D54}"/>
              </a:ext>
            </a:extLst>
          </p:cNvPr>
          <p:cNvSpPr>
            <a:spLocks noGrp="1"/>
          </p:cNvSpPr>
          <p:nvPr>
            <p:ph idx="1"/>
          </p:nvPr>
        </p:nvSpPr>
        <p:spPr/>
        <p:txBody>
          <a:bodyPr>
            <a:normAutofit lnSpcReduction="10000"/>
          </a:bodyPr>
          <a:lstStyle/>
          <a:p>
            <a:r>
              <a:rPr lang="en-US" dirty="0"/>
              <a:t>#14) Component Testing</a:t>
            </a:r>
          </a:p>
          <a:p>
            <a:r>
              <a:rPr lang="en-US" dirty="0"/>
              <a:t>It is mostly performed by developers after the completion of unit testing. Component Testing involves testing of multiple functionalities as a single code and its objective is to identify if any defect exists after connecting those multiple functionalities with each other.</a:t>
            </a:r>
          </a:p>
          <a:p>
            <a:endParaRPr lang="en-US" dirty="0"/>
          </a:p>
          <a:p>
            <a:r>
              <a:rPr lang="en-US" dirty="0"/>
              <a:t>#15) End-to-End Testing</a:t>
            </a:r>
          </a:p>
          <a:p>
            <a:r>
              <a:rPr lang="en-US" dirty="0"/>
              <a:t>Similar to system testing, End-to-End Testing involves testing of a complete application environment in a situation that mimics real-world use, such as interacting with a database, using network communications, or interacting with other hardware, applications, or systems if appropriate.</a:t>
            </a:r>
          </a:p>
        </p:txBody>
      </p:sp>
    </p:spTree>
    <p:extLst>
      <p:ext uri="{BB962C8B-B14F-4D97-AF65-F5344CB8AC3E}">
        <p14:creationId xmlns:p14="http://schemas.microsoft.com/office/powerpoint/2010/main" val="21857225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5CB47-06DE-45E2-80FE-91FD2058736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4BA5A67-EAC0-4E8E-9C66-AAE1FF4CD90C}"/>
              </a:ext>
            </a:extLst>
          </p:cNvPr>
          <p:cNvSpPr>
            <a:spLocks noGrp="1"/>
          </p:cNvSpPr>
          <p:nvPr>
            <p:ph idx="1"/>
          </p:nvPr>
        </p:nvSpPr>
        <p:spPr>
          <a:xfrm>
            <a:off x="759655" y="2489981"/>
            <a:ext cx="9431973" cy="3839308"/>
          </a:xfrm>
        </p:spPr>
        <p:txBody>
          <a:bodyPr>
            <a:normAutofit fontScale="70000" lnSpcReduction="20000"/>
          </a:bodyPr>
          <a:lstStyle/>
          <a:p>
            <a:r>
              <a:rPr lang="en-US" dirty="0"/>
              <a:t>#17) Example Testing</a:t>
            </a:r>
          </a:p>
          <a:p>
            <a:r>
              <a:rPr lang="en-US" dirty="0"/>
              <a:t>It means real-time testing. Example Testing includes the real-time scenario, it also involves the scenarios based on the experience of the testers.</a:t>
            </a:r>
          </a:p>
          <a:p>
            <a:endParaRPr lang="en-US" dirty="0"/>
          </a:p>
          <a:p>
            <a:r>
              <a:rPr lang="en-US" dirty="0"/>
              <a:t>#18) Exploratory Testing</a:t>
            </a:r>
          </a:p>
          <a:p>
            <a:r>
              <a:rPr lang="en-US" dirty="0"/>
              <a:t>Exploratory Testing is informal testing performed by the testing team. The objective of this testing is to explore the application and looking for defects that exist in the application.</a:t>
            </a:r>
          </a:p>
          <a:p>
            <a:endParaRPr lang="en-US" dirty="0"/>
          </a:p>
          <a:p>
            <a:r>
              <a:rPr lang="en-US" dirty="0"/>
              <a:t>Sometimes it may happen that during this testing major defect discovered can even cause a system failure.</a:t>
            </a:r>
          </a:p>
          <a:p>
            <a:endParaRPr lang="en-US" dirty="0"/>
          </a:p>
          <a:p>
            <a:r>
              <a:rPr lang="en-US" dirty="0"/>
              <a:t>During Exploratory Testing, it is advisable to keep a track of what flow you have tested and what activity you did before the start of the specific flow.</a:t>
            </a:r>
          </a:p>
          <a:p>
            <a:endParaRPr lang="en-US" dirty="0"/>
          </a:p>
          <a:p>
            <a:r>
              <a:rPr lang="en-US" dirty="0"/>
              <a:t>An Exploratory Testing technique is performed without documentation and test cases.</a:t>
            </a:r>
          </a:p>
          <a:p>
            <a:endParaRPr lang="en-US" dirty="0"/>
          </a:p>
        </p:txBody>
      </p:sp>
    </p:spTree>
    <p:extLst>
      <p:ext uri="{BB962C8B-B14F-4D97-AF65-F5344CB8AC3E}">
        <p14:creationId xmlns:p14="http://schemas.microsoft.com/office/powerpoint/2010/main" val="2036451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EF621-18AB-4B0A-8C41-2A601F371F7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4B7A1E5-71B9-4F15-AAB7-CB459011956D}"/>
              </a:ext>
            </a:extLst>
          </p:cNvPr>
          <p:cNvSpPr>
            <a:spLocks noGrp="1"/>
          </p:cNvSpPr>
          <p:nvPr>
            <p:ph idx="1"/>
          </p:nvPr>
        </p:nvSpPr>
        <p:spPr/>
        <p:txBody>
          <a:bodyPr/>
          <a:lstStyle/>
          <a:p>
            <a:r>
              <a:rPr lang="en-US" dirty="0"/>
              <a:t>#20) Functional Testing</a:t>
            </a:r>
          </a:p>
          <a:p>
            <a:r>
              <a:rPr lang="en-US" dirty="0"/>
              <a:t>This type of testing ignores the internal parts and focuses only on the output to check if it is as per the requirement or not. It is a Black-box type testing geared to the functional requirements of an application. For detailed information about Functional Testing click here.</a:t>
            </a:r>
          </a:p>
          <a:p>
            <a:endParaRPr lang="en-US" dirty="0"/>
          </a:p>
        </p:txBody>
      </p:sp>
    </p:spTree>
    <p:extLst>
      <p:ext uri="{BB962C8B-B14F-4D97-AF65-F5344CB8AC3E}">
        <p14:creationId xmlns:p14="http://schemas.microsoft.com/office/powerpoint/2010/main" val="30936221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266FB-2BBA-4D3A-93BC-855FB5B4720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2F0DFF-28EE-48B2-9E06-58752AE0C15A}"/>
              </a:ext>
            </a:extLst>
          </p:cNvPr>
          <p:cNvSpPr>
            <a:spLocks noGrp="1"/>
          </p:cNvSpPr>
          <p:nvPr>
            <p:ph idx="1"/>
          </p:nvPr>
        </p:nvSpPr>
        <p:spPr/>
        <p:txBody>
          <a:bodyPr>
            <a:normAutofit fontScale="92500" lnSpcReduction="10000"/>
          </a:bodyPr>
          <a:lstStyle/>
          <a:p>
            <a:r>
              <a:rPr lang="en-US" dirty="0"/>
              <a:t>#21) Graphical User Interface (GUI) Testing</a:t>
            </a:r>
          </a:p>
          <a:p>
            <a:r>
              <a:rPr lang="en-US" dirty="0"/>
              <a:t>The objective of this GUI Testing is to validate the GUI as per the business requirement. The expected GUI of the application is mentioned in the Detailed Design Document and GUI mockup screens.</a:t>
            </a:r>
          </a:p>
          <a:p>
            <a:endParaRPr lang="en-US" dirty="0"/>
          </a:p>
          <a:p>
            <a:r>
              <a:rPr lang="en-US" dirty="0"/>
              <a:t>The GUI Testing includes the size of the buttons and input field present on the screen, alignment of all text, tables, and content in the tables.</a:t>
            </a:r>
          </a:p>
          <a:p>
            <a:endParaRPr lang="en-US" dirty="0"/>
          </a:p>
          <a:p>
            <a:r>
              <a:rPr lang="en-US" dirty="0"/>
              <a:t>It also validates the menu of the application, after selecting different menu and menu items, it validates that the page does not fluctuate and the alignment remains same after hovering the mouse on the menu or sub-menu.</a:t>
            </a:r>
          </a:p>
        </p:txBody>
      </p:sp>
    </p:spTree>
    <p:extLst>
      <p:ext uri="{BB962C8B-B14F-4D97-AF65-F5344CB8AC3E}">
        <p14:creationId xmlns:p14="http://schemas.microsoft.com/office/powerpoint/2010/main" val="9329471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D3B84-0DFD-4FC8-BB46-0D019BEC51C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2753C8B-4913-40FC-A06F-A606BA5BB812}"/>
              </a:ext>
            </a:extLst>
          </p:cNvPr>
          <p:cNvSpPr>
            <a:spLocks noGrp="1"/>
          </p:cNvSpPr>
          <p:nvPr>
            <p:ph idx="1"/>
          </p:nvPr>
        </p:nvSpPr>
        <p:spPr>
          <a:xfrm>
            <a:off x="872197" y="2433711"/>
            <a:ext cx="9586719" cy="3726766"/>
          </a:xfrm>
        </p:spPr>
        <p:txBody>
          <a:bodyPr>
            <a:normAutofit fontScale="85000" lnSpcReduction="20000"/>
          </a:bodyPr>
          <a:lstStyle/>
          <a:p>
            <a:r>
              <a:rPr lang="en-US" dirty="0"/>
              <a:t>Gorilla Testing</a:t>
            </a:r>
          </a:p>
          <a:p>
            <a:r>
              <a:rPr lang="en-US" dirty="0"/>
              <a:t>Gorilla Testing is a testing type performed by a tester and sometimes by the developer the as well. In Gorilla Testing, one module or the functionality in the module is tested thoroughly and heavily. The objective of this testing is to check the robustness of the application.</a:t>
            </a:r>
          </a:p>
          <a:p>
            <a:endParaRPr lang="en-US" dirty="0"/>
          </a:p>
          <a:p>
            <a:r>
              <a:rPr lang="en-US" dirty="0"/>
              <a:t>#23) Happy Path Testing</a:t>
            </a:r>
          </a:p>
          <a:p>
            <a:r>
              <a:rPr lang="en-US" dirty="0"/>
              <a:t>The objective of Happy Path Testing is to test an application successfully on a positive flow. It does not look for negative or error conditions. The focus is only on the valid and positive inputs through which application generates the expected output.</a:t>
            </a:r>
          </a:p>
          <a:p>
            <a:endParaRPr lang="en-US" dirty="0"/>
          </a:p>
          <a:p>
            <a:r>
              <a:rPr lang="en-US" dirty="0"/>
              <a:t>#24) Incremental Integration Testing</a:t>
            </a:r>
          </a:p>
          <a:p>
            <a:r>
              <a:rPr lang="en-US" dirty="0"/>
              <a:t>Incremental Integration Testing is a Bottom-up approach for testing </a:t>
            </a:r>
            <a:r>
              <a:rPr lang="en-US" dirty="0" err="1"/>
              <a:t>i.e</a:t>
            </a:r>
            <a:r>
              <a:rPr lang="en-US" dirty="0"/>
              <a:t> continuous testing of an application when new functionality is added. Application functionality and modules should be independent enough to test separately. This is done by programmers or by testers.</a:t>
            </a:r>
          </a:p>
        </p:txBody>
      </p:sp>
    </p:spTree>
    <p:extLst>
      <p:ext uri="{BB962C8B-B14F-4D97-AF65-F5344CB8AC3E}">
        <p14:creationId xmlns:p14="http://schemas.microsoft.com/office/powerpoint/2010/main" val="5856105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8E474-5DE7-4322-856A-474FEA1908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2BE3437-6C96-49B4-BA8C-2936A2E7137B}"/>
              </a:ext>
            </a:extLst>
          </p:cNvPr>
          <p:cNvSpPr>
            <a:spLocks noGrp="1"/>
          </p:cNvSpPr>
          <p:nvPr>
            <p:ph idx="1"/>
          </p:nvPr>
        </p:nvSpPr>
        <p:spPr>
          <a:xfrm>
            <a:off x="351692" y="2278966"/>
            <a:ext cx="10775853" cy="4176932"/>
          </a:xfrm>
        </p:spPr>
        <p:txBody>
          <a:bodyPr>
            <a:normAutofit fontScale="70000" lnSpcReduction="20000"/>
          </a:bodyPr>
          <a:lstStyle/>
          <a:p>
            <a:r>
              <a:rPr lang="en-US" dirty="0"/>
              <a:t>#25) Install/Uninstall Testing</a:t>
            </a:r>
          </a:p>
          <a:p>
            <a:r>
              <a:rPr lang="en-US" dirty="0"/>
              <a:t>Installation and Uninstallation Testing is done on full, partial, or upgrade install/uninstall processes on different operating systems under different hardware or software environment.</a:t>
            </a:r>
          </a:p>
          <a:p>
            <a:endParaRPr lang="en-US" dirty="0"/>
          </a:p>
          <a:p>
            <a:r>
              <a:rPr lang="en-US" dirty="0"/>
              <a:t>#26) Integration Testing</a:t>
            </a:r>
          </a:p>
          <a:p>
            <a:r>
              <a:rPr lang="en-US" dirty="0"/>
              <a:t>Testing of all integrated modules to verify the combined functionality after integration is termed as Integration Testing.</a:t>
            </a:r>
          </a:p>
          <a:p>
            <a:endParaRPr lang="en-US" dirty="0"/>
          </a:p>
          <a:p>
            <a:r>
              <a:rPr lang="en-US" dirty="0"/>
              <a:t>Modules are typically code modules, individual applications, client and server applications on a network, etc. This type of testing is especially relevant to client/server and distributed systems.</a:t>
            </a:r>
          </a:p>
          <a:p>
            <a:endParaRPr lang="en-US" dirty="0"/>
          </a:p>
          <a:p>
            <a:r>
              <a:rPr lang="en-US" dirty="0"/>
              <a:t>#27) Load Testing</a:t>
            </a:r>
          </a:p>
          <a:p>
            <a:r>
              <a:rPr lang="en-US" dirty="0"/>
              <a:t>It is a type of Non-Functional Testing and the objective of Load Testing is to check how much load or maximum workload a system can handle without any performance degradation.</a:t>
            </a:r>
          </a:p>
          <a:p>
            <a:endParaRPr lang="en-US" dirty="0"/>
          </a:p>
          <a:p>
            <a:r>
              <a:rPr lang="en-US" dirty="0"/>
              <a:t>Load Testing helps to find the maximum capacity of the system under specific load and any issues that cause software performance degradation. Load testing is performed using tools like JMeter, LoadRunner, </a:t>
            </a:r>
            <a:r>
              <a:rPr lang="en-US" dirty="0" err="1"/>
              <a:t>WebLoad</a:t>
            </a:r>
            <a:r>
              <a:rPr lang="en-US" dirty="0"/>
              <a:t>, Silk performer, etc.</a:t>
            </a:r>
          </a:p>
        </p:txBody>
      </p:sp>
    </p:spTree>
    <p:extLst>
      <p:ext uri="{BB962C8B-B14F-4D97-AF65-F5344CB8AC3E}">
        <p14:creationId xmlns:p14="http://schemas.microsoft.com/office/powerpoint/2010/main" val="12202567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11D0F-8959-482D-B29B-B045CC6432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A4FAFB-3620-4448-90F0-BE13FFF24C81}"/>
              </a:ext>
            </a:extLst>
          </p:cNvPr>
          <p:cNvSpPr>
            <a:spLocks noGrp="1"/>
          </p:cNvSpPr>
          <p:nvPr>
            <p:ph idx="1"/>
          </p:nvPr>
        </p:nvSpPr>
        <p:spPr>
          <a:xfrm>
            <a:off x="168814" y="2213835"/>
            <a:ext cx="11577710" cy="4489419"/>
          </a:xfrm>
        </p:spPr>
        <p:txBody>
          <a:bodyPr>
            <a:normAutofit fontScale="92500" lnSpcReduction="20000"/>
          </a:bodyPr>
          <a:lstStyle/>
          <a:p>
            <a:r>
              <a:rPr lang="en-US" dirty="0"/>
              <a:t>#28) Monkey Testing</a:t>
            </a:r>
          </a:p>
          <a:p>
            <a:pPr marL="0" indent="0">
              <a:buNone/>
            </a:pPr>
            <a:r>
              <a:rPr lang="en-US" dirty="0"/>
              <a:t>Monkey Testing is carried out by a tester assuming that if the monkey uses the application then how random input, values will be entered by the Monkey without any knowledge or understanding of the application.</a:t>
            </a:r>
          </a:p>
          <a:p>
            <a:pPr marL="0" indent="0">
              <a:buNone/>
            </a:pPr>
            <a:r>
              <a:rPr lang="en-US" dirty="0"/>
              <a:t>The objective of Monkey Testing is to check if an application or system gets crashed by providing random input values/data. Monkey Testing is performed randomly and no test cases are scripted and it is not necessary to</a:t>
            </a:r>
          </a:p>
          <a:p>
            <a:pPr marL="0" indent="0">
              <a:buNone/>
            </a:pPr>
            <a:r>
              <a:rPr lang="en-US" dirty="0"/>
              <a:t>Monkey Testing is performed randomly and no test cases are scripted and it is not necessary to be aware of the full functionality of the system.</a:t>
            </a:r>
          </a:p>
          <a:p>
            <a:endParaRPr lang="en-US" dirty="0"/>
          </a:p>
          <a:p>
            <a:r>
              <a:rPr lang="en-US" dirty="0"/>
              <a:t>#29) Mutation Testing</a:t>
            </a:r>
          </a:p>
          <a:p>
            <a:r>
              <a:rPr lang="en-US" dirty="0"/>
              <a:t>Mutation Testing is a type of white box testing in which the source code of one of the program is changed and verifies whether the existing test cases can identify these defects in the system.</a:t>
            </a:r>
          </a:p>
          <a:p>
            <a:endParaRPr lang="en-US" dirty="0"/>
          </a:p>
          <a:p>
            <a:r>
              <a:rPr lang="en-US" dirty="0"/>
              <a:t>The change in the program source code is very minimal so that it does not impact the entire application, only the specific area having the impact and the related test cases should able to identify those errors in the system.</a:t>
            </a:r>
          </a:p>
        </p:txBody>
      </p:sp>
    </p:spTree>
    <p:extLst>
      <p:ext uri="{BB962C8B-B14F-4D97-AF65-F5344CB8AC3E}">
        <p14:creationId xmlns:p14="http://schemas.microsoft.com/office/powerpoint/2010/main" val="33672438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81DF-B2C8-40FF-9C28-B14A64D0696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B99069B-AF4C-47EC-9490-F2E41BF02015}"/>
              </a:ext>
            </a:extLst>
          </p:cNvPr>
          <p:cNvSpPr>
            <a:spLocks noGrp="1"/>
          </p:cNvSpPr>
          <p:nvPr>
            <p:ph idx="1"/>
          </p:nvPr>
        </p:nvSpPr>
        <p:spPr>
          <a:xfrm>
            <a:off x="604912" y="2307102"/>
            <a:ext cx="11000934" cy="4178104"/>
          </a:xfrm>
        </p:spPr>
        <p:txBody>
          <a:bodyPr>
            <a:normAutofit fontScale="85000" lnSpcReduction="10000"/>
          </a:bodyPr>
          <a:lstStyle/>
          <a:p>
            <a:r>
              <a:rPr lang="en-US" dirty="0"/>
              <a:t>#30) Negative Testing</a:t>
            </a:r>
          </a:p>
          <a:p>
            <a:r>
              <a:rPr lang="en-US" dirty="0"/>
              <a:t>Testers having the mindset of “attitude to break” and using Negative Testing they validate that if system or application breaks. A Negative Testing technique is performed using incorrect data, invalid data or input. It validates that if the system throws an error of invalid input and behaves as expected.</a:t>
            </a:r>
          </a:p>
          <a:p>
            <a:endParaRPr lang="en-US" dirty="0"/>
          </a:p>
          <a:p>
            <a:r>
              <a:rPr lang="en-US" dirty="0"/>
              <a:t>#31) Non-Functional Testing</a:t>
            </a:r>
          </a:p>
          <a:p>
            <a:r>
              <a:rPr lang="en-US" dirty="0"/>
              <a:t>It is a type of testing for which every organization having a separate team which usually called as Non-Functional Test (NFT) team or Performance team.</a:t>
            </a:r>
          </a:p>
          <a:p>
            <a:endParaRPr lang="en-US" dirty="0"/>
          </a:p>
          <a:p>
            <a:r>
              <a:rPr lang="en-US" dirty="0"/>
              <a:t>Non-Functional Testing involves testing of non-functional requirements such as Load Testing, Stress Testing, Security, Volume, Recovery Testing, etc. The objective of NFT testing is to ensure whether the response time of software or application is quick enough as per the business requirement.</a:t>
            </a:r>
          </a:p>
          <a:p>
            <a:endParaRPr lang="en-US" dirty="0"/>
          </a:p>
          <a:p>
            <a:r>
              <a:rPr lang="en-US" dirty="0"/>
              <a:t>It should not take much time to load any page or system and should sustain during peak load.</a:t>
            </a:r>
          </a:p>
          <a:p>
            <a:endParaRPr lang="en-US" dirty="0"/>
          </a:p>
        </p:txBody>
      </p:sp>
    </p:spTree>
    <p:extLst>
      <p:ext uri="{BB962C8B-B14F-4D97-AF65-F5344CB8AC3E}">
        <p14:creationId xmlns:p14="http://schemas.microsoft.com/office/powerpoint/2010/main" val="41600389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BD42C-8457-45F1-82AE-016F6D68E7B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1D443CD-4A6E-45D1-BF78-D2538E77F4EE}"/>
              </a:ext>
            </a:extLst>
          </p:cNvPr>
          <p:cNvSpPr>
            <a:spLocks noGrp="1"/>
          </p:cNvSpPr>
          <p:nvPr>
            <p:ph idx="1"/>
          </p:nvPr>
        </p:nvSpPr>
        <p:spPr/>
        <p:txBody>
          <a:bodyPr/>
          <a:lstStyle/>
          <a:p>
            <a:r>
              <a:rPr lang="en-US" dirty="0"/>
              <a:t>#32) Performance Testing</a:t>
            </a:r>
          </a:p>
          <a:p>
            <a:r>
              <a:rPr lang="en-US" dirty="0"/>
              <a:t>This term is often used interchangeably with ‘stress' and ‘load' testing. Performance Testing is done to check whether the system meets the performance requirements. Different performance and load tools are used to do this testing.</a:t>
            </a:r>
          </a:p>
          <a:p>
            <a:endParaRPr lang="en-US" dirty="0"/>
          </a:p>
        </p:txBody>
      </p:sp>
    </p:spTree>
    <p:extLst>
      <p:ext uri="{BB962C8B-B14F-4D97-AF65-F5344CB8AC3E}">
        <p14:creationId xmlns:p14="http://schemas.microsoft.com/office/powerpoint/2010/main" val="24764503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600A2-17BD-4535-B40A-8642247C4E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7DA5EC1-3DE6-4D6E-AB10-B5E71CDAC366}"/>
              </a:ext>
            </a:extLst>
          </p:cNvPr>
          <p:cNvSpPr>
            <a:spLocks noGrp="1"/>
          </p:cNvSpPr>
          <p:nvPr>
            <p:ph idx="1"/>
          </p:nvPr>
        </p:nvSpPr>
        <p:spPr>
          <a:xfrm>
            <a:off x="604911" y="2377440"/>
            <a:ext cx="10030263" cy="3840480"/>
          </a:xfrm>
        </p:spPr>
        <p:txBody>
          <a:bodyPr>
            <a:normAutofit fontScale="77500" lnSpcReduction="20000"/>
          </a:bodyPr>
          <a:lstStyle/>
          <a:p>
            <a:r>
              <a:rPr lang="en-US" dirty="0"/>
              <a:t>#33) Recovery Testing</a:t>
            </a:r>
          </a:p>
          <a:p>
            <a:r>
              <a:rPr lang="en-US" dirty="0"/>
              <a:t>It is a type of testing which validates how well the application or system recovers from crashes or disasters.</a:t>
            </a:r>
          </a:p>
          <a:p>
            <a:endParaRPr lang="en-US" dirty="0"/>
          </a:p>
          <a:p>
            <a:r>
              <a:rPr lang="en-US" dirty="0"/>
              <a:t>Recovery Testing determines if the system is able to continue the operation after a disaster. Assume that application is receiving data through the network cable and suddenly that network cable has been unplugged.</a:t>
            </a:r>
          </a:p>
          <a:p>
            <a:endParaRPr lang="en-US" dirty="0"/>
          </a:p>
          <a:p>
            <a:r>
              <a:rPr lang="en-US" dirty="0"/>
              <a:t>Sometime later, plug the network cable; then the system should start receiving data from where it lost the connection due to network cable unplugged.</a:t>
            </a:r>
          </a:p>
          <a:p>
            <a:endParaRPr lang="en-US" dirty="0"/>
          </a:p>
          <a:p>
            <a:r>
              <a:rPr lang="en-US" dirty="0"/>
              <a:t>#34) Regression Testing</a:t>
            </a:r>
          </a:p>
          <a:p>
            <a:r>
              <a:rPr lang="en-US" dirty="0"/>
              <a:t>Testing an application as a whole for the modification in any module or functionality is termed as Regression Testing. It is difficult to cover all the system in Regression Testing, so typically Automation Testing Tools are used for these types of testing.</a:t>
            </a:r>
          </a:p>
        </p:txBody>
      </p:sp>
    </p:spTree>
    <p:extLst>
      <p:ext uri="{BB962C8B-B14F-4D97-AF65-F5344CB8AC3E}">
        <p14:creationId xmlns:p14="http://schemas.microsoft.com/office/powerpoint/2010/main" val="695096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9946A-1302-48F7-90E4-7865563B3D1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0EB0A71-52E6-41F1-9E6A-16481E77B037}"/>
              </a:ext>
            </a:extLst>
          </p:cNvPr>
          <p:cNvSpPr>
            <a:spLocks noGrp="1"/>
          </p:cNvSpPr>
          <p:nvPr>
            <p:ph idx="1"/>
          </p:nvPr>
        </p:nvSpPr>
        <p:spPr>
          <a:xfrm>
            <a:off x="618978" y="2532185"/>
            <a:ext cx="10241280" cy="4037427"/>
          </a:xfrm>
        </p:spPr>
        <p:txBody>
          <a:bodyPr>
            <a:normAutofit fontScale="85000" lnSpcReduction="10000"/>
          </a:bodyPr>
          <a:lstStyle/>
          <a:p>
            <a:r>
              <a:rPr lang="en-US" dirty="0"/>
              <a:t>35) Risk-Based Testing (RBT)</a:t>
            </a:r>
          </a:p>
          <a:p>
            <a:r>
              <a:rPr lang="en-US" dirty="0"/>
              <a:t>In Risk-Based Testing, the functionalities or requirements are tested based on their priority. Risk-Based Testing includes testing of highly critical functionality, which has the highest impact on business and in which the probability of failure is very high.</a:t>
            </a:r>
          </a:p>
          <a:p>
            <a:endParaRPr lang="en-US" dirty="0"/>
          </a:p>
          <a:p>
            <a:r>
              <a:rPr lang="en-US" dirty="0"/>
              <a:t>The priority decision is based on the business need, so once priority is set for all functionalities then high priority functionality or test cases are executed first followed by medium and then low priority functionalities.</a:t>
            </a:r>
          </a:p>
          <a:p>
            <a:endParaRPr lang="en-US" dirty="0"/>
          </a:p>
          <a:p>
            <a:r>
              <a:rPr lang="en-US" dirty="0"/>
              <a:t>The low priority functionality may be tested or not tested based on the available time.</a:t>
            </a:r>
          </a:p>
          <a:p>
            <a:endParaRPr lang="en-US" dirty="0"/>
          </a:p>
          <a:p>
            <a:r>
              <a:rPr lang="en-US" dirty="0"/>
              <a:t>The Risk-Based Testing is carried out if there is insufficient time available to test entire software and software needs to be implemented on time without any delay. This approach is followed only by the discussion and approval of the client and senior management of the organization.</a:t>
            </a:r>
          </a:p>
        </p:txBody>
      </p:sp>
    </p:spTree>
    <p:extLst>
      <p:ext uri="{BB962C8B-B14F-4D97-AF65-F5344CB8AC3E}">
        <p14:creationId xmlns:p14="http://schemas.microsoft.com/office/powerpoint/2010/main" val="1803078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BB844-0442-4F18-881C-A6680254EA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627A2E2-70CE-4CA4-9EC5-3C17FAC4F392}"/>
              </a:ext>
            </a:extLst>
          </p:cNvPr>
          <p:cNvSpPr>
            <a:spLocks noGrp="1"/>
          </p:cNvSpPr>
          <p:nvPr>
            <p:ph idx="1"/>
          </p:nvPr>
        </p:nvSpPr>
        <p:spPr>
          <a:xfrm>
            <a:off x="662585" y="2336213"/>
            <a:ext cx="10014793" cy="4120857"/>
          </a:xfrm>
        </p:spPr>
        <p:txBody>
          <a:bodyPr>
            <a:normAutofit fontScale="85000" lnSpcReduction="20000"/>
          </a:bodyPr>
          <a:lstStyle/>
          <a:p>
            <a:r>
              <a:rPr lang="en-US" dirty="0"/>
              <a:t>#36) Sanity Testing</a:t>
            </a:r>
          </a:p>
          <a:p>
            <a:r>
              <a:rPr lang="en-US" dirty="0"/>
              <a:t>Sanity Testing is done to determine if a new software version is performing well enough to accept it for a major testing effort or not. If an application is crashing for the initial use then the system is not stable enough for further testing. Hence a build or an application is assigned to fix it.</a:t>
            </a:r>
          </a:p>
          <a:p>
            <a:endParaRPr lang="en-US" dirty="0"/>
          </a:p>
          <a:p>
            <a:r>
              <a:rPr lang="en-US" dirty="0"/>
              <a:t>#37) Security Testing</a:t>
            </a:r>
          </a:p>
          <a:p>
            <a:r>
              <a:rPr lang="en-US" dirty="0"/>
              <a:t>It is a type of testing performed by a special team of testers. A system can be penetrated by any hacking way.</a:t>
            </a:r>
          </a:p>
          <a:p>
            <a:endParaRPr lang="en-US" dirty="0"/>
          </a:p>
          <a:p>
            <a:r>
              <a:rPr lang="en-US" dirty="0"/>
              <a:t>Security Testing is done to check how the software or application or website is secure from internal and external threats. This testing includes how much software is secure from the malicious program, viruses and how secure and strong the authorization and authentication processes are.</a:t>
            </a:r>
          </a:p>
          <a:p>
            <a:endParaRPr lang="en-US" dirty="0"/>
          </a:p>
          <a:p>
            <a:r>
              <a:rPr lang="en-US" dirty="0"/>
              <a:t>It also checks how software behaves for any hackers attack and malicious programs and how software is maintained for data security after such a hacker attack.</a:t>
            </a:r>
          </a:p>
        </p:txBody>
      </p:sp>
    </p:spTree>
    <p:extLst>
      <p:ext uri="{BB962C8B-B14F-4D97-AF65-F5344CB8AC3E}">
        <p14:creationId xmlns:p14="http://schemas.microsoft.com/office/powerpoint/2010/main" val="38841929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C80F6-A868-4135-91EF-AA8ACA58E6B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EE03F64-51B7-4543-9962-CE70B3A909F7}"/>
              </a:ext>
            </a:extLst>
          </p:cNvPr>
          <p:cNvSpPr>
            <a:spLocks noGrp="1"/>
          </p:cNvSpPr>
          <p:nvPr>
            <p:ph idx="1"/>
          </p:nvPr>
        </p:nvSpPr>
        <p:spPr>
          <a:xfrm>
            <a:off x="793883" y="2194561"/>
            <a:ext cx="9122484" cy="4134729"/>
          </a:xfrm>
        </p:spPr>
        <p:txBody>
          <a:bodyPr>
            <a:normAutofit fontScale="92500"/>
          </a:bodyPr>
          <a:lstStyle/>
          <a:p>
            <a:r>
              <a:rPr lang="en-US" dirty="0"/>
              <a:t>#38) Smoke Testing</a:t>
            </a:r>
          </a:p>
          <a:p>
            <a:r>
              <a:rPr lang="en-US" dirty="0"/>
              <a:t>Whenever a new build is provided by the development team then the Software Testing team validates the build and ensures that no major issue exists.</a:t>
            </a:r>
          </a:p>
          <a:p>
            <a:endParaRPr lang="en-US" dirty="0"/>
          </a:p>
          <a:p>
            <a:r>
              <a:rPr lang="en-US" dirty="0"/>
              <a:t>The testing team ensures that the build is stable and a detailed level of testing is carried out further. Smoke Testing checks that no show stopper defect exists in the build which will prevent the testing team to test the application in detail.</a:t>
            </a:r>
          </a:p>
          <a:p>
            <a:endParaRPr lang="en-US" dirty="0"/>
          </a:p>
          <a:p>
            <a:r>
              <a:rPr lang="en-US" dirty="0"/>
              <a:t>If testers find that the major critical functionality is broken down at the initial stage itself then testing team can reject the build and inform accordingly to the development team. Smoke Testing is carried out to a detailed level of any Functional or Regression Testing.</a:t>
            </a:r>
          </a:p>
        </p:txBody>
      </p:sp>
    </p:spTree>
    <p:extLst>
      <p:ext uri="{BB962C8B-B14F-4D97-AF65-F5344CB8AC3E}">
        <p14:creationId xmlns:p14="http://schemas.microsoft.com/office/powerpoint/2010/main" val="6413469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00356-B95F-4A74-AB3D-7204AE96621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CD4CACF-9EE8-492F-B51C-00614CCE21A0}"/>
              </a:ext>
            </a:extLst>
          </p:cNvPr>
          <p:cNvSpPr>
            <a:spLocks noGrp="1"/>
          </p:cNvSpPr>
          <p:nvPr>
            <p:ph idx="1"/>
          </p:nvPr>
        </p:nvSpPr>
        <p:spPr>
          <a:xfrm>
            <a:off x="731520" y="2307102"/>
            <a:ext cx="9249093" cy="3712698"/>
          </a:xfrm>
        </p:spPr>
        <p:txBody>
          <a:bodyPr>
            <a:normAutofit lnSpcReduction="10000"/>
          </a:bodyPr>
          <a:lstStyle/>
          <a:p>
            <a:r>
              <a:rPr lang="en-US" dirty="0"/>
              <a:t>#39) Static Testing</a:t>
            </a:r>
          </a:p>
          <a:p>
            <a:r>
              <a:rPr lang="en-US" dirty="0"/>
              <a:t>Static Testing is a type of testing which is executed without any code. The execution is performed on the documentation during the testing phase.</a:t>
            </a:r>
          </a:p>
          <a:p>
            <a:endParaRPr lang="en-US" dirty="0"/>
          </a:p>
          <a:p>
            <a:r>
              <a:rPr lang="en-US" dirty="0"/>
              <a:t>It involves reviews, walkthrough, and inspection of the deliverables of the project. Static Testing does not execute the code instead of the code syntax, naming conventions are checked.</a:t>
            </a:r>
          </a:p>
          <a:p>
            <a:endParaRPr lang="en-US" dirty="0"/>
          </a:p>
          <a:p>
            <a:r>
              <a:rPr lang="en-US" dirty="0"/>
              <a:t>Static Testing is also applicable for test cases, test plan, design document. It is necessary to perform static testing by the testing team as the defects identified during this type of testing are cost-effective from the project perspective.</a:t>
            </a:r>
          </a:p>
        </p:txBody>
      </p:sp>
    </p:spTree>
    <p:extLst>
      <p:ext uri="{BB962C8B-B14F-4D97-AF65-F5344CB8AC3E}">
        <p14:creationId xmlns:p14="http://schemas.microsoft.com/office/powerpoint/2010/main" val="21608152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007DA-D476-4D77-AFD7-8154E52FC6E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5D43048-F3CB-4C7B-8FD6-B3F44F9CD95C}"/>
              </a:ext>
            </a:extLst>
          </p:cNvPr>
          <p:cNvSpPr>
            <a:spLocks noGrp="1"/>
          </p:cNvSpPr>
          <p:nvPr>
            <p:ph idx="1"/>
          </p:nvPr>
        </p:nvSpPr>
        <p:spPr/>
        <p:txBody>
          <a:bodyPr/>
          <a:lstStyle/>
          <a:p>
            <a:r>
              <a:rPr lang="en-US" dirty="0"/>
              <a:t>#40) Stress Testing</a:t>
            </a:r>
          </a:p>
          <a:p>
            <a:r>
              <a:rPr lang="en-US" dirty="0"/>
              <a:t>This testing is done when a system is stressed beyond its specifications in order to check how and when it fails. This is performed under heavy load like putting large number beyond storage capacity, complex database queries, continuous input to the system or database load.</a:t>
            </a:r>
          </a:p>
          <a:p>
            <a:endParaRPr lang="en-US" dirty="0"/>
          </a:p>
          <a:p>
            <a:r>
              <a:rPr lang="en-US" dirty="0"/>
              <a:t>#41) System Testing</a:t>
            </a:r>
          </a:p>
          <a:p>
            <a:r>
              <a:rPr lang="en-US" dirty="0"/>
              <a:t>Under System Testing technique, the entire system is tested as per the requirements. It is a Black-box type Testing that is based on overall requirement specifications and covers all the combined parts of a system.</a:t>
            </a:r>
          </a:p>
        </p:txBody>
      </p:sp>
    </p:spTree>
    <p:extLst>
      <p:ext uri="{BB962C8B-B14F-4D97-AF65-F5344CB8AC3E}">
        <p14:creationId xmlns:p14="http://schemas.microsoft.com/office/powerpoint/2010/main" val="5366626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012B7-EC06-4663-9691-F25F169835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5256809-39BA-421B-8BE5-E156C10F6D6D}"/>
              </a:ext>
            </a:extLst>
          </p:cNvPr>
          <p:cNvSpPr>
            <a:spLocks noGrp="1"/>
          </p:cNvSpPr>
          <p:nvPr>
            <p:ph idx="1"/>
          </p:nvPr>
        </p:nvSpPr>
        <p:spPr/>
        <p:txBody>
          <a:bodyPr>
            <a:normAutofit lnSpcReduction="10000"/>
          </a:bodyPr>
          <a:lstStyle/>
          <a:p>
            <a:r>
              <a:rPr lang="en-US" dirty="0"/>
              <a:t>#42) Unit Testing</a:t>
            </a:r>
          </a:p>
          <a:p>
            <a:r>
              <a:rPr lang="en-US" dirty="0"/>
              <a:t>Testing of an individual software component or module is termed as Unit Testing. It is typically done by the programmer and not by testers, as it requires detailed knowledge of the internal program design and code. It may also require developing test driver modules or test harnesses.</a:t>
            </a:r>
          </a:p>
          <a:p>
            <a:endParaRPr lang="en-US" dirty="0"/>
          </a:p>
          <a:p>
            <a:r>
              <a:rPr lang="en-US" dirty="0"/>
              <a:t>#43) Usability Testing</a:t>
            </a:r>
          </a:p>
          <a:p>
            <a:r>
              <a:rPr lang="en-US" dirty="0"/>
              <a:t>Under Usability Testing, User-friendliness check is done. The application flow is tested to know if a new user can understand the application easily or not, Proper help documented if a user gets stuck at any point. Basically, system navigation is checked in this testing.</a:t>
            </a:r>
          </a:p>
        </p:txBody>
      </p:sp>
    </p:spTree>
    <p:extLst>
      <p:ext uri="{BB962C8B-B14F-4D97-AF65-F5344CB8AC3E}">
        <p14:creationId xmlns:p14="http://schemas.microsoft.com/office/powerpoint/2010/main" val="14644388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58988-BECB-4959-AC97-66B5461D5C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CB1B626-F495-476A-B608-9D7C3576537B}"/>
              </a:ext>
            </a:extLst>
          </p:cNvPr>
          <p:cNvSpPr>
            <a:spLocks noGrp="1"/>
          </p:cNvSpPr>
          <p:nvPr>
            <p:ph idx="1"/>
          </p:nvPr>
        </p:nvSpPr>
        <p:spPr>
          <a:xfrm>
            <a:off x="731520" y="2475914"/>
            <a:ext cx="9249093" cy="3543886"/>
          </a:xfrm>
        </p:spPr>
        <p:txBody>
          <a:bodyPr>
            <a:normAutofit fontScale="70000" lnSpcReduction="20000"/>
          </a:bodyPr>
          <a:lstStyle/>
          <a:p>
            <a:r>
              <a:rPr lang="en-US" dirty="0"/>
              <a:t>#44) Vulnerability Testing</a:t>
            </a:r>
          </a:p>
          <a:p>
            <a:r>
              <a:rPr lang="en-US" dirty="0"/>
              <a:t>The testing which involves identifying weakness in the software, hardware and the network is known as Vulnerability Testing. Malicious programs, the hacker can take control of the system, if it is vulnerable to such kind of attacks, viruses, and worms.</a:t>
            </a:r>
          </a:p>
          <a:p>
            <a:endParaRPr lang="en-US" dirty="0"/>
          </a:p>
          <a:p>
            <a:r>
              <a:rPr lang="en-US" dirty="0"/>
              <a:t>So it is necessary to check if those systems undergo Vulnerability Testing before production. It may identify critical defects, flaws in the security.</a:t>
            </a:r>
          </a:p>
          <a:p>
            <a:endParaRPr lang="en-US" dirty="0"/>
          </a:p>
          <a:p>
            <a:r>
              <a:rPr lang="en-US" dirty="0"/>
              <a:t>#45) Volume Testing</a:t>
            </a:r>
          </a:p>
          <a:p>
            <a:r>
              <a:rPr lang="en-US" dirty="0"/>
              <a:t>Volume Testing is a type of Non-Functional Testing performed by the Performance Testing team.</a:t>
            </a:r>
          </a:p>
          <a:p>
            <a:endParaRPr lang="en-US" dirty="0"/>
          </a:p>
          <a:p>
            <a:r>
              <a:rPr lang="en-US" dirty="0"/>
              <a:t>The software or application undergoes a huge amount of data and Volume Testing checks the system behavior and response time of the application when the system came across such a high volume of data. This high volume of data may impact the system’s performance and speed of the processing time.</a:t>
            </a:r>
          </a:p>
        </p:txBody>
      </p:sp>
    </p:spTree>
    <p:extLst>
      <p:ext uri="{BB962C8B-B14F-4D97-AF65-F5344CB8AC3E}">
        <p14:creationId xmlns:p14="http://schemas.microsoft.com/office/powerpoint/2010/main" val="33126105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95BD0-ED75-44A3-BA4D-3E793065409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72ECFC2-43A6-4C4F-8678-CA3F5D838715}"/>
              </a:ext>
            </a:extLst>
          </p:cNvPr>
          <p:cNvSpPr>
            <a:spLocks noGrp="1"/>
          </p:cNvSpPr>
          <p:nvPr>
            <p:ph idx="1"/>
          </p:nvPr>
        </p:nvSpPr>
        <p:spPr/>
        <p:txBody>
          <a:bodyPr/>
          <a:lstStyle/>
          <a:p>
            <a:r>
              <a:rPr lang="en-US" dirty="0"/>
              <a:t>Fault injection Testing: Element of a comprehensive test strategy that enables the tester to concentrate on the manner in which the application under test is able to handle exceptions. It is performed by QA teams.</a:t>
            </a:r>
          </a:p>
          <a:p>
            <a:endParaRPr lang="en-US" dirty="0"/>
          </a:p>
          <a:p>
            <a:r>
              <a:rPr lang="en-US" dirty="0"/>
              <a:t>Formal verification Testing: The act of proving or disproving the correctness of intended algorithms underlying a system with respect to a certain formal specification or property, using formal methods of mathematics. It is usually performed by QA teams.</a:t>
            </a:r>
          </a:p>
        </p:txBody>
      </p:sp>
    </p:spTree>
    <p:extLst>
      <p:ext uri="{BB962C8B-B14F-4D97-AF65-F5344CB8AC3E}">
        <p14:creationId xmlns:p14="http://schemas.microsoft.com/office/powerpoint/2010/main" val="10808682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3C52-0D47-4E30-9AD5-2140E163E5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B15B9E0-C4DD-49B9-809D-E8701F0A9C8F}"/>
              </a:ext>
            </a:extLst>
          </p:cNvPr>
          <p:cNvSpPr>
            <a:spLocks noGrp="1"/>
          </p:cNvSpPr>
          <p:nvPr>
            <p:ph idx="1"/>
          </p:nvPr>
        </p:nvSpPr>
        <p:spPr/>
        <p:txBody>
          <a:bodyPr/>
          <a:lstStyle/>
          <a:p>
            <a:r>
              <a:rPr lang="en-US" dirty="0"/>
              <a:t>Fuzz Testing: Software testing technique that provides invalid, unexpected, or random data to the inputs of a program - a special area of mutation testing. Fuzz testing is performed by testing teams. Read More on Fuzz Testing</a:t>
            </a:r>
          </a:p>
          <a:p>
            <a:endParaRPr lang="en-US" dirty="0"/>
          </a:p>
          <a:p>
            <a:endParaRPr lang="en-US" dirty="0"/>
          </a:p>
        </p:txBody>
      </p:sp>
    </p:spTree>
    <p:extLst>
      <p:ext uri="{BB962C8B-B14F-4D97-AF65-F5344CB8AC3E}">
        <p14:creationId xmlns:p14="http://schemas.microsoft.com/office/powerpoint/2010/main" val="26293681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50E56-E691-4BB2-80B4-D98FE83B00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30CA31F-91D6-4448-AB67-EE5A0360EE1F}"/>
              </a:ext>
            </a:extLst>
          </p:cNvPr>
          <p:cNvSpPr>
            <a:spLocks noGrp="1"/>
          </p:cNvSpPr>
          <p:nvPr>
            <p:ph idx="1"/>
          </p:nvPr>
        </p:nvSpPr>
        <p:spPr/>
        <p:txBody>
          <a:bodyPr>
            <a:normAutofit fontScale="92500" lnSpcReduction="20000"/>
          </a:bodyPr>
          <a:lstStyle/>
          <a:p>
            <a:r>
              <a:rPr lang="en-US" dirty="0"/>
              <a:t>Recovery Testing: Testing technique which evaluates how well a system recovers from crashes, hardware failures, or other catastrophic problems. It is performed by the testing teams. Read More on Recovery Testing</a:t>
            </a:r>
          </a:p>
          <a:p>
            <a:endParaRPr lang="en-US" dirty="0"/>
          </a:p>
          <a:p>
            <a:r>
              <a:rPr lang="en-US" dirty="0"/>
              <a:t>Requirements Testing: Testing technique which validates that the requirements are correct, complete, unambiguous, and logically consistent and allows designing a necessary and sufficient set of test cases from those requirements. It is performed by QA teams.</a:t>
            </a:r>
          </a:p>
          <a:p>
            <a:endParaRPr lang="en-US" dirty="0"/>
          </a:p>
          <a:p>
            <a:r>
              <a:rPr lang="en-US" dirty="0"/>
              <a:t>Security Testing: A process to determine that an information system protects data and maintains functionality as intended. It can be performed by testing teams or by specialized security-testing companies. Read More on Security Testing</a:t>
            </a:r>
          </a:p>
        </p:txBody>
      </p:sp>
    </p:spTree>
    <p:extLst>
      <p:ext uri="{BB962C8B-B14F-4D97-AF65-F5344CB8AC3E}">
        <p14:creationId xmlns:p14="http://schemas.microsoft.com/office/powerpoint/2010/main" val="18126586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B9417-69FA-47AB-8E51-0E030C356EF7}"/>
              </a:ext>
            </a:extLst>
          </p:cNvPr>
          <p:cNvSpPr>
            <a:spLocks noGrp="1"/>
          </p:cNvSpPr>
          <p:nvPr>
            <p:ph type="title"/>
          </p:nvPr>
        </p:nvSpPr>
        <p:spPr/>
        <p:txBody>
          <a:bodyPr/>
          <a:lstStyle/>
          <a:p>
            <a:r>
              <a:rPr lang="en-US"/>
              <a:t>ISSUES IN SOFTWARE TESTING</a:t>
            </a:r>
          </a:p>
        </p:txBody>
      </p:sp>
      <p:sp>
        <p:nvSpPr>
          <p:cNvPr id="3" name="Content Placeholder 2">
            <a:extLst>
              <a:ext uri="{FF2B5EF4-FFF2-40B4-BE49-F238E27FC236}">
                <a16:creationId xmlns:a16="http://schemas.microsoft.com/office/drawing/2014/main" id="{48761184-6F8F-4E1E-840D-9D20FD36CBE6}"/>
              </a:ext>
            </a:extLst>
          </p:cNvPr>
          <p:cNvSpPr>
            <a:spLocks noGrp="1"/>
          </p:cNvSpPr>
          <p:nvPr>
            <p:ph idx="1"/>
          </p:nvPr>
        </p:nvSpPr>
        <p:spPr/>
        <p:txBody>
          <a:bodyPr>
            <a:normAutofit fontScale="85000" lnSpcReduction="20000"/>
          </a:bodyPr>
          <a:lstStyle/>
          <a:p>
            <a:r>
              <a:rPr lang="en-US" dirty="0"/>
              <a:t>Given below are some of the issues and problems of the software testing-</a:t>
            </a:r>
          </a:p>
          <a:p>
            <a:endParaRPr lang="en-US" dirty="0"/>
          </a:p>
          <a:p>
            <a:r>
              <a:rPr lang="en-US" dirty="0"/>
              <a:t>Testing inclusive of all test combination is unrealistic</a:t>
            </a:r>
          </a:p>
          <a:p>
            <a:r>
              <a:rPr lang="en-US" dirty="0"/>
              <a:t>There exits many different test combination for any application which results in different combinations. Testing all of them is an impossible goal. Instead of testing all the combinations, testers should prioritize the app features which need attention by clearly defining their target users and business goals.</a:t>
            </a:r>
          </a:p>
          <a:p>
            <a:endParaRPr lang="en-US" dirty="0"/>
          </a:p>
          <a:p>
            <a:r>
              <a:rPr lang="en-US" dirty="0"/>
              <a:t>Inappropriate bug logging process</a:t>
            </a:r>
          </a:p>
          <a:p>
            <a:r>
              <a:rPr lang="en-US" dirty="0"/>
              <a:t>Basic rule in bug reporting is bug should properly describe. If the bug is not properly reported means missing of few required fields like Incorrect Defect Title, Error from log file, Missing Expected Result, or Steps to reproduce etc. which increase the defect life cycle process.</a:t>
            </a:r>
          </a:p>
          <a:p>
            <a:endParaRPr lang="en-US" dirty="0"/>
          </a:p>
        </p:txBody>
      </p:sp>
    </p:spTree>
    <p:extLst>
      <p:ext uri="{BB962C8B-B14F-4D97-AF65-F5344CB8AC3E}">
        <p14:creationId xmlns:p14="http://schemas.microsoft.com/office/powerpoint/2010/main" val="6917256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B48EC-A319-464F-88DE-1724BF1BA67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D846F0F-FB4D-4A16-AF09-FFF525ABEF7A}"/>
              </a:ext>
            </a:extLst>
          </p:cNvPr>
          <p:cNvSpPr>
            <a:spLocks noGrp="1"/>
          </p:cNvSpPr>
          <p:nvPr>
            <p:ph idx="1"/>
          </p:nvPr>
        </p:nvSpPr>
        <p:spPr/>
        <p:txBody>
          <a:bodyPr/>
          <a:lstStyle/>
          <a:p>
            <a:r>
              <a:rPr lang="en-US" dirty="0"/>
              <a:t>Lack of Control on Test Environment</a:t>
            </a:r>
          </a:p>
          <a:p>
            <a:r>
              <a:rPr lang="en-US" dirty="0"/>
              <a:t>Sometimes testers don’t have control on test environment &amp; they are not aware of what all is deployed in the current deployed build &amp; what not. Also development team make informal changes in the test environment which fixes or added new issues in the test environment which testers not aware of. It affects quality level of software application.</a:t>
            </a:r>
          </a:p>
          <a:p>
            <a:endParaRPr lang="en-US" dirty="0"/>
          </a:p>
          <a:p>
            <a:endParaRPr lang="en-US" dirty="0"/>
          </a:p>
        </p:txBody>
      </p:sp>
    </p:spTree>
    <p:extLst>
      <p:ext uri="{BB962C8B-B14F-4D97-AF65-F5344CB8AC3E}">
        <p14:creationId xmlns:p14="http://schemas.microsoft.com/office/powerpoint/2010/main" val="8829776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55EC9-4D61-4EA6-BCE1-D9078BB77BD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AF0A5C1-CB4D-4462-B5FB-A64E6C852A56}"/>
              </a:ext>
            </a:extLst>
          </p:cNvPr>
          <p:cNvSpPr>
            <a:spLocks noGrp="1"/>
          </p:cNvSpPr>
          <p:nvPr>
            <p:ph idx="1"/>
          </p:nvPr>
        </p:nvSpPr>
        <p:spPr/>
        <p:txBody>
          <a:bodyPr>
            <a:normAutofit fontScale="77500" lnSpcReduction="20000"/>
          </a:bodyPr>
          <a:lstStyle/>
          <a:p>
            <a:r>
              <a:rPr lang="en-US" dirty="0"/>
              <a:t>Lack of Knowledge regarding Severity and Priority</a:t>
            </a:r>
          </a:p>
          <a:p>
            <a:pPr marL="0" indent="0">
              <a:buNone/>
            </a:pPr>
            <a:r>
              <a:rPr lang="en-US" dirty="0"/>
              <a:t>Usually testing and development teams are not well educated on severity and priority of the defect which affects the bug tracking in defect life cycle. The defect severity &amp; priority vary from defect to defect and also fixing time of the defect is not same all the time.</a:t>
            </a:r>
          </a:p>
          <a:p>
            <a:endParaRPr lang="en-US" dirty="0"/>
          </a:p>
          <a:p>
            <a:r>
              <a:rPr lang="en-US" dirty="0"/>
              <a:t>Different bug Tracking Template Leads to Inconsistency</a:t>
            </a:r>
          </a:p>
          <a:p>
            <a:r>
              <a:rPr lang="en-US" dirty="0"/>
              <a:t>Sometimes, all the members of the team use different bug tracking template to report issues which leads to discrepancy at a later stages. To avoid this issue, all the members should use standard bug tracking template which also helps in the report generation.</a:t>
            </a:r>
          </a:p>
          <a:p>
            <a:endParaRPr lang="en-US" dirty="0"/>
          </a:p>
          <a:p>
            <a:r>
              <a:rPr lang="en-US" dirty="0"/>
              <a:t>Lack of Proper Testing Tools</a:t>
            </a:r>
          </a:p>
          <a:p>
            <a:r>
              <a:rPr lang="en-US" dirty="0"/>
              <a:t>Many times skilled testers are not provided with proper testing tools which affects their quality of work. The right tools can make it easier for QA teams to execute the project efficiently and also to deliver results faster.</a:t>
            </a:r>
          </a:p>
        </p:txBody>
      </p:sp>
    </p:spTree>
    <p:extLst>
      <p:ext uri="{BB962C8B-B14F-4D97-AF65-F5344CB8AC3E}">
        <p14:creationId xmlns:p14="http://schemas.microsoft.com/office/powerpoint/2010/main" val="29772686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85BDF-8B9A-49A2-A99E-2BBC969868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615AECD-21EC-4489-8687-2D8C80D664D0}"/>
              </a:ext>
            </a:extLst>
          </p:cNvPr>
          <p:cNvSpPr>
            <a:spLocks noGrp="1"/>
          </p:cNvSpPr>
          <p:nvPr>
            <p:ph idx="1"/>
          </p:nvPr>
        </p:nvSpPr>
        <p:spPr/>
        <p:txBody>
          <a:bodyPr>
            <a:normAutofit lnSpcReduction="10000"/>
          </a:bodyPr>
          <a:lstStyle/>
          <a:p>
            <a:r>
              <a:rPr lang="en-US" dirty="0"/>
              <a:t>Absence of SPOC</a:t>
            </a:r>
          </a:p>
          <a:p>
            <a:r>
              <a:rPr lang="en-US" dirty="0"/>
              <a:t>Sometimes, absence of SPOC (Single Point of Contact) to talk about defects to the stakeholders leads to problems in delivering high quality result by testers.</a:t>
            </a:r>
          </a:p>
          <a:p>
            <a:endParaRPr lang="en-US" dirty="0"/>
          </a:p>
          <a:p>
            <a:r>
              <a:rPr lang="en-US" dirty="0"/>
              <a:t>Improper Communication</a:t>
            </a:r>
          </a:p>
          <a:p>
            <a:r>
              <a:rPr lang="en-US" dirty="0"/>
              <a:t>To ensure smooth process of testing and to fix the defects that are defected, it is necessary to clearly communicate any change in app feature or requirement to all member of QA Team in time. A good communication channel between various teams like development &amp; QA will help sync the testing efforts with the quality goals set by the business.</a:t>
            </a:r>
          </a:p>
        </p:txBody>
      </p:sp>
    </p:spTree>
    <p:extLst>
      <p:ext uri="{BB962C8B-B14F-4D97-AF65-F5344CB8AC3E}">
        <p14:creationId xmlns:p14="http://schemas.microsoft.com/office/powerpoint/2010/main" val="39362103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B1175-D6DF-4F5F-A3B6-39B8422523C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A67312F-631E-4256-9538-51C45C6C1A14}"/>
              </a:ext>
            </a:extLst>
          </p:cNvPr>
          <p:cNvSpPr>
            <a:spLocks noGrp="1"/>
          </p:cNvSpPr>
          <p:nvPr>
            <p:ph idx="1"/>
          </p:nvPr>
        </p:nvSpPr>
        <p:spPr/>
        <p:txBody>
          <a:bodyPr/>
          <a:lstStyle/>
          <a:p>
            <a:r>
              <a:rPr lang="en-US" dirty="0"/>
              <a:t>Absence of Right Process</a:t>
            </a:r>
          </a:p>
          <a:p>
            <a:r>
              <a:rPr lang="en-US" dirty="0"/>
              <a:t>The company process for testing should be designed in such way that the process is efficient in capturing the bugs in time. The process should be clearly defined to avoid misunderstandings. Setting up a uniform process to get everyone on the same page becomes harder for teams that are located in different offices in different time zones.</a:t>
            </a:r>
          </a:p>
        </p:txBody>
      </p:sp>
    </p:spTree>
    <p:extLst>
      <p:ext uri="{BB962C8B-B14F-4D97-AF65-F5344CB8AC3E}">
        <p14:creationId xmlns:p14="http://schemas.microsoft.com/office/powerpoint/2010/main" val="39166841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455</TotalTime>
  <Words>4236</Words>
  <Application>Microsoft Office PowerPoint</Application>
  <PresentationFormat>Widescreen</PresentationFormat>
  <Paragraphs>252</Paragraphs>
  <Slides>42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Century Gothic</vt:lpstr>
      <vt:lpstr>Wingdings 3</vt:lpstr>
      <vt:lpstr>Ion Boardroom</vt:lpstr>
      <vt:lpstr>      BSSE    -Software Quality Engineering      Week-9  Lecture17-18  Semester 6- Fall 2020</vt:lpstr>
      <vt:lpstr>TYPES OF TESTING TECHNIQUES</vt:lpstr>
      <vt:lpstr>Learning Outcomes</vt:lpstr>
      <vt:lpstr>What are the different types of Software Testing? </vt:lpstr>
      <vt:lpstr>Different Types Of Software Testing Given below is the list of some common types of Software Testing: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ISSUES IN SOFTWARE TESTING</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13</dc:title>
  <dc:creator>Zarsha</dc:creator>
  <cp:lastModifiedBy>Zarsha</cp:lastModifiedBy>
  <cp:revision>18</cp:revision>
  <dcterms:created xsi:type="dcterms:W3CDTF">2019-10-13T12:26:15Z</dcterms:created>
  <dcterms:modified xsi:type="dcterms:W3CDTF">2020-04-21T07:09:09Z</dcterms:modified>
</cp:coreProperties>
</file>