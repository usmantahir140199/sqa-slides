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69" r:id="rId2"/>
    <p:sldId id="281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E9C27-E3E9-4ECE-91D6-C86B8A982AFF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C65CE-6E43-4991-BCB5-F04EC8E19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9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4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2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2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90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0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8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51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3561" y="3175"/>
            <a:ext cx="1093047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505" y="0"/>
                </a:lnTo>
                <a:lnTo>
                  <a:pt x="0" y="819150"/>
                </a:lnTo>
                <a:lnTo>
                  <a:pt x="505" y="819150"/>
                </a:lnTo>
                <a:lnTo>
                  <a:pt x="48636" y="817759"/>
                </a:lnTo>
                <a:lnTo>
                  <a:pt x="96034" y="813638"/>
                </a:lnTo>
                <a:lnTo>
                  <a:pt x="142624" y="806864"/>
                </a:lnTo>
                <a:lnTo>
                  <a:pt x="188327" y="797514"/>
                </a:lnTo>
                <a:lnTo>
                  <a:pt x="233067" y="785664"/>
                </a:lnTo>
                <a:lnTo>
                  <a:pt x="276768" y="771391"/>
                </a:lnTo>
                <a:lnTo>
                  <a:pt x="319353" y="754772"/>
                </a:lnTo>
                <a:lnTo>
                  <a:pt x="360744" y="735885"/>
                </a:lnTo>
                <a:lnTo>
                  <a:pt x="400865" y="714805"/>
                </a:lnTo>
                <a:lnTo>
                  <a:pt x="439639" y="691610"/>
                </a:lnTo>
                <a:lnTo>
                  <a:pt x="476989" y="666377"/>
                </a:lnTo>
                <a:lnTo>
                  <a:pt x="512839" y="639182"/>
                </a:lnTo>
                <a:lnTo>
                  <a:pt x="547111" y="610102"/>
                </a:lnTo>
                <a:lnTo>
                  <a:pt x="579729" y="579215"/>
                </a:lnTo>
                <a:lnTo>
                  <a:pt x="610616" y="546596"/>
                </a:lnTo>
                <a:lnTo>
                  <a:pt x="639695" y="512323"/>
                </a:lnTo>
                <a:lnTo>
                  <a:pt x="666889" y="476473"/>
                </a:lnTo>
                <a:lnTo>
                  <a:pt x="692121" y="439123"/>
                </a:lnTo>
                <a:lnTo>
                  <a:pt x="715315" y="400349"/>
                </a:lnTo>
                <a:lnTo>
                  <a:pt x="736394" y="360228"/>
                </a:lnTo>
                <a:lnTo>
                  <a:pt x="755281" y="318837"/>
                </a:lnTo>
                <a:lnTo>
                  <a:pt x="771898" y="276253"/>
                </a:lnTo>
                <a:lnTo>
                  <a:pt x="786170" y="232553"/>
                </a:lnTo>
                <a:lnTo>
                  <a:pt x="798019" y="187814"/>
                </a:lnTo>
                <a:lnTo>
                  <a:pt x="807369" y="142112"/>
                </a:lnTo>
                <a:lnTo>
                  <a:pt x="814143" y="95524"/>
                </a:lnTo>
                <a:lnTo>
                  <a:pt x="818263" y="48128"/>
                </a:lnTo>
                <a:lnTo>
                  <a:pt x="819654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3561" y="3175"/>
            <a:ext cx="1093047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818263" y="48128"/>
                </a:lnTo>
                <a:lnTo>
                  <a:pt x="814143" y="95524"/>
                </a:lnTo>
                <a:lnTo>
                  <a:pt x="807369" y="142112"/>
                </a:lnTo>
                <a:lnTo>
                  <a:pt x="798019" y="187814"/>
                </a:lnTo>
                <a:lnTo>
                  <a:pt x="786170" y="232553"/>
                </a:lnTo>
                <a:lnTo>
                  <a:pt x="771898" y="276253"/>
                </a:lnTo>
                <a:lnTo>
                  <a:pt x="755281" y="318837"/>
                </a:lnTo>
                <a:lnTo>
                  <a:pt x="736394" y="360228"/>
                </a:lnTo>
                <a:lnTo>
                  <a:pt x="715315" y="400349"/>
                </a:lnTo>
                <a:lnTo>
                  <a:pt x="692121" y="439123"/>
                </a:lnTo>
                <a:lnTo>
                  <a:pt x="666889" y="476473"/>
                </a:lnTo>
                <a:lnTo>
                  <a:pt x="639695" y="512323"/>
                </a:lnTo>
                <a:lnTo>
                  <a:pt x="610616" y="546596"/>
                </a:lnTo>
                <a:lnTo>
                  <a:pt x="579729" y="579215"/>
                </a:lnTo>
                <a:lnTo>
                  <a:pt x="547111" y="610102"/>
                </a:lnTo>
                <a:lnTo>
                  <a:pt x="512839" y="639182"/>
                </a:lnTo>
                <a:lnTo>
                  <a:pt x="476989" y="666377"/>
                </a:lnTo>
                <a:lnTo>
                  <a:pt x="439639" y="691610"/>
                </a:lnTo>
                <a:lnTo>
                  <a:pt x="400865" y="714805"/>
                </a:lnTo>
                <a:lnTo>
                  <a:pt x="360744" y="735885"/>
                </a:lnTo>
                <a:lnTo>
                  <a:pt x="319353" y="754772"/>
                </a:lnTo>
                <a:lnTo>
                  <a:pt x="276768" y="771391"/>
                </a:lnTo>
                <a:lnTo>
                  <a:pt x="233067" y="785664"/>
                </a:lnTo>
                <a:lnTo>
                  <a:pt x="188327" y="797514"/>
                </a:lnTo>
                <a:lnTo>
                  <a:pt x="142624" y="806864"/>
                </a:lnTo>
                <a:lnTo>
                  <a:pt x="96034" y="813638"/>
                </a:lnTo>
                <a:lnTo>
                  <a:pt x="48636" y="817759"/>
                </a:lnTo>
                <a:lnTo>
                  <a:pt x="505" y="819150"/>
                </a:lnTo>
                <a:lnTo>
                  <a:pt x="337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819654" y="0"/>
                </a:lnTo>
                <a:close/>
              </a:path>
            </a:pathLst>
          </a:custGeom>
          <a:ln w="12700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9"/>
          <p:cNvSpPr/>
          <p:nvPr/>
        </p:nvSpPr>
        <p:spPr>
          <a:xfrm>
            <a:off x="168657" y="4573"/>
            <a:ext cx="2381503" cy="1786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20"/>
          <p:cNvSpPr/>
          <p:nvPr/>
        </p:nvSpPr>
        <p:spPr>
          <a:xfrm>
            <a:off x="224367" y="20701"/>
            <a:ext cx="2271607" cy="1703705"/>
          </a:xfrm>
          <a:custGeom>
            <a:avLst/>
            <a:gdLst/>
            <a:ahLst/>
            <a:cxnLst/>
            <a:rect l="l" t="t" r="r" b="b"/>
            <a:pathLst>
              <a:path w="1703705" h="1703705">
                <a:moveTo>
                  <a:pt x="0" y="851662"/>
                </a:moveTo>
                <a:lnTo>
                  <a:pt x="1348" y="803329"/>
                </a:lnTo>
                <a:lnTo>
                  <a:pt x="5345" y="755704"/>
                </a:lnTo>
                <a:lnTo>
                  <a:pt x="11918" y="708858"/>
                </a:lnTo>
                <a:lnTo>
                  <a:pt x="20996" y="662865"/>
                </a:lnTo>
                <a:lnTo>
                  <a:pt x="32507" y="617795"/>
                </a:lnTo>
                <a:lnTo>
                  <a:pt x="46379" y="573720"/>
                </a:lnTo>
                <a:lnTo>
                  <a:pt x="62541" y="530713"/>
                </a:lnTo>
                <a:lnTo>
                  <a:pt x="80919" y="488844"/>
                </a:lnTo>
                <a:lnTo>
                  <a:pt x="101442" y="448187"/>
                </a:lnTo>
                <a:lnTo>
                  <a:pt x="124039" y="408812"/>
                </a:lnTo>
                <a:lnTo>
                  <a:pt x="148638" y="370792"/>
                </a:lnTo>
                <a:lnTo>
                  <a:pt x="175166" y="334199"/>
                </a:lnTo>
                <a:lnTo>
                  <a:pt x="203552" y="299104"/>
                </a:lnTo>
                <a:lnTo>
                  <a:pt x="233723" y="265579"/>
                </a:lnTo>
                <a:lnTo>
                  <a:pt x="265609" y="233696"/>
                </a:lnTo>
                <a:lnTo>
                  <a:pt x="299136" y="203527"/>
                </a:lnTo>
                <a:lnTo>
                  <a:pt x="334233" y="175144"/>
                </a:lnTo>
                <a:lnTo>
                  <a:pt x="370829" y="148619"/>
                </a:lnTo>
                <a:lnTo>
                  <a:pt x="408851" y="124023"/>
                </a:lnTo>
                <a:lnTo>
                  <a:pt x="448227" y="101429"/>
                </a:lnTo>
                <a:lnTo>
                  <a:pt x="488886" y="80908"/>
                </a:lnTo>
                <a:lnTo>
                  <a:pt x="530756" y="62532"/>
                </a:lnTo>
                <a:lnTo>
                  <a:pt x="573764" y="46373"/>
                </a:lnTo>
                <a:lnTo>
                  <a:pt x="617839" y="32502"/>
                </a:lnTo>
                <a:lnTo>
                  <a:pt x="662909" y="20993"/>
                </a:lnTo>
                <a:lnTo>
                  <a:pt x="708902" y="11916"/>
                </a:lnTo>
                <a:lnTo>
                  <a:pt x="755746" y="5344"/>
                </a:lnTo>
                <a:lnTo>
                  <a:pt x="803369" y="1348"/>
                </a:lnTo>
                <a:lnTo>
                  <a:pt x="851700" y="0"/>
                </a:lnTo>
                <a:lnTo>
                  <a:pt x="900029" y="1348"/>
                </a:lnTo>
                <a:lnTo>
                  <a:pt x="947652" y="5344"/>
                </a:lnTo>
                <a:lnTo>
                  <a:pt x="994496" y="11916"/>
                </a:lnTo>
                <a:lnTo>
                  <a:pt x="1040489" y="20993"/>
                </a:lnTo>
                <a:lnTo>
                  <a:pt x="1085560" y="32502"/>
                </a:lnTo>
                <a:lnTo>
                  <a:pt x="1129636" y="46373"/>
                </a:lnTo>
                <a:lnTo>
                  <a:pt x="1172646" y="62532"/>
                </a:lnTo>
                <a:lnTo>
                  <a:pt x="1214517" y="80908"/>
                </a:lnTo>
                <a:lnTo>
                  <a:pt x="1255178" y="101429"/>
                </a:lnTo>
                <a:lnTo>
                  <a:pt x="1294557" y="124023"/>
                </a:lnTo>
                <a:lnTo>
                  <a:pt x="1332581" y="148619"/>
                </a:lnTo>
                <a:lnTo>
                  <a:pt x="1369179" y="175144"/>
                </a:lnTo>
                <a:lnTo>
                  <a:pt x="1404280" y="203527"/>
                </a:lnTo>
                <a:lnTo>
                  <a:pt x="1437810" y="233696"/>
                </a:lnTo>
                <a:lnTo>
                  <a:pt x="1469698" y="265579"/>
                </a:lnTo>
                <a:lnTo>
                  <a:pt x="1499873" y="299104"/>
                </a:lnTo>
                <a:lnTo>
                  <a:pt x="1528261" y="334199"/>
                </a:lnTo>
                <a:lnTo>
                  <a:pt x="1554792" y="370792"/>
                </a:lnTo>
                <a:lnTo>
                  <a:pt x="1579394" y="408812"/>
                </a:lnTo>
                <a:lnTo>
                  <a:pt x="1601993" y="448187"/>
                </a:lnTo>
                <a:lnTo>
                  <a:pt x="1622520" y="488844"/>
                </a:lnTo>
                <a:lnTo>
                  <a:pt x="1640900" y="530713"/>
                </a:lnTo>
                <a:lnTo>
                  <a:pt x="1657064" y="573720"/>
                </a:lnTo>
                <a:lnTo>
                  <a:pt x="1670938" y="617795"/>
                </a:lnTo>
                <a:lnTo>
                  <a:pt x="1682450" y="662865"/>
                </a:lnTo>
                <a:lnTo>
                  <a:pt x="1691530" y="708858"/>
                </a:lnTo>
                <a:lnTo>
                  <a:pt x="1698105" y="755704"/>
                </a:lnTo>
                <a:lnTo>
                  <a:pt x="1702102" y="803329"/>
                </a:lnTo>
                <a:lnTo>
                  <a:pt x="1703451" y="851662"/>
                </a:lnTo>
                <a:lnTo>
                  <a:pt x="1702102" y="899994"/>
                </a:lnTo>
                <a:lnTo>
                  <a:pt x="1698105" y="947619"/>
                </a:lnTo>
                <a:lnTo>
                  <a:pt x="1691530" y="994465"/>
                </a:lnTo>
                <a:lnTo>
                  <a:pt x="1682450" y="1040458"/>
                </a:lnTo>
                <a:lnTo>
                  <a:pt x="1670938" y="1085528"/>
                </a:lnTo>
                <a:lnTo>
                  <a:pt x="1657064" y="1129603"/>
                </a:lnTo>
                <a:lnTo>
                  <a:pt x="1640900" y="1172610"/>
                </a:lnTo>
                <a:lnTo>
                  <a:pt x="1622520" y="1214479"/>
                </a:lnTo>
                <a:lnTo>
                  <a:pt x="1601993" y="1255136"/>
                </a:lnTo>
                <a:lnTo>
                  <a:pt x="1579394" y="1294511"/>
                </a:lnTo>
                <a:lnTo>
                  <a:pt x="1554792" y="1332531"/>
                </a:lnTo>
                <a:lnTo>
                  <a:pt x="1528261" y="1369124"/>
                </a:lnTo>
                <a:lnTo>
                  <a:pt x="1499873" y="1404219"/>
                </a:lnTo>
                <a:lnTo>
                  <a:pt x="1469698" y="1437744"/>
                </a:lnTo>
                <a:lnTo>
                  <a:pt x="1437810" y="1469627"/>
                </a:lnTo>
                <a:lnTo>
                  <a:pt x="1404280" y="1499796"/>
                </a:lnTo>
                <a:lnTo>
                  <a:pt x="1369179" y="1528179"/>
                </a:lnTo>
                <a:lnTo>
                  <a:pt x="1332581" y="1554704"/>
                </a:lnTo>
                <a:lnTo>
                  <a:pt x="1294557" y="1579300"/>
                </a:lnTo>
                <a:lnTo>
                  <a:pt x="1255178" y="1601894"/>
                </a:lnTo>
                <a:lnTo>
                  <a:pt x="1214517" y="1622415"/>
                </a:lnTo>
                <a:lnTo>
                  <a:pt x="1172646" y="1640791"/>
                </a:lnTo>
                <a:lnTo>
                  <a:pt x="1129636" y="1656950"/>
                </a:lnTo>
                <a:lnTo>
                  <a:pt x="1085560" y="1670821"/>
                </a:lnTo>
                <a:lnTo>
                  <a:pt x="1040489" y="1682330"/>
                </a:lnTo>
                <a:lnTo>
                  <a:pt x="994496" y="1691407"/>
                </a:lnTo>
                <a:lnTo>
                  <a:pt x="947652" y="1697979"/>
                </a:lnTo>
                <a:lnTo>
                  <a:pt x="900029" y="1701975"/>
                </a:lnTo>
                <a:lnTo>
                  <a:pt x="851700" y="1703324"/>
                </a:lnTo>
                <a:lnTo>
                  <a:pt x="803369" y="1701975"/>
                </a:lnTo>
                <a:lnTo>
                  <a:pt x="755746" y="1697979"/>
                </a:lnTo>
                <a:lnTo>
                  <a:pt x="708902" y="1691407"/>
                </a:lnTo>
                <a:lnTo>
                  <a:pt x="662909" y="1682330"/>
                </a:lnTo>
                <a:lnTo>
                  <a:pt x="617839" y="1670821"/>
                </a:lnTo>
                <a:lnTo>
                  <a:pt x="573764" y="1656950"/>
                </a:lnTo>
                <a:lnTo>
                  <a:pt x="530756" y="1640791"/>
                </a:lnTo>
                <a:lnTo>
                  <a:pt x="488886" y="1622415"/>
                </a:lnTo>
                <a:lnTo>
                  <a:pt x="448227" y="1601894"/>
                </a:lnTo>
                <a:lnTo>
                  <a:pt x="408851" y="1579300"/>
                </a:lnTo>
                <a:lnTo>
                  <a:pt x="370829" y="1554704"/>
                </a:lnTo>
                <a:lnTo>
                  <a:pt x="334233" y="1528179"/>
                </a:lnTo>
                <a:lnTo>
                  <a:pt x="299136" y="1499796"/>
                </a:lnTo>
                <a:lnTo>
                  <a:pt x="265609" y="1469627"/>
                </a:lnTo>
                <a:lnTo>
                  <a:pt x="233723" y="1437744"/>
                </a:lnTo>
                <a:lnTo>
                  <a:pt x="203552" y="1404219"/>
                </a:lnTo>
                <a:lnTo>
                  <a:pt x="175166" y="1369124"/>
                </a:lnTo>
                <a:lnTo>
                  <a:pt x="148638" y="1332531"/>
                </a:lnTo>
                <a:lnTo>
                  <a:pt x="124039" y="1294511"/>
                </a:lnTo>
                <a:lnTo>
                  <a:pt x="101442" y="1255136"/>
                </a:lnTo>
                <a:lnTo>
                  <a:pt x="80919" y="1214479"/>
                </a:lnTo>
                <a:lnTo>
                  <a:pt x="62541" y="1172610"/>
                </a:lnTo>
                <a:lnTo>
                  <a:pt x="46379" y="1129603"/>
                </a:lnTo>
                <a:lnTo>
                  <a:pt x="32507" y="1085528"/>
                </a:lnTo>
                <a:lnTo>
                  <a:pt x="20996" y="1040458"/>
                </a:lnTo>
                <a:lnTo>
                  <a:pt x="11918" y="994465"/>
                </a:lnTo>
                <a:lnTo>
                  <a:pt x="5345" y="947619"/>
                </a:lnTo>
                <a:lnTo>
                  <a:pt x="1348" y="899994"/>
                </a:lnTo>
                <a:lnTo>
                  <a:pt x="0" y="851662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g object 21"/>
          <p:cNvSpPr/>
          <p:nvPr/>
        </p:nvSpPr>
        <p:spPr>
          <a:xfrm>
            <a:off x="225551" y="1043940"/>
            <a:ext cx="1546352" cy="1153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g object 22"/>
          <p:cNvSpPr/>
          <p:nvPr/>
        </p:nvSpPr>
        <p:spPr>
          <a:xfrm>
            <a:off x="249758" y="1050633"/>
            <a:ext cx="1489084" cy="1111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g object 23"/>
          <p:cNvSpPr/>
          <p:nvPr/>
        </p:nvSpPr>
        <p:spPr>
          <a:xfrm>
            <a:off x="249758" y="1050634"/>
            <a:ext cx="1489287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7" y="204634"/>
                </a:moveTo>
                <a:lnTo>
                  <a:pt x="149786" y="168741"/>
                </a:lnTo>
                <a:lnTo>
                  <a:pt x="183516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6" y="40547"/>
                </a:lnTo>
                <a:lnTo>
                  <a:pt x="380539" y="25331"/>
                </a:lnTo>
                <a:lnTo>
                  <a:pt x="423971" y="13644"/>
                </a:lnTo>
                <a:lnTo>
                  <a:pt x="468197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8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8" y="50083"/>
                </a:lnTo>
                <a:lnTo>
                  <a:pt x="822331" y="71238"/>
                </a:lnTo>
                <a:lnTo>
                  <a:pt x="863109" y="96162"/>
                </a:lnTo>
                <a:lnTo>
                  <a:pt x="902328" y="124878"/>
                </a:lnTo>
                <a:lnTo>
                  <a:pt x="939023" y="156757"/>
                </a:lnTo>
                <a:lnTo>
                  <a:pt x="972366" y="190998"/>
                </a:lnTo>
                <a:lnTo>
                  <a:pt x="1002326" y="227366"/>
                </a:lnTo>
                <a:lnTo>
                  <a:pt x="1028875" y="265625"/>
                </a:lnTo>
                <a:lnTo>
                  <a:pt x="1051985" y="305541"/>
                </a:lnTo>
                <a:lnTo>
                  <a:pt x="1071627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5" y="611617"/>
                </a:lnTo>
                <a:lnTo>
                  <a:pt x="1109608" y="656333"/>
                </a:lnTo>
                <a:lnTo>
                  <a:pt x="1100474" y="700593"/>
                </a:lnTo>
                <a:lnTo>
                  <a:pt x="1087614" y="744160"/>
                </a:lnTo>
                <a:lnTo>
                  <a:pt x="1070999" y="786801"/>
                </a:lnTo>
                <a:lnTo>
                  <a:pt x="1050601" y="828281"/>
                </a:lnTo>
                <a:lnTo>
                  <a:pt x="1026391" y="868365"/>
                </a:lnTo>
                <a:lnTo>
                  <a:pt x="998340" y="906817"/>
                </a:lnTo>
                <a:lnTo>
                  <a:pt x="967050" y="942711"/>
                </a:lnTo>
                <a:lnTo>
                  <a:pt x="933321" y="975221"/>
                </a:lnTo>
                <a:lnTo>
                  <a:pt x="897386" y="1004323"/>
                </a:lnTo>
                <a:lnTo>
                  <a:pt x="859481" y="1029991"/>
                </a:lnTo>
                <a:lnTo>
                  <a:pt x="819842" y="1052203"/>
                </a:lnTo>
                <a:lnTo>
                  <a:pt x="778703" y="1070934"/>
                </a:lnTo>
                <a:lnTo>
                  <a:pt x="736301" y="1086160"/>
                </a:lnTo>
                <a:lnTo>
                  <a:pt x="692869" y="1097856"/>
                </a:lnTo>
                <a:lnTo>
                  <a:pt x="648644" y="1105999"/>
                </a:lnTo>
                <a:lnTo>
                  <a:pt x="603861" y="1110565"/>
                </a:lnTo>
                <a:lnTo>
                  <a:pt x="558755" y="1111530"/>
                </a:lnTo>
                <a:lnTo>
                  <a:pt x="513561" y="1108869"/>
                </a:lnTo>
                <a:lnTo>
                  <a:pt x="468514" y="1102558"/>
                </a:lnTo>
                <a:lnTo>
                  <a:pt x="423851" y="1092574"/>
                </a:lnTo>
                <a:lnTo>
                  <a:pt x="379805" y="1078891"/>
                </a:lnTo>
                <a:lnTo>
                  <a:pt x="336613" y="1061487"/>
                </a:lnTo>
                <a:lnTo>
                  <a:pt x="294509" y="1040336"/>
                </a:lnTo>
                <a:lnTo>
                  <a:pt x="253729" y="1015415"/>
                </a:lnTo>
                <a:lnTo>
                  <a:pt x="214509" y="986700"/>
                </a:lnTo>
                <a:lnTo>
                  <a:pt x="177813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3" y="806035"/>
                </a:lnTo>
                <a:lnTo>
                  <a:pt x="45198" y="764695"/>
                </a:lnTo>
                <a:lnTo>
                  <a:pt x="29050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1" y="367355"/>
                </a:lnTo>
                <a:lnTo>
                  <a:pt x="45819" y="324701"/>
                </a:lnTo>
                <a:lnTo>
                  <a:pt x="66221" y="283206"/>
                </a:lnTo>
                <a:lnTo>
                  <a:pt x="90438" y="243105"/>
                </a:lnTo>
                <a:lnTo>
                  <a:pt x="118497" y="204634"/>
                </a:lnTo>
                <a:close/>
              </a:path>
              <a:path w="1116965" h="1111885">
                <a:moveTo>
                  <a:pt x="220478" y="286041"/>
                </a:moveTo>
                <a:lnTo>
                  <a:pt x="193857" y="323455"/>
                </a:lnTo>
                <a:lnTo>
                  <a:pt x="171956" y="362810"/>
                </a:lnTo>
                <a:lnTo>
                  <a:pt x="154731" y="403741"/>
                </a:lnTo>
                <a:lnTo>
                  <a:pt x="142134" y="445881"/>
                </a:lnTo>
                <a:lnTo>
                  <a:pt x="134120" y="488865"/>
                </a:lnTo>
                <a:lnTo>
                  <a:pt x="130642" y="532328"/>
                </a:lnTo>
                <a:lnTo>
                  <a:pt x="131656" y="575903"/>
                </a:lnTo>
                <a:lnTo>
                  <a:pt x="137113" y="619227"/>
                </a:lnTo>
                <a:lnTo>
                  <a:pt x="146970" y="661933"/>
                </a:lnTo>
                <a:lnTo>
                  <a:pt x="161179" y="703655"/>
                </a:lnTo>
                <a:lnTo>
                  <a:pt x="179695" y="744028"/>
                </a:lnTo>
                <a:lnTo>
                  <a:pt x="202471" y="782686"/>
                </a:lnTo>
                <a:lnTo>
                  <a:pt x="229462" y="819265"/>
                </a:lnTo>
                <a:lnTo>
                  <a:pt x="260621" y="853397"/>
                </a:lnTo>
                <a:lnTo>
                  <a:pt x="295903" y="884719"/>
                </a:lnTo>
                <a:lnTo>
                  <a:pt x="334266" y="912179"/>
                </a:lnTo>
                <a:lnTo>
                  <a:pt x="374454" y="934995"/>
                </a:lnTo>
                <a:lnTo>
                  <a:pt x="416101" y="953204"/>
                </a:lnTo>
                <a:lnTo>
                  <a:pt x="458842" y="966841"/>
                </a:lnTo>
                <a:lnTo>
                  <a:pt x="502309" y="975943"/>
                </a:lnTo>
                <a:lnTo>
                  <a:pt x="546136" y="980546"/>
                </a:lnTo>
                <a:lnTo>
                  <a:pt x="589958" y="980687"/>
                </a:lnTo>
                <a:lnTo>
                  <a:pt x="633407" y="976403"/>
                </a:lnTo>
                <a:lnTo>
                  <a:pt x="676118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9" y="889862"/>
                </a:lnTo>
                <a:lnTo>
                  <a:pt x="865772" y="859785"/>
                </a:lnTo>
                <a:lnTo>
                  <a:pt x="896359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2" y="707789"/>
                </a:lnTo>
                <a:lnTo>
                  <a:pt x="974710" y="665643"/>
                </a:lnTo>
                <a:lnTo>
                  <a:pt x="982725" y="622657"/>
                </a:lnTo>
                <a:lnTo>
                  <a:pt x="986204" y="579196"/>
                </a:lnTo>
                <a:lnTo>
                  <a:pt x="985192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70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1" y="176583"/>
                </a:lnTo>
                <a:lnTo>
                  <a:pt x="700742" y="158375"/>
                </a:lnTo>
                <a:lnTo>
                  <a:pt x="658000" y="144737"/>
                </a:lnTo>
                <a:lnTo>
                  <a:pt x="614531" y="135635"/>
                </a:lnTo>
                <a:lnTo>
                  <a:pt x="570703" y="131032"/>
                </a:lnTo>
                <a:lnTo>
                  <a:pt x="526880" y="130891"/>
                </a:lnTo>
                <a:lnTo>
                  <a:pt x="483431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9" y="174222"/>
                </a:lnTo>
                <a:lnTo>
                  <a:pt x="320681" y="195847"/>
                </a:lnTo>
                <a:lnTo>
                  <a:pt x="284588" y="221716"/>
                </a:lnTo>
                <a:lnTo>
                  <a:pt x="251064" y="251793"/>
                </a:lnTo>
                <a:lnTo>
                  <a:pt x="220478" y="286041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g object 24"/>
          <p:cNvSpPr/>
          <p:nvPr/>
        </p:nvSpPr>
        <p:spPr>
          <a:xfrm>
            <a:off x="1247649" y="1"/>
            <a:ext cx="207263" cy="6857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bg object 25"/>
          <p:cNvSpPr/>
          <p:nvPr/>
        </p:nvSpPr>
        <p:spPr>
          <a:xfrm>
            <a:off x="1352550" y="0"/>
            <a:ext cx="10839873" cy="6858000"/>
          </a:xfrm>
          <a:custGeom>
            <a:avLst/>
            <a:gdLst/>
            <a:ahLst/>
            <a:cxnLst/>
            <a:rect l="l" t="t" r="r" b="b"/>
            <a:pathLst>
              <a:path w="8129905" h="6858000">
                <a:moveTo>
                  <a:pt x="8129524" y="0"/>
                </a:moveTo>
                <a:lnTo>
                  <a:pt x="0" y="0"/>
                </a:lnTo>
                <a:lnTo>
                  <a:pt x="0" y="6858000"/>
                </a:lnTo>
                <a:lnTo>
                  <a:pt x="8129524" y="6858000"/>
                </a:lnTo>
                <a:lnTo>
                  <a:pt x="81295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bg object 26"/>
          <p:cNvSpPr/>
          <p:nvPr/>
        </p:nvSpPr>
        <p:spPr>
          <a:xfrm>
            <a:off x="1247649" y="1"/>
            <a:ext cx="207263" cy="6857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bg object 27"/>
          <p:cNvSpPr/>
          <p:nvPr/>
        </p:nvSpPr>
        <p:spPr>
          <a:xfrm>
            <a:off x="1352550" y="0"/>
            <a:ext cx="97367" cy="6858000"/>
          </a:xfrm>
          <a:custGeom>
            <a:avLst/>
            <a:gdLst/>
            <a:ahLst/>
            <a:cxnLst/>
            <a:rect l="l" t="t" r="r" b="b"/>
            <a:pathLst>
              <a:path w="73025" h="6858000">
                <a:moveTo>
                  <a:pt x="73025" y="0"/>
                </a:moveTo>
                <a:lnTo>
                  <a:pt x="0" y="0"/>
                </a:lnTo>
                <a:lnTo>
                  <a:pt x="0" y="6858000"/>
                </a:lnTo>
                <a:lnTo>
                  <a:pt x="73025" y="6858000"/>
                </a:lnTo>
                <a:lnTo>
                  <a:pt x="730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A2103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043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4929E7D-67C2-478D-B0AC-3878201898D8}" type="datetimeFigureOut">
              <a:rPr lang="en-US" smtClean="0"/>
              <a:t>3/24/2020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E73C9B-D9A2-4DA2-AF94-DBE9ACB31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8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065" y="1064260"/>
            <a:ext cx="8825865" cy="371348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BSSE    -Software Quality Engineering</a:t>
            </a:r>
            <a:r>
              <a:rPr lang="en-US" sz="4400" dirty="0"/>
              <a:t>					</a:t>
            </a:r>
            <a:br>
              <a:rPr lang="en-US" sz="4400" dirty="0"/>
            </a:br>
            <a:r>
              <a:rPr lang="en-US" sz="4400" dirty="0"/>
              <a:t>Week-5		Lecture 9</a:t>
            </a:r>
            <a:br>
              <a:rPr lang="en-US" sz="4400" dirty="0"/>
            </a:br>
            <a:r>
              <a:rPr lang="en-US" sz="4400" dirty="0"/>
              <a:t>	</a:t>
            </a:r>
            <a:r>
              <a:rPr lang="en-US" sz="2800" dirty="0"/>
              <a:t>Semester 6- Fall 2020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065" y="4777105"/>
            <a:ext cx="8825865" cy="1313815"/>
          </a:xfrm>
        </p:spPr>
        <p:txBody>
          <a:bodyPr>
            <a:normAutofit/>
          </a:bodyPr>
          <a:lstStyle/>
          <a:p>
            <a:pPr lvl="8"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" y="90351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1E15-3D50-415A-ADF0-F371FADAE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170" y="2730110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b="1" dirty="0"/>
              <a:t>SOFTWARE TESTING</a:t>
            </a:r>
          </a:p>
        </p:txBody>
      </p:sp>
    </p:spTree>
    <p:extLst>
      <p:ext uri="{BB962C8B-B14F-4D97-AF65-F5344CB8AC3E}">
        <p14:creationId xmlns:p14="http://schemas.microsoft.com/office/powerpoint/2010/main" val="401664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1859" y="0"/>
            <a:ext cx="9866524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69844" y="1971878"/>
            <a:ext cx="7505700" cy="32915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indent="-231775">
              <a:spcBef>
                <a:spcPts val="105"/>
              </a:spcBef>
              <a:buFont typeface="Wingdings"/>
              <a:buChar char=""/>
              <a:tabLst>
                <a:tab pos="244475" algn="l"/>
              </a:tabLst>
            </a:pPr>
            <a:r>
              <a:rPr sz="2600" dirty="0">
                <a:latin typeface="Times New Roman"/>
                <a:cs typeface="Times New Roman"/>
              </a:rPr>
              <a:t>Standard model </a:t>
            </a:r>
            <a:r>
              <a:rPr sz="2600" spc="-5" dirty="0">
                <a:latin typeface="Times New Roman"/>
                <a:cs typeface="Times New Roman"/>
              </a:rPr>
              <a:t>used </a:t>
            </a:r>
            <a:r>
              <a:rPr sz="2600" dirty="0">
                <a:latin typeface="Times New Roman"/>
                <a:cs typeface="Times New Roman"/>
              </a:rPr>
              <a:t>word wide to develop a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software.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  <a:buChar char=""/>
            </a:pPr>
            <a:endParaRPr sz="2850" dirty="0">
              <a:latin typeface="Times New Roman"/>
              <a:cs typeface="Times New Roman"/>
            </a:endParaRPr>
          </a:p>
          <a:p>
            <a:pPr marL="12700" marR="47625">
              <a:lnSpc>
                <a:spcPct val="101200"/>
              </a:lnSpc>
              <a:buSzPct val="107692"/>
              <a:buFont typeface="Wingdings"/>
              <a:buChar char=""/>
              <a:tabLst>
                <a:tab pos="279400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framework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describes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activities </a:t>
            </a:r>
            <a:r>
              <a:rPr sz="2600" dirty="0">
                <a:latin typeface="Times New Roman"/>
                <a:cs typeface="Times New Roman"/>
              </a:rPr>
              <a:t>performed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  </a:t>
            </a:r>
            <a:r>
              <a:rPr sz="2600" spc="-5" dirty="0">
                <a:latin typeface="Times New Roman"/>
                <a:cs typeface="Times New Roman"/>
              </a:rPr>
              <a:t>each stage </a:t>
            </a:r>
            <a:r>
              <a:rPr sz="2600" dirty="0">
                <a:latin typeface="Times New Roman"/>
                <a:cs typeface="Times New Roman"/>
              </a:rPr>
              <a:t>of a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project.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  <a:buChar char=""/>
            </a:pPr>
            <a:endParaRPr sz="2700" dirty="0">
              <a:latin typeface="Times New Roman"/>
              <a:cs typeface="Times New Roman"/>
            </a:endParaRPr>
          </a:p>
          <a:p>
            <a:pPr marL="243840" indent="-231775">
              <a:buFont typeface="Wingdings"/>
              <a:buChar char=""/>
              <a:tabLst>
                <a:tab pos="244475" algn="l"/>
              </a:tabLst>
            </a:pPr>
            <a:r>
              <a:rPr sz="2600" spc="-5" dirty="0">
                <a:latin typeface="Times New Roman"/>
                <a:cs typeface="Times New Roman"/>
              </a:rPr>
              <a:t>Necessary </a:t>
            </a:r>
            <a:r>
              <a:rPr sz="2600" dirty="0">
                <a:latin typeface="Times New Roman"/>
                <a:cs typeface="Times New Roman"/>
              </a:rPr>
              <a:t>to ensure the quality of 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software.</a:t>
            </a:r>
            <a:endParaRPr sz="26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  <a:buChar char=""/>
            </a:pPr>
            <a:endParaRPr sz="2700" dirty="0">
              <a:latin typeface="Times New Roman"/>
              <a:cs typeface="Times New Roman"/>
            </a:endParaRPr>
          </a:p>
          <a:p>
            <a:pPr marL="243840" indent="-231775">
              <a:buFont typeface="Wingdings"/>
              <a:buChar char=""/>
              <a:tabLst>
                <a:tab pos="244475" algn="l"/>
              </a:tabLst>
            </a:pPr>
            <a:r>
              <a:rPr sz="2600" dirty="0">
                <a:latin typeface="Times New Roman"/>
                <a:cs typeface="Times New Roman"/>
              </a:rPr>
              <a:t>Logical </a:t>
            </a:r>
            <a:r>
              <a:rPr sz="2600" spc="-5" dirty="0">
                <a:latin typeface="Times New Roman"/>
                <a:cs typeface="Times New Roman"/>
              </a:rPr>
              <a:t>steps taken </a:t>
            </a:r>
            <a:r>
              <a:rPr sz="2600" dirty="0">
                <a:latin typeface="Times New Roman"/>
                <a:cs typeface="Times New Roman"/>
              </a:rPr>
              <a:t>to develop a </a:t>
            </a:r>
            <a:r>
              <a:rPr sz="2600" spc="-5" dirty="0">
                <a:latin typeface="Times New Roman"/>
                <a:cs typeface="Times New Roman"/>
              </a:rPr>
              <a:t>software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dirty="0">
                <a:latin typeface="Arial"/>
                <a:cs typeface="Arial"/>
              </a:rPr>
              <a:t>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93645" y="169552"/>
            <a:ext cx="7905115" cy="1183016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z="3800" b="1" spc="-15" dirty="0" err="1">
                <a:solidFill>
                  <a:schemeClr val="tx1"/>
                </a:solidFill>
              </a:rPr>
              <a:t>SD</a:t>
            </a:r>
            <a:r>
              <a:rPr lang="en-US" sz="3800" b="1" spc="-15" dirty="0" err="1">
                <a:solidFill>
                  <a:schemeClr val="tx1"/>
                </a:solidFill>
              </a:rPr>
              <a:t>lC</a:t>
            </a:r>
            <a:r>
              <a:rPr lang="en-US" sz="3800" b="1" spc="-15" dirty="0">
                <a:solidFill>
                  <a:schemeClr val="tx1"/>
                </a:solidFill>
              </a:rPr>
              <a:t>(Software </a:t>
            </a:r>
            <a:r>
              <a:rPr lang="en-US" sz="3800" b="1" spc="-10" dirty="0">
                <a:solidFill>
                  <a:schemeClr val="tx1"/>
                </a:solidFill>
              </a:rPr>
              <a:t>Development </a:t>
            </a:r>
            <a:r>
              <a:rPr lang="en-US" sz="3800" b="1" spc="-20" dirty="0">
                <a:solidFill>
                  <a:schemeClr val="tx1"/>
                </a:solidFill>
              </a:rPr>
              <a:t>Life</a:t>
            </a:r>
            <a:r>
              <a:rPr lang="en-US" sz="3800" b="1" spc="-70" dirty="0">
                <a:solidFill>
                  <a:schemeClr val="tx1"/>
                </a:solidFill>
              </a:rPr>
              <a:t> </a:t>
            </a:r>
            <a:r>
              <a:rPr lang="en-US" sz="3800" b="1" spc="-10" dirty="0">
                <a:solidFill>
                  <a:schemeClr val="tx1"/>
                </a:solidFill>
              </a:rPr>
              <a:t>Cycle)</a:t>
            </a:r>
            <a:endParaRPr sz="3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7115" y="0"/>
            <a:ext cx="10021268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19200" y="990600"/>
              <a:ext cx="7315200" cy="396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58642" y="1095502"/>
            <a:ext cx="10655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Feasibility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4195" y="1781302"/>
            <a:ext cx="24339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Requirements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Specification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9452" y="2543683"/>
            <a:ext cx="4552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5607" y="3229483"/>
            <a:ext cx="1422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Coding &amp; Unit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5228" y="3915536"/>
            <a:ext cx="18211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Integration </a:t>
            </a:r>
            <a:r>
              <a:rPr sz="1200" dirty="0">
                <a:latin typeface="Times New Roman"/>
                <a:cs typeface="Times New Roman"/>
              </a:rPr>
              <a:t>&amp;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1506" y="4677536"/>
            <a:ext cx="8108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Maintenance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42132" y="0"/>
            <a:ext cx="7181088" cy="842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46045" y="5279542"/>
            <a:ext cx="608520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It is the oldest </a:t>
            </a:r>
            <a:r>
              <a:rPr sz="2600" spc="-5" dirty="0">
                <a:latin typeface="Times New Roman"/>
                <a:cs typeface="Times New Roman"/>
              </a:rPr>
              <a:t>and most </a:t>
            </a:r>
            <a:r>
              <a:rPr sz="2600" dirty="0">
                <a:latin typeface="Times New Roman"/>
                <a:cs typeface="Times New Roman"/>
              </a:rPr>
              <a:t>widely used model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  the </a:t>
            </a:r>
            <a:r>
              <a:rPr sz="2600" spc="-5" dirty="0">
                <a:latin typeface="Times New Roman"/>
                <a:cs typeface="Times New Roman"/>
              </a:rPr>
              <a:t>field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software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2200" y="838835"/>
            <a:ext cx="2971800" cy="457176"/>
          </a:xfrm>
          <a:prstGeom prst="rect">
            <a:avLst/>
          </a:prstGeom>
          <a:solidFill>
            <a:srgbClr val="FFFFFF"/>
          </a:solidFill>
          <a:ln w="34289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70840"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Initiation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05025" y="1724659"/>
            <a:ext cx="2266950" cy="590550"/>
          </a:xfrm>
          <a:custGeom>
            <a:avLst/>
            <a:gdLst/>
            <a:ahLst/>
            <a:cxnLst/>
            <a:rect l="l" t="t" r="r" b="b"/>
            <a:pathLst>
              <a:path w="2266950" h="590550">
                <a:moveTo>
                  <a:pt x="2244090" y="22860"/>
                </a:moveTo>
                <a:lnTo>
                  <a:pt x="22860" y="22860"/>
                </a:lnTo>
                <a:lnTo>
                  <a:pt x="22860" y="57150"/>
                </a:lnTo>
                <a:lnTo>
                  <a:pt x="22860" y="533400"/>
                </a:lnTo>
                <a:lnTo>
                  <a:pt x="22860" y="567690"/>
                </a:lnTo>
                <a:lnTo>
                  <a:pt x="2244090" y="567690"/>
                </a:lnTo>
                <a:lnTo>
                  <a:pt x="2244090" y="533400"/>
                </a:lnTo>
                <a:lnTo>
                  <a:pt x="57150" y="533400"/>
                </a:lnTo>
                <a:lnTo>
                  <a:pt x="57150" y="57150"/>
                </a:lnTo>
                <a:lnTo>
                  <a:pt x="2209800" y="57150"/>
                </a:lnTo>
                <a:lnTo>
                  <a:pt x="2209800" y="532765"/>
                </a:lnTo>
                <a:lnTo>
                  <a:pt x="2244090" y="532765"/>
                </a:lnTo>
                <a:lnTo>
                  <a:pt x="2244090" y="57150"/>
                </a:lnTo>
                <a:lnTo>
                  <a:pt x="2244090" y="56515"/>
                </a:lnTo>
                <a:lnTo>
                  <a:pt x="2244090" y="22860"/>
                </a:lnTo>
                <a:close/>
              </a:path>
              <a:path w="2266950" h="590550">
                <a:moveTo>
                  <a:pt x="2266950" y="0"/>
                </a:moveTo>
                <a:lnTo>
                  <a:pt x="0" y="0"/>
                </a:lnTo>
                <a:lnTo>
                  <a:pt x="0" y="11430"/>
                </a:lnTo>
                <a:lnTo>
                  <a:pt x="0" y="579120"/>
                </a:lnTo>
                <a:lnTo>
                  <a:pt x="0" y="590550"/>
                </a:lnTo>
                <a:lnTo>
                  <a:pt x="2266950" y="590550"/>
                </a:lnTo>
                <a:lnTo>
                  <a:pt x="2266950" y="579120"/>
                </a:lnTo>
                <a:lnTo>
                  <a:pt x="11430" y="579120"/>
                </a:lnTo>
                <a:lnTo>
                  <a:pt x="11430" y="11430"/>
                </a:lnTo>
                <a:lnTo>
                  <a:pt x="2255520" y="11430"/>
                </a:lnTo>
                <a:lnTo>
                  <a:pt x="2255520" y="578485"/>
                </a:lnTo>
                <a:lnTo>
                  <a:pt x="2266950" y="578485"/>
                </a:lnTo>
                <a:lnTo>
                  <a:pt x="2266950" y="11430"/>
                </a:lnTo>
                <a:lnTo>
                  <a:pt x="2266950" y="10795"/>
                </a:lnTo>
                <a:lnTo>
                  <a:pt x="2266950" y="0"/>
                </a:lnTo>
                <a:close/>
              </a:path>
            </a:pathLst>
          </a:custGeom>
          <a:solidFill>
            <a:srgbClr val="8DC6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10790" y="1796543"/>
            <a:ext cx="185356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5600" y="1448435"/>
            <a:ext cx="2819400" cy="457176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13360">
              <a:spcBef>
                <a:spcPts val="445"/>
              </a:spcBef>
            </a:pPr>
            <a:r>
              <a:rPr sz="2600" spc="-5" dirty="0">
                <a:latin typeface="Times New Roman"/>
                <a:cs typeface="Times New Roman"/>
              </a:rPr>
              <a:t>Summary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Reports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8600" y="2362835"/>
            <a:ext cx="2209800" cy="457176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527050"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Analysis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2400" y="3429634"/>
            <a:ext cx="2514600" cy="457176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13360"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Regression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Test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9400" y="4496434"/>
            <a:ext cx="2590800" cy="457818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301625">
              <a:spcBef>
                <a:spcPts val="450"/>
              </a:spcBef>
            </a:pPr>
            <a:r>
              <a:rPr sz="2600" dirty="0">
                <a:latin typeface="Times New Roman"/>
                <a:cs typeface="Times New Roman"/>
              </a:rPr>
              <a:t>Report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Defects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2400" y="5487035"/>
            <a:ext cx="3200400" cy="850233"/>
          </a:xfrm>
          <a:prstGeom prst="rect">
            <a:avLst/>
          </a:prstGeom>
          <a:solidFill>
            <a:srgbClr val="FFFFFF"/>
          </a:solidFill>
          <a:ln w="34289">
            <a:solidFill>
              <a:srgbClr val="8DC664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148590" marR="140970" indent="184150">
              <a:spcBef>
                <a:spcPts val="390"/>
              </a:spcBef>
            </a:pPr>
            <a:r>
              <a:rPr sz="2600" dirty="0">
                <a:latin typeface="Times New Roman"/>
                <a:cs typeface="Times New Roman"/>
              </a:rPr>
              <a:t>Execute </a:t>
            </a:r>
            <a:r>
              <a:rPr sz="2600" spc="-50" dirty="0">
                <a:latin typeface="Times New Roman"/>
                <a:cs typeface="Times New Roman"/>
              </a:rPr>
              <a:t>Test </a:t>
            </a:r>
            <a:r>
              <a:rPr sz="2600" spc="-5" dirty="0">
                <a:latin typeface="Times New Roman"/>
                <a:cs typeface="Times New Roman"/>
              </a:rPr>
              <a:t>Cases  </a:t>
            </a:r>
            <a:r>
              <a:rPr sz="2600" dirty="0">
                <a:latin typeface="Times New Roman"/>
                <a:cs typeface="Times New Roman"/>
              </a:rPr>
              <a:t>( manual </a:t>
            </a:r>
            <a:r>
              <a:rPr sz="2600" spc="-5" dirty="0">
                <a:latin typeface="Times New Roman"/>
                <a:cs typeface="Times New Roman"/>
              </a:rPr>
              <a:t>/automated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9800" y="4267834"/>
            <a:ext cx="2895600" cy="457818"/>
          </a:xfrm>
          <a:prstGeom prst="rect">
            <a:avLst/>
          </a:prstGeom>
          <a:solidFill>
            <a:srgbClr val="FFFFFF"/>
          </a:solidFill>
          <a:ln w="34289">
            <a:solidFill>
              <a:srgbClr val="8DC66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43204">
              <a:spcBef>
                <a:spcPts val="450"/>
              </a:spcBef>
            </a:pPr>
            <a:r>
              <a:rPr sz="2600" spc="-5" dirty="0">
                <a:latin typeface="Times New Roman"/>
                <a:cs typeface="Times New Roman"/>
              </a:rPr>
              <a:t>Design </a:t>
            </a:r>
            <a:r>
              <a:rPr sz="2600" spc="-50" dirty="0">
                <a:latin typeface="Times New Roman"/>
                <a:cs typeface="Times New Roman"/>
              </a:rPr>
              <a:t>Test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Cases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5000" y="2896235"/>
            <a:ext cx="1676400" cy="457176"/>
          </a:xfrm>
          <a:prstGeom prst="rect">
            <a:avLst/>
          </a:prstGeom>
          <a:ln w="34289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30504">
              <a:spcBef>
                <a:spcPts val="445"/>
              </a:spcBef>
            </a:pPr>
            <a:r>
              <a:rPr sz="2600" spc="-45" dirty="0">
                <a:latin typeface="Times New Roman"/>
                <a:cs typeface="Times New Roman"/>
              </a:rPr>
              <a:t>Test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002405" y="0"/>
            <a:ext cx="4280535" cy="7569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70" dirty="0"/>
              <a:t>Testing </a:t>
            </a:r>
            <a:r>
              <a:rPr sz="4800" spc="-25" dirty="0"/>
              <a:t>Life</a:t>
            </a:r>
            <a:r>
              <a:rPr sz="4800" spc="-10" dirty="0"/>
              <a:t> </a:t>
            </a:r>
            <a:r>
              <a:rPr sz="4800" spc="-20" dirty="0"/>
              <a:t>Cycle</a:t>
            </a:r>
            <a:endParaRPr sz="4800"/>
          </a:p>
        </p:txBody>
      </p:sp>
      <p:grpSp>
        <p:nvGrpSpPr>
          <p:cNvPr id="13" name="object 13"/>
          <p:cNvGrpSpPr/>
          <p:nvPr/>
        </p:nvGrpSpPr>
        <p:grpSpPr>
          <a:xfrm>
            <a:off x="2488489" y="1351407"/>
            <a:ext cx="6741795" cy="4387850"/>
            <a:chOff x="964488" y="1351407"/>
            <a:chExt cx="6741795" cy="4387850"/>
          </a:xfrm>
        </p:grpSpPr>
        <p:sp>
          <p:nvSpPr>
            <p:cNvPr id="14" name="object 14"/>
            <p:cNvSpPr/>
            <p:nvPr/>
          </p:nvSpPr>
          <p:spPr>
            <a:xfrm>
              <a:off x="2667000" y="2853690"/>
              <a:ext cx="762000" cy="1296670"/>
            </a:xfrm>
            <a:custGeom>
              <a:avLst/>
              <a:gdLst/>
              <a:ahLst/>
              <a:cxnLst/>
              <a:rect l="l" t="t" r="r" b="b"/>
              <a:pathLst>
                <a:path w="762000" h="1296670">
                  <a:moveTo>
                    <a:pt x="0" y="0"/>
                  </a:moveTo>
                  <a:lnTo>
                    <a:pt x="0" y="411480"/>
                  </a:lnTo>
                  <a:lnTo>
                    <a:pt x="1676" y="459371"/>
                  </a:lnTo>
                  <a:lnTo>
                    <a:pt x="6647" y="506591"/>
                  </a:lnTo>
                  <a:lnTo>
                    <a:pt x="14821" y="553020"/>
                  </a:lnTo>
                  <a:lnTo>
                    <a:pt x="26110" y="598538"/>
                  </a:lnTo>
                  <a:lnTo>
                    <a:pt x="40422" y="643026"/>
                  </a:lnTo>
                  <a:lnTo>
                    <a:pt x="57669" y="686362"/>
                  </a:lnTo>
                  <a:lnTo>
                    <a:pt x="77760" y="728428"/>
                  </a:lnTo>
                  <a:lnTo>
                    <a:pt x="100606" y="769103"/>
                  </a:lnTo>
                  <a:lnTo>
                    <a:pt x="126116" y="808268"/>
                  </a:lnTo>
                  <a:lnTo>
                    <a:pt x="154201" y="845801"/>
                  </a:lnTo>
                  <a:lnTo>
                    <a:pt x="184771" y="881584"/>
                  </a:lnTo>
                  <a:lnTo>
                    <a:pt x="217736" y="915496"/>
                  </a:lnTo>
                  <a:lnTo>
                    <a:pt x="253006" y="947417"/>
                  </a:lnTo>
                  <a:lnTo>
                    <a:pt x="290491" y="977228"/>
                  </a:lnTo>
                  <a:lnTo>
                    <a:pt x="330101" y="1004808"/>
                  </a:lnTo>
                  <a:lnTo>
                    <a:pt x="371747" y="1030037"/>
                  </a:lnTo>
                  <a:lnTo>
                    <a:pt x="415339" y="1052796"/>
                  </a:lnTo>
                  <a:lnTo>
                    <a:pt x="460786" y="1072964"/>
                  </a:lnTo>
                  <a:lnTo>
                    <a:pt x="508000" y="1090422"/>
                  </a:lnTo>
                  <a:lnTo>
                    <a:pt x="508000" y="1296162"/>
                  </a:lnTo>
                  <a:lnTo>
                    <a:pt x="762000" y="925830"/>
                  </a:lnTo>
                  <a:lnTo>
                    <a:pt x="623454" y="678942"/>
                  </a:lnTo>
                  <a:lnTo>
                    <a:pt x="508000" y="678942"/>
                  </a:lnTo>
                  <a:lnTo>
                    <a:pt x="460786" y="661484"/>
                  </a:lnTo>
                  <a:lnTo>
                    <a:pt x="415339" y="641316"/>
                  </a:lnTo>
                  <a:lnTo>
                    <a:pt x="371747" y="618557"/>
                  </a:lnTo>
                  <a:lnTo>
                    <a:pt x="330101" y="593328"/>
                  </a:lnTo>
                  <a:lnTo>
                    <a:pt x="290491" y="565748"/>
                  </a:lnTo>
                  <a:lnTo>
                    <a:pt x="253006" y="535937"/>
                  </a:lnTo>
                  <a:lnTo>
                    <a:pt x="217736" y="504016"/>
                  </a:lnTo>
                  <a:lnTo>
                    <a:pt x="184771" y="470104"/>
                  </a:lnTo>
                  <a:lnTo>
                    <a:pt x="154201" y="434321"/>
                  </a:lnTo>
                  <a:lnTo>
                    <a:pt x="126116" y="396788"/>
                  </a:lnTo>
                  <a:lnTo>
                    <a:pt x="100606" y="357623"/>
                  </a:lnTo>
                  <a:lnTo>
                    <a:pt x="77760" y="316948"/>
                  </a:lnTo>
                  <a:lnTo>
                    <a:pt x="57669" y="274882"/>
                  </a:lnTo>
                  <a:lnTo>
                    <a:pt x="40422" y="231546"/>
                  </a:lnTo>
                  <a:lnTo>
                    <a:pt x="26110" y="187058"/>
                  </a:lnTo>
                  <a:lnTo>
                    <a:pt x="14821" y="141540"/>
                  </a:lnTo>
                  <a:lnTo>
                    <a:pt x="6647" y="95111"/>
                  </a:lnTo>
                  <a:lnTo>
                    <a:pt x="1676" y="47891"/>
                  </a:lnTo>
                  <a:lnTo>
                    <a:pt x="0" y="0"/>
                  </a:lnTo>
                  <a:close/>
                </a:path>
                <a:path w="762000" h="1296670">
                  <a:moveTo>
                    <a:pt x="508000" y="473201"/>
                  </a:moveTo>
                  <a:lnTo>
                    <a:pt x="508000" y="678942"/>
                  </a:lnTo>
                  <a:lnTo>
                    <a:pt x="623454" y="678942"/>
                  </a:lnTo>
                  <a:lnTo>
                    <a:pt x="508000" y="473201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67152" y="2133600"/>
              <a:ext cx="762000" cy="925830"/>
            </a:xfrm>
            <a:custGeom>
              <a:avLst/>
              <a:gdLst/>
              <a:ahLst/>
              <a:cxnLst/>
              <a:rect l="l" t="t" r="r" b="b"/>
              <a:pathLst>
                <a:path w="762000" h="925830">
                  <a:moveTo>
                    <a:pt x="761847" y="0"/>
                  </a:moveTo>
                  <a:lnTo>
                    <a:pt x="706636" y="1897"/>
                  </a:lnTo>
                  <a:lnTo>
                    <a:pt x="651817" y="7556"/>
                  </a:lnTo>
                  <a:lnTo>
                    <a:pt x="597594" y="16930"/>
                  </a:lnTo>
                  <a:lnTo>
                    <a:pt x="544169" y="29972"/>
                  </a:lnTo>
                  <a:lnTo>
                    <a:pt x="496613" y="44971"/>
                  </a:lnTo>
                  <a:lnTo>
                    <a:pt x="450793" y="62612"/>
                  </a:lnTo>
                  <a:lnTo>
                    <a:pt x="406777" y="82776"/>
                  </a:lnTo>
                  <a:lnTo>
                    <a:pt x="364633" y="105344"/>
                  </a:lnTo>
                  <a:lnTo>
                    <a:pt x="324429" y="130200"/>
                  </a:lnTo>
                  <a:lnTo>
                    <a:pt x="286231" y="157225"/>
                  </a:lnTo>
                  <a:lnTo>
                    <a:pt x="250107" y="186300"/>
                  </a:lnTo>
                  <a:lnTo>
                    <a:pt x="216126" y="217309"/>
                  </a:lnTo>
                  <a:lnTo>
                    <a:pt x="184353" y="250132"/>
                  </a:lnTo>
                  <a:lnTo>
                    <a:pt x="154858" y="284652"/>
                  </a:lnTo>
                  <a:lnTo>
                    <a:pt x="127708" y="320751"/>
                  </a:lnTo>
                  <a:lnTo>
                    <a:pt x="102969" y="358311"/>
                  </a:lnTo>
                  <a:lnTo>
                    <a:pt x="80710" y="397214"/>
                  </a:lnTo>
                  <a:lnTo>
                    <a:pt x="60998" y="437342"/>
                  </a:lnTo>
                  <a:lnTo>
                    <a:pt x="43901" y="478576"/>
                  </a:lnTo>
                  <a:lnTo>
                    <a:pt x="29486" y="520799"/>
                  </a:lnTo>
                  <a:lnTo>
                    <a:pt x="17821" y="563893"/>
                  </a:lnTo>
                  <a:lnTo>
                    <a:pt x="8973" y="607740"/>
                  </a:lnTo>
                  <a:lnTo>
                    <a:pt x="3010" y="652221"/>
                  </a:lnTo>
                  <a:lnTo>
                    <a:pt x="0" y="697219"/>
                  </a:lnTo>
                  <a:lnTo>
                    <a:pt x="9" y="742616"/>
                  </a:lnTo>
                  <a:lnTo>
                    <a:pt x="3106" y="788293"/>
                  </a:lnTo>
                  <a:lnTo>
                    <a:pt x="9358" y="834134"/>
                  </a:lnTo>
                  <a:lnTo>
                    <a:pt x="18832" y="880018"/>
                  </a:lnTo>
                  <a:lnTo>
                    <a:pt x="31597" y="925829"/>
                  </a:lnTo>
                  <a:lnTo>
                    <a:pt x="47523" y="880787"/>
                  </a:lnTo>
                  <a:lnTo>
                    <a:pt x="66340" y="837269"/>
                  </a:lnTo>
                  <a:lnTo>
                    <a:pt x="87927" y="795361"/>
                  </a:lnTo>
                  <a:lnTo>
                    <a:pt x="112164" y="755148"/>
                  </a:lnTo>
                  <a:lnTo>
                    <a:pt x="138930" y="716714"/>
                  </a:lnTo>
                  <a:lnTo>
                    <a:pt x="168104" y="680145"/>
                  </a:lnTo>
                  <a:lnTo>
                    <a:pt x="199567" y="645525"/>
                  </a:lnTo>
                  <a:lnTo>
                    <a:pt x="233196" y="612940"/>
                  </a:lnTo>
                  <a:lnTo>
                    <a:pt x="268871" y="582474"/>
                  </a:lnTo>
                  <a:lnTo>
                    <a:pt x="306473" y="554212"/>
                  </a:lnTo>
                  <a:lnTo>
                    <a:pt x="345879" y="528238"/>
                  </a:lnTo>
                  <a:lnTo>
                    <a:pt x="386970" y="504639"/>
                  </a:lnTo>
                  <a:lnTo>
                    <a:pt x="429624" y="483498"/>
                  </a:lnTo>
                  <a:lnTo>
                    <a:pt x="473721" y="464900"/>
                  </a:lnTo>
                  <a:lnTo>
                    <a:pt x="519140" y="448931"/>
                  </a:lnTo>
                  <a:lnTo>
                    <a:pt x="565761" y="435675"/>
                  </a:lnTo>
                  <a:lnTo>
                    <a:pt x="613463" y="425217"/>
                  </a:lnTo>
                  <a:lnTo>
                    <a:pt x="662125" y="417641"/>
                  </a:lnTo>
                  <a:lnTo>
                    <a:pt x="711627" y="413034"/>
                  </a:lnTo>
                  <a:lnTo>
                    <a:pt x="761847" y="411479"/>
                  </a:lnTo>
                  <a:lnTo>
                    <a:pt x="761847" y="0"/>
                  </a:lnTo>
                  <a:close/>
                </a:path>
              </a:pathLst>
            </a:custGeom>
            <a:solidFill>
              <a:srgbClr val="7AC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7000" y="2133600"/>
              <a:ext cx="762000" cy="2016760"/>
            </a:xfrm>
            <a:custGeom>
              <a:avLst/>
              <a:gdLst/>
              <a:ahLst/>
              <a:cxnLst/>
              <a:rect l="l" t="t" r="r" b="b"/>
              <a:pathLst>
                <a:path w="762000" h="2016760">
                  <a:moveTo>
                    <a:pt x="0" y="720089"/>
                  </a:moveTo>
                  <a:lnTo>
                    <a:pt x="1676" y="767981"/>
                  </a:lnTo>
                  <a:lnTo>
                    <a:pt x="6647" y="815201"/>
                  </a:lnTo>
                  <a:lnTo>
                    <a:pt x="14821" y="861630"/>
                  </a:lnTo>
                  <a:lnTo>
                    <a:pt x="26110" y="907148"/>
                  </a:lnTo>
                  <a:lnTo>
                    <a:pt x="40422" y="951636"/>
                  </a:lnTo>
                  <a:lnTo>
                    <a:pt x="57669" y="994972"/>
                  </a:lnTo>
                  <a:lnTo>
                    <a:pt x="77760" y="1037038"/>
                  </a:lnTo>
                  <a:lnTo>
                    <a:pt x="100606" y="1077713"/>
                  </a:lnTo>
                  <a:lnTo>
                    <a:pt x="126116" y="1116878"/>
                  </a:lnTo>
                  <a:lnTo>
                    <a:pt x="154201" y="1154411"/>
                  </a:lnTo>
                  <a:lnTo>
                    <a:pt x="184771" y="1190194"/>
                  </a:lnTo>
                  <a:lnTo>
                    <a:pt x="217736" y="1224106"/>
                  </a:lnTo>
                  <a:lnTo>
                    <a:pt x="253006" y="1256027"/>
                  </a:lnTo>
                  <a:lnTo>
                    <a:pt x="290491" y="1285838"/>
                  </a:lnTo>
                  <a:lnTo>
                    <a:pt x="330101" y="1313418"/>
                  </a:lnTo>
                  <a:lnTo>
                    <a:pt x="371747" y="1338647"/>
                  </a:lnTo>
                  <a:lnTo>
                    <a:pt x="415339" y="1361406"/>
                  </a:lnTo>
                  <a:lnTo>
                    <a:pt x="460786" y="1381574"/>
                  </a:lnTo>
                  <a:lnTo>
                    <a:pt x="508000" y="1399032"/>
                  </a:lnTo>
                  <a:lnTo>
                    <a:pt x="508000" y="1193291"/>
                  </a:lnTo>
                  <a:lnTo>
                    <a:pt x="762000" y="1645920"/>
                  </a:lnTo>
                  <a:lnTo>
                    <a:pt x="508000" y="2016252"/>
                  </a:lnTo>
                  <a:lnTo>
                    <a:pt x="508000" y="1810512"/>
                  </a:lnTo>
                  <a:lnTo>
                    <a:pt x="460786" y="1793054"/>
                  </a:lnTo>
                  <a:lnTo>
                    <a:pt x="415339" y="1772886"/>
                  </a:lnTo>
                  <a:lnTo>
                    <a:pt x="371747" y="1750127"/>
                  </a:lnTo>
                  <a:lnTo>
                    <a:pt x="330101" y="1724898"/>
                  </a:lnTo>
                  <a:lnTo>
                    <a:pt x="290491" y="1697318"/>
                  </a:lnTo>
                  <a:lnTo>
                    <a:pt x="253006" y="1667507"/>
                  </a:lnTo>
                  <a:lnTo>
                    <a:pt x="217736" y="1635586"/>
                  </a:lnTo>
                  <a:lnTo>
                    <a:pt x="184771" y="1601674"/>
                  </a:lnTo>
                  <a:lnTo>
                    <a:pt x="154201" y="1565891"/>
                  </a:lnTo>
                  <a:lnTo>
                    <a:pt x="126116" y="1528358"/>
                  </a:lnTo>
                  <a:lnTo>
                    <a:pt x="100606" y="1489193"/>
                  </a:lnTo>
                  <a:lnTo>
                    <a:pt x="77760" y="1448518"/>
                  </a:lnTo>
                  <a:lnTo>
                    <a:pt x="57669" y="1406452"/>
                  </a:lnTo>
                  <a:lnTo>
                    <a:pt x="40422" y="1363116"/>
                  </a:lnTo>
                  <a:lnTo>
                    <a:pt x="26110" y="1318628"/>
                  </a:lnTo>
                  <a:lnTo>
                    <a:pt x="14821" y="1273110"/>
                  </a:lnTo>
                  <a:lnTo>
                    <a:pt x="6647" y="1226681"/>
                  </a:lnTo>
                  <a:lnTo>
                    <a:pt x="1676" y="1179461"/>
                  </a:lnTo>
                  <a:lnTo>
                    <a:pt x="0" y="1131570"/>
                  </a:lnTo>
                  <a:lnTo>
                    <a:pt x="0" y="720089"/>
                  </a:lnTo>
                  <a:lnTo>
                    <a:pt x="1620" y="672750"/>
                  </a:lnTo>
                  <a:lnTo>
                    <a:pt x="6415" y="626227"/>
                  </a:lnTo>
                  <a:lnTo>
                    <a:pt x="14284" y="580615"/>
                  </a:lnTo>
                  <a:lnTo>
                    <a:pt x="25127" y="536011"/>
                  </a:lnTo>
                  <a:lnTo>
                    <a:pt x="38843" y="492508"/>
                  </a:lnTo>
                  <a:lnTo>
                    <a:pt x="55332" y="450201"/>
                  </a:lnTo>
                  <a:lnTo>
                    <a:pt x="74494" y="409186"/>
                  </a:lnTo>
                  <a:lnTo>
                    <a:pt x="96228" y="369557"/>
                  </a:lnTo>
                  <a:lnTo>
                    <a:pt x="120433" y="331410"/>
                  </a:lnTo>
                  <a:lnTo>
                    <a:pt x="147011" y="294839"/>
                  </a:lnTo>
                  <a:lnTo>
                    <a:pt x="175859" y="259939"/>
                  </a:lnTo>
                  <a:lnTo>
                    <a:pt x="206878" y="226805"/>
                  </a:lnTo>
                  <a:lnTo>
                    <a:pt x="239968" y="195533"/>
                  </a:lnTo>
                  <a:lnTo>
                    <a:pt x="275027" y="166217"/>
                  </a:lnTo>
                  <a:lnTo>
                    <a:pt x="311956" y="138952"/>
                  </a:lnTo>
                  <a:lnTo>
                    <a:pt x="350655" y="113833"/>
                  </a:lnTo>
                  <a:lnTo>
                    <a:pt x="391022" y="90955"/>
                  </a:lnTo>
                  <a:lnTo>
                    <a:pt x="432958" y="70412"/>
                  </a:lnTo>
                  <a:lnTo>
                    <a:pt x="476362" y="52301"/>
                  </a:lnTo>
                  <a:lnTo>
                    <a:pt x="521134" y="36716"/>
                  </a:lnTo>
                  <a:lnTo>
                    <a:pt x="567174" y="23751"/>
                  </a:lnTo>
                  <a:lnTo>
                    <a:pt x="614381" y="13502"/>
                  </a:lnTo>
                  <a:lnTo>
                    <a:pt x="662654" y="6064"/>
                  </a:lnTo>
                  <a:lnTo>
                    <a:pt x="711894" y="1531"/>
                  </a:lnTo>
                  <a:lnTo>
                    <a:pt x="762000" y="0"/>
                  </a:lnTo>
                  <a:lnTo>
                    <a:pt x="762000" y="411479"/>
                  </a:lnTo>
                  <a:lnTo>
                    <a:pt x="711779" y="413034"/>
                  </a:lnTo>
                  <a:lnTo>
                    <a:pt x="662277" y="417641"/>
                  </a:lnTo>
                  <a:lnTo>
                    <a:pt x="613615" y="425217"/>
                  </a:lnTo>
                  <a:lnTo>
                    <a:pt x="565914" y="435675"/>
                  </a:lnTo>
                  <a:lnTo>
                    <a:pt x="519293" y="448931"/>
                  </a:lnTo>
                  <a:lnTo>
                    <a:pt x="473873" y="464900"/>
                  </a:lnTo>
                  <a:lnTo>
                    <a:pt x="429776" y="483498"/>
                  </a:lnTo>
                  <a:lnTo>
                    <a:pt x="387122" y="504639"/>
                  </a:lnTo>
                  <a:lnTo>
                    <a:pt x="346031" y="528238"/>
                  </a:lnTo>
                  <a:lnTo>
                    <a:pt x="306625" y="554212"/>
                  </a:lnTo>
                  <a:lnTo>
                    <a:pt x="269024" y="582474"/>
                  </a:lnTo>
                  <a:lnTo>
                    <a:pt x="233348" y="612940"/>
                  </a:lnTo>
                  <a:lnTo>
                    <a:pt x="199719" y="645525"/>
                  </a:lnTo>
                  <a:lnTo>
                    <a:pt x="168257" y="680145"/>
                  </a:lnTo>
                  <a:lnTo>
                    <a:pt x="139082" y="716714"/>
                  </a:lnTo>
                  <a:lnTo>
                    <a:pt x="112316" y="755148"/>
                  </a:lnTo>
                  <a:lnTo>
                    <a:pt x="88079" y="795361"/>
                  </a:lnTo>
                  <a:lnTo>
                    <a:pt x="66492" y="837269"/>
                  </a:lnTo>
                  <a:lnTo>
                    <a:pt x="47675" y="880787"/>
                  </a:lnTo>
                  <a:lnTo>
                    <a:pt x="31750" y="925829"/>
                  </a:lnTo>
                </a:path>
              </a:pathLst>
            </a:custGeom>
            <a:ln w="38100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4488" y="1351406"/>
              <a:ext cx="6741795" cy="4387850"/>
            </a:xfrm>
            <a:custGeom>
              <a:avLst/>
              <a:gdLst/>
              <a:ahLst/>
              <a:cxnLst/>
              <a:rect l="l" t="t" r="r" b="b"/>
              <a:pathLst>
                <a:path w="6741795" h="4387850">
                  <a:moveTo>
                    <a:pt x="339674" y="2648077"/>
                  </a:moveTo>
                  <a:lnTo>
                    <a:pt x="287362" y="2671318"/>
                  </a:lnTo>
                  <a:lnTo>
                    <a:pt x="52222" y="2142236"/>
                  </a:lnTo>
                  <a:lnTo>
                    <a:pt x="0" y="2165350"/>
                  </a:lnTo>
                  <a:lnTo>
                    <a:pt x="235165" y="2694482"/>
                  </a:lnTo>
                  <a:lnTo>
                    <a:pt x="182943" y="2717673"/>
                  </a:lnTo>
                  <a:lnTo>
                    <a:pt x="330911" y="2839593"/>
                  </a:lnTo>
                  <a:lnTo>
                    <a:pt x="336346" y="2720594"/>
                  </a:lnTo>
                  <a:lnTo>
                    <a:pt x="339674" y="2648077"/>
                  </a:lnTo>
                  <a:close/>
                </a:path>
                <a:path w="6741795" h="4387850">
                  <a:moveTo>
                    <a:pt x="354660" y="1026668"/>
                  </a:moveTo>
                  <a:lnTo>
                    <a:pt x="307162" y="994918"/>
                  </a:lnTo>
                  <a:lnTo>
                    <a:pt x="97434" y="1309458"/>
                  </a:lnTo>
                  <a:lnTo>
                    <a:pt x="49885" y="1277747"/>
                  </a:lnTo>
                  <a:lnTo>
                    <a:pt x="26111" y="1467993"/>
                  </a:lnTo>
                  <a:lnTo>
                    <a:pt x="192544" y="1372870"/>
                  </a:lnTo>
                  <a:lnTo>
                    <a:pt x="180733" y="1364996"/>
                  </a:lnTo>
                  <a:lnTo>
                    <a:pt x="145008" y="1341183"/>
                  </a:lnTo>
                  <a:lnTo>
                    <a:pt x="354660" y="1026668"/>
                  </a:lnTo>
                  <a:close/>
                </a:path>
                <a:path w="6741795" h="4387850">
                  <a:moveTo>
                    <a:pt x="1036904" y="40386"/>
                  </a:moveTo>
                  <a:lnTo>
                    <a:pt x="996518" y="0"/>
                  </a:lnTo>
                  <a:lnTo>
                    <a:pt x="736676" y="259727"/>
                  </a:lnTo>
                  <a:lnTo>
                    <a:pt x="696290" y="219329"/>
                  </a:lnTo>
                  <a:lnTo>
                    <a:pt x="635711" y="401193"/>
                  </a:lnTo>
                  <a:lnTo>
                    <a:pt x="817575" y="340614"/>
                  </a:lnTo>
                  <a:lnTo>
                    <a:pt x="797382" y="320421"/>
                  </a:lnTo>
                  <a:lnTo>
                    <a:pt x="777176" y="300228"/>
                  </a:lnTo>
                  <a:lnTo>
                    <a:pt x="1036904" y="40386"/>
                  </a:lnTo>
                  <a:close/>
                </a:path>
                <a:path w="6741795" h="4387850">
                  <a:moveTo>
                    <a:pt x="2312111" y="4058793"/>
                  </a:moveTo>
                  <a:lnTo>
                    <a:pt x="2283320" y="4020439"/>
                  </a:lnTo>
                  <a:lnTo>
                    <a:pt x="2197049" y="3905504"/>
                  </a:lnTo>
                  <a:lnTo>
                    <a:pt x="2171509" y="3956621"/>
                  </a:lnTo>
                  <a:lnTo>
                    <a:pt x="1258138" y="3499866"/>
                  </a:lnTo>
                  <a:lnTo>
                    <a:pt x="1232484" y="3550920"/>
                  </a:lnTo>
                  <a:lnTo>
                    <a:pt x="2145995" y="4007688"/>
                  </a:lnTo>
                  <a:lnTo>
                    <a:pt x="2120468" y="4058793"/>
                  </a:lnTo>
                  <a:lnTo>
                    <a:pt x="2312111" y="4058793"/>
                  </a:lnTo>
                  <a:close/>
                </a:path>
                <a:path w="6741795" h="4387850">
                  <a:moveTo>
                    <a:pt x="5741111" y="3753993"/>
                  </a:moveTo>
                  <a:lnTo>
                    <a:pt x="5550865" y="3777742"/>
                  </a:lnTo>
                  <a:lnTo>
                    <a:pt x="5582602" y="3825341"/>
                  </a:lnTo>
                  <a:lnTo>
                    <a:pt x="4810836" y="4339818"/>
                  </a:lnTo>
                  <a:lnTo>
                    <a:pt x="4842586" y="4387367"/>
                  </a:lnTo>
                  <a:lnTo>
                    <a:pt x="5614301" y="3872865"/>
                  </a:lnTo>
                  <a:lnTo>
                    <a:pt x="5645988" y="3920363"/>
                  </a:lnTo>
                  <a:lnTo>
                    <a:pt x="5709374" y="3809492"/>
                  </a:lnTo>
                  <a:lnTo>
                    <a:pt x="5741111" y="3753993"/>
                  </a:lnTo>
                  <a:close/>
                </a:path>
                <a:path w="6741795" h="4387850">
                  <a:moveTo>
                    <a:pt x="6438214" y="2802382"/>
                  </a:moveTo>
                  <a:lnTo>
                    <a:pt x="6433998" y="2731008"/>
                  </a:lnTo>
                  <a:lnTo>
                    <a:pt x="6426911" y="2610993"/>
                  </a:lnTo>
                  <a:lnTo>
                    <a:pt x="6280607" y="2734818"/>
                  </a:lnTo>
                  <a:lnTo>
                    <a:pt x="6333083" y="2757322"/>
                  </a:lnTo>
                  <a:lnTo>
                    <a:pt x="6172022" y="3133090"/>
                  </a:lnTo>
                  <a:lnTo>
                    <a:pt x="6224600" y="3155696"/>
                  </a:lnTo>
                  <a:lnTo>
                    <a:pt x="6385687" y="2779865"/>
                  </a:lnTo>
                  <a:lnTo>
                    <a:pt x="6438214" y="2802382"/>
                  </a:lnTo>
                  <a:close/>
                </a:path>
                <a:path w="6741795" h="4387850">
                  <a:moveTo>
                    <a:pt x="6518986" y="910844"/>
                  </a:moveTo>
                  <a:lnTo>
                    <a:pt x="6204407" y="701141"/>
                  </a:lnTo>
                  <a:lnTo>
                    <a:pt x="6214973" y="685292"/>
                  </a:lnTo>
                  <a:lnTo>
                    <a:pt x="6236157" y="653542"/>
                  </a:lnTo>
                  <a:lnTo>
                    <a:pt x="6045911" y="629793"/>
                  </a:lnTo>
                  <a:lnTo>
                    <a:pt x="6141034" y="796163"/>
                  </a:lnTo>
                  <a:lnTo>
                    <a:pt x="6172708" y="748665"/>
                  </a:lnTo>
                  <a:lnTo>
                    <a:pt x="6487236" y="958342"/>
                  </a:lnTo>
                  <a:lnTo>
                    <a:pt x="6518986" y="910844"/>
                  </a:lnTo>
                  <a:close/>
                </a:path>
                <a:path w="6741795" h="4387850">
                  <a:moveTo>
                    <a:pt x="6741236" y="1791843"/>
                  </a:moveTo>
                  <a:lnTo>
                    <a:pt x="6726949" y="1763268"/>
                  </a:lnTo>
                  <a:lnTo>
                    <a:pt x="6655511" y="1620393"/>
                  </a:lnTo>
                  <a:lnTo>
                    <a:pt x="6569786" y="1791843"/>
                  </a:lnTo>
                  <a:lnTo>
                    <a:pt x="6626936" y="1791843"/>
                  </a:lnTo>
                  <a:lnTo>
                    <a:pt x="6626936" y="2077593"/>
                  </a:lnTo>
                  <a:lnTo>
                    <a:pt x="6684086" y="2077593"/>
                  </a:lnTo>
                  <a:lnTo>
                    <a:pt x="6684086" y="1791843"/>
                  </a:lnTo>
                  <a:lnTo>
                    <a:pt x="6741236" y="1791843"/>
                  </a:lnTo>
                  <a:close/>
                </a:path>
              </a:pathLst>
            </a:custGeom>
            <a:solidFill>
              <a:srgbClr val="AA89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56203" y="68580"/>
              <a:ext cx="3194304" cy="11399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50795" y="1621282"/>
            <a:ext cx="6257925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  <a:tabLst>
                <a:tab pos="5786120" algn="l"/>
              </a:tabLst>
            </a:pPr>
            <a:r>
              <a:rPr sz="2600" dirty="0">
                <a:latin typeface="Times New Roman"/>
                <a:cs typeface="Times New Roman"/>
              </a:rPr>
              <a:t>It is a </a:t>
            </a:r>
            <a:r>
              <a:rPr sz="2600" spc="-5" dirty="0">
                <a:latin typeface="Times New Roman"/>
                <a:cs typeface="Times New Roman"/>
              </a:rPr>
              <a:t>systematic </a:t>
            </a:r>
            <a:r>
              <a:rPr sz="2600" dirty="0">
                <a:latin typeface="Times New Roman"/>
                <a:cs typeface="Times New Roman"/>
              </a:rPr>
              <a:t>approach to </a:t>
            </a:r>
            <a:r>
              <a:rPr sz="2600" spc="-5" dirty="0">
                <a:latin typeface="Times New Roman"/>
                <a:cs typeface="Times New Roman"/>
              </a:rPr>
              <a:t>test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system	i.e.  software. </a:t>
            </a:r>
            <a:r>
              <a:rPr sz="2600" spc="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plan </a:t>
            </a:r>
            <a:r>
              <a:rPr sz="2600" spc="-5" dirty="0">
                <a:latin typeface="Times New Roman"/>
                <a:cs typeface="Times New Roman"/>
              </a:rPr>
              <a:t>typically </a:t>
            </a:r>
            <a:r>
              <a:rPr sz="2600" dirty="0">
                <a:latin typeface="Times New Roman"/>
                <a:cs typeface="Times New Roman"/>
              </a:rPr>
              <a:t>contains a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detailed  </a:t>
            </a:r>
            <a:r>
              <a:rPr sz="2600" dirty="0">
                <a:latin typeface="Times New Roman"/>
                <a:cs typeface="Times New Roman"/>
              </a:rPr>
              <a:t>understanding of what the eventual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workflow will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07436" y="507492"/>
              <a:ext cx="3128772" cy="11384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25645" y="289085"/>
            <a:ext cx="2339975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120" dirty="0"/>
              <a:t>Test</a:t>
            </a:r>
            <a:r>
              <a:rPr sz="4800" spc="-90" dirty="0"/>
              <a:t> </a:t>
            </a:r>
            <a:r>
              <a:rPr sz="4800" spc="-5" dirty="0"/>
              <a:t>Case</a:t>
            </a:r>
            <a:endParaRPr sz="4800"/>
          </a:p>
        </p:txBody>
      </p:sp>
      <p:grpSp>
        <p:nvGrpSpPr>
          <p:cNvPr id="9" name="object 9"/>
          <p:cNvGrpSpPr/>
          <p:nvPr/>
        </p:nvGrpSpPr>
        <p:grpSpPr>
          <a:xfrm>
            <a:off x="2993137" y="3733800"/>
            <a:ext cx="178435" cy="1363980"/>
            <a:chOff x="1469136" y="3733800"/>
            <a:chExt cx="178435" cy="1363980"/>
          </a:xfrm>
        </p:grpSpPr>
        <p:sp>
          <p:nvSpPr>
            <p:cNvPr id="10" name="object 10"/>
            <p:cNvSpPr/>
            <p:nvPr/>
          </p:nvSpPr>
          <p:spPr>
            <a:xfrm>
              <a:off x="1469136" y="3733800"/>
              <a:ext cx="178307" cy="1844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69136" y="4126991"/>
              <a:ext cx="178307" cy="1844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69136" y="4520183"/>
              <a:ext cx="178307" cy="1844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69136" y="4913375"/>
              <a:ext cx="178307" cy="1844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80690" y="2075511"/>
            <a:ext cx="6411595" cy="30994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5910" marR="5080" indent="-38100">
              <a:lnSpc>
                <a:spcPts val="2500"/>
              </a:lnSpc>
              <a:spcBef>
                <a:spcPts val="705"/>
              </a:spcBef>
            </a:pPr>
            <a:r>
              <a:rPr sz="2600" dirty="0">
                <a:latin typeface="Times New Roman"/>
                <a:cs typeface="Times New Roman"/>
              </a:rPr>
              <a:t>It is a </a:t>
            </a:r>
            <a:r>
              <a:rPr sz="2600" spc="-5" dirty="0">
                <a:latin typeface="Times New Roman"/>
                <a:cs typeface="Times New Roman"/>
              </a:rPr>
              <a:t>specific </a:t>
            </a:r>
            <a:r>
              <a:rPr sz="2600" dirty="0">
                <a:latin typeface="Times New Roman"/>
                <a:cs typeface="Times New Roman"/>
              </a:rPr>
              <a:t>procedure of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particular  requirement.</a:t>
            </a:r>
            <a:endParaRPr sz="26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3110"/>
              </a:lnSpc>
            </a:pPr>
            <a:r>
              <a:rPr sz="2600" dirty="0">
                <a:latin typeface="Times New Roman"/>
                <a:cs typeface="Times New Roman"/>
              </a:rPr>
              <a:t>It will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include:</a:t>
            </a:r>
            <a:endParaRPr sz="2600">
              <a:latin typeface="Times New Roman"/>
              <a:cs typeface="Times New Roman"/>
            </a:endParaRPr>
          </a:p>
          <a:p>
            <a:pPr marL="370840" marR="254000" indent="5715">
              <a:lnSpc>
                <a:spcPts val="3100"/>
              </a:lnSpc>
              <a:spcBef>
                <a:spcPts val="110"/>
              </a:spcBef>
            </a:pPr>
            <a:r>
              <a:rPr sz="2600" spc="-5" dirty="0">
                <a:latin typeface="Times New Roman"/>
                <a:cs typeface="Times New Roman"/>
              </a:rPr>
              <a:t>Identification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specific requirement tested  </a:t>
            </a:r>
            <a:r>
              <a:rPr sz="2600" spc="-50" dirty="0">
                <a:latin typeface="Times New Roman"/>
                <a:cs typeface="Times New Roman"/>
              </a:rPr>
              <a:t>Test </a:t>
            </a:r>
            <a:r>
              <a:rPr sz="2600" spc="-5" dirty="0">
                <a:latin typeface="Times New Roman"/>
                <a:cs typeface="Times New Roman"/>
              </a:rPr>
              <a:t>case success/failure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criteria</a:t>
            </a:r>
            <a:endParaRPr sz="2600">
              <a:latin typeface="Times New Roman"/>
              <a:cs typeface="Times New Roman"/>
            </a:endParaRPr>
          </a:p>
          <a:p>
            <a:pPr marL="376555">
              <a:lnSpc>
                <a:spcPts val="2980"/>
              </a:lnSpc>
            </a:pPr>
            <a:r>
              <a:rPr sz="2600" spc="-5" dirty="0">
                <a:latin typeface="Times New Roman"/>
                <a:cs typeface="Times New Roman"/>
              </a:rPr>
              <a:t>Specific steps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execute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</a:t>
            </a:r>
            <a:endParaRPr sz="2600">
              <a:latin typeface="Times New Roman"/>
              <a:cs typeface="Times New Roman"/>
            </a:endParaRPr>
          </a:p>
          <a:p>
            <a:pPr marL="370840">
              <a:lnSpc>
                <a:spcPts val="3110"/>
              </a:lnSpc>
            </a:pPr>
            <a:r>
              <a:rPr sz="2600" spc="-50" dirty="0">
                <a:latin typeface="Times New Roman"/>
                <a:cs typeface="Times New Roman"/>
              </a:rPr>
              <a:t>Test</a:t>
            </a:r>
            <a:r>
              <a:rPr sz="2600" spc="-5" dirty="0">
                <a:latin typeface="Times New Roman"/>
                <a:cs typeface="Times New Roman"/>
              </a:rPr>
              <a:t> data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1660" y="313944"/>
              <a:ext cx="6662928" cy="9738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97736" y="2318003"/>
              <a:ext cx="1432560" cy="60350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4808" y="2318003"/>
              <a:ext cx="1118616" cy="60350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97936" y="2318003"/>
              <a:ext cx="1484376" cy="60350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919" y="3214115"/>
              <a:ext cx="2409444" cy="62179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49396" y="3214115"/>
              <a:ext cx="1456944" cy="62179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93694" y="2409569"/>
            <a:ext cx="8129904" cy="14048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spcBef>
                <a:spcPts val="95"/>
              </a:spcBef>
            </a:pPr>
            <a:r>
              <a:rPr sz="2800" b="1" spc="-5" dirty="0">
                <a:latin typeface="Times New Roman"/>
                <a:cs typeface="Times New Roman"/>
              </a:rPr>
              <a:t>Black </a:t>
            </a:r>
            <a:r>
              <a:rPr sz="2800" b="1" dirty="0">
                <a:latin typeface="Times New Roman"/>
                <a:cs typeface="Times New Roman"/>
              </a:rPr>
              <a:t>box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testing</a:t>
            </a: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3250" dirty="0">
              <a:latin typeface="Times New Roman"/>
              <a:cs typeface="Times New Roman"/>
            </a:endParaRPr>
          </a:p>
          <a:p>
            <a:pPr marL="12700"/>
            <a:r>
              <a:rPr sz="3000" b="1" spc="-5" dirty="0">
                <a:latin typeface="Times New Roman"/>
                <a:cs typeface="Times New Roman"/>
              </a:rPr>
              <a:t>White box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testing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76723" y="469849"/>
            <a:ext cx="6303774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5" dirty="0">
                <a:solidFill>
                  <a:schemeClr val="tx1"/>
                </a:solidFill>
              </a:rPr>
              <a:t>Black </a:t>
            </a:r>
            <a:r>
              <a:rPr sz="4000" b="1" spc="-35" dirty="0">
                <a:solidFill>
                  <a:schemeClr val="tx1"/>
                </a:solidFill>
              </a:rPr>
              <a:t>box</a:t>
            </a:r>
            <a:r>
              <a:rPr sz="4000" b="1" spc="-45" dirty="0">
                <a:solidFill>
                  <a:schemeClr val="tx1"/>
                </a:solidFill>
              </a:rPr>
              <a:t> </a:t>
            </a:r>
            <a:r>
              <a:rPr sz="4000" b="1" spc="-20" dirty="0">
                <a:solidFill>
                  <a:schemeClr val="tx1"/>
                </a:solidFill>
              </a:rPr>
              <a:t>testing</a:t>
            </a:r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4113" y="1567433"/>
            <a:ext cx="7080884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6725" marR="15240" indent="-454659">
              <a:spcBef>
                <a:spcPts val="105"/>
              </a:spcBef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sz="2600" dirty="0">
                <a:latin typeface="Times New Roman"/>
                <a:cs typeface="Times New Roman"/>
              </a:rPr>
              <a:t>No knowledge of </a:t>
            </a:r>
            <a:r>
              <a:rPr sz="2600" spc="-5" dirty="0">
                <a:latin typeface="Times New Roman"/>
                <a:cs typeface="Times New Roman"/>
              </a:rPr>
              <a:t>internal </a:t>
            </a:r>
            <a:r>
              <a:rPr sz="2600" dirty="0">
                <a:latin typeface="Times New Roman"/>
                <a:cs typeface="Times New Roman"/>
              </a:rPr>
              <a:t>program design or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code  required.</a:t>
            </a:r>
            <a:endParaRPr sz="2600">
              <a:latin typeface="Times New Roman"/>
              <a:cs typeface="Times New Roman"/>
            </a:endParaRPr>
          </a:p>
          <a:p>
            <a:pPr marL="466725" indent="-454659"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sz="2600" spc="-40" dirty="0">
                <a:latin typeface="Times New Roman"/>
                <a:cs typeface="Times New Roman"/>
              </a:rPr>
              <a:t>Tests </a:t>
            </a:r>
            <a:r>
              <a:rPr sz="2600" spc="-5" dirty="0">
                <a:latin typeface="Times New Roman"/>
                <a:cs typeface="Times New Roman"/>
              </a:rPr>
              <a:t>are based </a:t>
            </a:r>
            <a:r>
              <a:rPr sz="2600" dirty="0">
                <a:latin typeface="Times New Roman"/>
                <a:cs typeface="Times New Roman"/>
              </a:rPr>
              <a:t>on </a:t>
            </a:r>
            <a:r>
              <a:rPr sz="2600" spc="-5" dirty="0">
                <a:latin typeface="Times New Roman"/>
                <a:cs typeface="Times New Roman"/>
              </a:rPr>
              <a:t>requirements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functionality.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4113" y="3346196"/>
            <a:ext cx="3741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4000" b="1" spc="-15" dirty="0">
                <a:solidFill>
                  <a:srgbClr val="4A2103"/>
                </a:solidFill>
                <a:latin typeface="Carlito"/>
                <a:cs typeface="Carlito"/>
              </a:rPr>
              <a:t>White </a:t>
            </a:r>
            <a:r>
              <a:rPr sz="4000" b="1" spc="-30" dirty="0">
                <a:solidFill>
                  <a:srgbClr val="4A2103"/>
                </a:solidFill>
                <a:latin typeface="Carlito"/>
                <a:cs typeface="Carlito"/>
              </a:rPr>
              <a:t>box</a:t>
            </a:r>
            <a:r>
              <a:rPr sz="4000" b="1" spc="-55" dirty="0">
                <a:solidFill>
                  <a:srgbClr val="4A2103"/>
                </a:solidFill>
                <a:latin typeface="Carlito"/>
                <a:cs typeface="Carlito"/>
              </a:rPr>
              <a:t> </a:t>
            </a:r>
            <a:r>
              <a:rPr sz="4000" b="1" spc="-20" dirty="0">
                <a:solidFill>
                  <a:srgbClr val="4A2103"/>
                </a:solidFill>
                <a:latin typeface="Carlito"/>
                <a:cs typeface="Carlito"/>
              </a:rPr>
              <a:t>testing</a:t>
            </a:r>
            <a:endParaRPr sz="4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4113" y="3975862"/>
            <a:ext cx="6636384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marR="5080" indent="-454659">
              <a:spcBef>
                <a:spcPts val="100"/>
              </a:spcBef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sz="2600" dirty="0">
                <a:latin typeface="Times New Roman"/>
                <a:cs typeface="Times New Roman"/>
              </a:rPr>
              <a:t>Knowledge of the internal program design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  code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required.</a:t>
            </a:r>
          </a:p>
          <a:p>
            <a:pPr marL="466725" marR="941705" indent="-454659"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sz="2600" spc="-40" dirty="0">
                <a:latin typeface="Times New Roman"/>
                <a:cs typeface="Times New Roman"/>
              </a:rPr>
              <a:t>Tests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based </a:t>
            </a:r>
            <a:r>
              <a:rPr sz="2600" dirty="0">
                <a:latin typeface="Times New Roman"/>
                <a:cs typeface="Times New Roman"/>
              </a:rPr>
              <a:t>on coverage of code  </a:t>
            </a:r>
            <a:r>
              <a:rPr sz="2600" spc="-5" dirty="0">
                <a:latin typeface="Times New Roman"/>
                <a:cs typeface="Times New Roman"/>
              </a:rPr>
              <a:t>statements, </a:t>
            </a:r>
            <a:r>
              <a:rPr sz="2600" dirty="0">
                <a:latin typeface="Times New Roman"/>
                <a:cs typeface="Times New Roman"/>
              </a:rPr>
              <a:t>branches, paths,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5914" y="-68153"/>
            <a:ext cx="4286885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5" dirty="0">
                <a:solidFill>
                  <a:schemeClr val="tx1"/>
                </a:solidFill>
              </a:rPr>
              <a:t>Black </a:t>
            </a:r>
            <a:r>
              <a:rPr sz="4800" spc="-35" dirty="0">
                <a:solidFill>
                  <a:schemeClr val="tx1"/>
                </a:solidFill>
              </a:rPr>
              <a:t>box</a:t>
            </a:r>
            <a:r>
              <a:rPr sz="4800" spc="-70" dirty="0">
                <a:solidFill>
                  <a:schemeClr val="tx1"/>
                </a:solidFill>
              </a:rPr>
              <a:t> </a:t>
            </a:r>
            <a:r>
              <a:rPr sz="4800" spc="-20" dirty="0">
                <a:solidFill>
                  <a:schemeClr val="tx1"/>
                </a:solidFill>
              </a:rPr>
              <a:t>testing</a:t>
            </a:r>
            <a:endParaRPr sz="4800" dirty="0">
              <a:solidFill>
                <a:schemeClr val="tx1"/>
              </a:solidFill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09900" y="1714500"/>
            <a:ext cx="6838950" cy="4171950"/>
            <a:chOff x="1485900" y="1714500"/>
            <a:chExt cx="6838950" cy="4171950"/>
          </a:xfrm>
        </p:grpSpPr>
        <p:sp>
          <p:nvSpPr>
            <p:cNvPr id="9" name="object 9"/>
            <p:cNvSpPr/>
            <p:nvPr/>
          </p:nvSpPr>
          <p:spPr>
            <a:xfrm>
              <a:off x="4429125" y="4381500"/>
              <a:ext cx="800100" cy="150495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72200" y="3371850"/>
              <a:ext cx="2152650" cy="85725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82923" y="3690988"/>
              <a:ext cx="3152775" cy="883285"/>
            </a:xfrm>
            <a:custGeom>
              <a:avLst/>
              <a:gdLst/>
              <a:ahLst/>
              <a:cxnLst/>
              <a:rect l="l" t="t" r="r" b="b"/>
              <a:pathLst>
                <a:path w="3152775" h="883285">
                  <a:moveTo>
                    <a:pt x="3152775" y="0"/>
                  </a:moveTo>
                  <a:lnTo>
                    <a:pt x="0" y="0"/>
                  </a:lnTo>
                  <a:lnTo>
                    <a:pt x="0" y="882662"/>
                  </a:lnTo>
                  <a:lnTo>
                    <a:pt x="3152775" y="882662"/>
                  </a:lnTo>
                  <a:lnTo>
                    <a:pt x="3152775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0925" y="3198875"/>
              <a:ext cx="492125" cy="1374775"/>
            </a:xfrm>
            <a:custGeom>
              <a:avLst/>
              <a:gdLst/>
              <a:ahLst/>
              <a:cxnLst/>
              <a:rect l="l" t="t" r="r" b="b"/>
              <a:pathLst>
                <a:path w="492125" h="1374775">
                  <a:moveTo>
                    <a:pt x="0" y="0"/>
                  </a:moveTo>
                  <a:lnTo>
                    <a:pt x="0" y="882650"/>
                  </a:lnTo>
                  <a:lnTo>
                    <a:pt x="491998" y="1374775"/>
                  </a:lnTo>
                  <a:lnTo>
                    <a:pt x="491998" y="491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0925" y="3198875"/>
              <a:ext cx="3644900" cy="492125"/>
            </a:xfrm>
            <a:custGeom>
              <a:avLst/>
              <a:gdLst/>
              <a:ahLst/>
              <a:cxnLst/>
              <a:rect l="l" t="t" r="r" b="b"/>
              <a:pathLst>
                <a:path w="3644900" h="492125">
                  <a:moveTo>
                    <a:pt x="3152775" y="0"/>
                  </a:moveTo>
                  <a:lnTo>
                    <a:pt x="0" y="0"/>
                  </a:lnTo>
                  <a:lnTo>
                    <a:pt x="491998" y="491998"/>
                  </a:lnTo>
                  <a:lnTo>
                    <a:pt x="3644900" y="491998"/>
                  </a:lnTo>
                  <a:lnTo>
                    <a:pt x="3152775" y="0"/>
                  </a:lnTo>
                  <a:close/>
                </a:path>
              </a:pathLst>
            </a:custGeom>
            <a:solidFill>
              <a:srgbClr val="3B3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90925" y="3198875"/>
              <a:ext cx="3644900" cy="1374775"/>
            </a:xfrm>
            <a:custGeom>
              <a:avLst/>
              <a:gdLst/>
              <a:ahLst/>
              <a:cxnLst/>
              <a:rect l="l" t="t" r="r" b="b"/>
              <a:pathLst>
                <a:path w="3644900" h="1374775">
                  <a:moveTo>
                    <a:pt x="3644900" y="491998"/>
                  </a:moveTo>
                  <a:lnTo>
                    <a:pt x="3152775" y="0"/>
                  </a:lnTo>
                  <a:lnTo>
                    <a:pt x="0" y="0"/>
                  </a:lnTo>
                  <a:lnTo>
                    <a:pt x="0" y="882650"/>
                  </a:lnTo>
                  <a:lnTo>
                    <a:pt x="491998" y="1374775"/>
                  </a:lnTo>
                  <a:lnTo>
                    <a:pt x="3644900" y="1374775"/>
                  </a:lnTo>
                  <a:lnTo>
                    <a:pt x="3644900" y="491998"/>
                  </a:lnTo>
                  <a:close/>
                </a:path>
                <a:path w="3644900" h="1374775">
                  <a:moveTo>
                    <a:pt x="3644900" y="491998"/>
                  </a:moveTo>
                  <a:lnTo>
                    <a:pt x="491998" y="491998"/>
                  </a:lnTo>
                  <a:lnTo>
                    <a:pt x="0" y="0"/>
                  </a:lnTo>
                </a:path>
                <a:path w="3644900" h="1374775">
                  <a:moveTo>
                    <a:pt x="491998" y="491998"/>
                  </a:moveTo>
                  <a:lnTo>
                    <a:pt x="491998" y="1374775"/>
                  </a:lnTo>
                </a:path>
              </a:pathLst>
            </a:custGeom>
            <a:ln w="38100">
              <a:solidFill>
                <a:srgbClr val="8DC6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85900" y="3371850"/>
              <a:ext cx="1847850" cy="8572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29125" y="1714500"/>
              <a:ext cx="800100" cy="174307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17594" y="2002359"/>
            <a:ext cx="17500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spc="-5" dirty="0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594" y="4136517"/>
            <a:ext cx="7061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ut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9029" y="5050917"/>
            <a:ext cx="8705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events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80630" y="2993264"/>
            <a:ext cx="8731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tp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44162" y="21693"/>
            <a:ext cx="4483100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15" dirty="0">
                <a:solidFill>
                  <a:schemeClr val="tx1"/>
                </a:solidFill>
              </a:rPr>
              <a:t>White </a:t>
            </a:r>
            <a:r>
              <a:rPr sz="4800" spc="-35" dirty="0">
                <a:solidFill>
                  <a:schemeClr val="tx1"/>
                </a:solidFill>
              </a:rPr>
              <a:t>box</a:t>
            </a:r>
            <a:r>
              <a:rPr sz="4800" spc="-105" dirty="0">
                <a:solidFill>
                  <a:schemeClr val="tx1"/>
                </a:solidFill>
              </a:rPr>
              <a:t> </a:t>
            </a:r>
            <a:r>
              <a:rPr sz="4800" spc="-20" dirty="0">
                <a:solidFill>
                  <a:schemeClr val="tx1"/>
                </a:solidFill>
              </a:rPr>
              <a:t>testing</a:t>
            </a:r>
            <a:endParaRPr sz="4800" dirty="0">
              <a:solidFill>
                <a:schemeClr val="tx1"/>
              </a:solidFill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85052" y="2131753"/>
            <a:ext cx="6668134" cy="3602354"/>
            <a:chOff x="2461052" y="2131753"/>
            <a:chExt cx="6668134" cy="3602354"/>
          </a:xfrm>
        </p:grpSpPr>
        <p:sp>
          <p:nvSpPr>
            <p:cNvPr id="9" name="object 9"/>
            <p:cNvSpPr/>
            <p:nvPr/>
          </p:nvSpPr>
          <p:spPr>
            <a:xfrm>
              <a:off x="2683789" y="4747916"/>
              <a:ext cx="2435225" cy="953769"/>
            </a:xfrm>
            <a:custGeom>
              <a:avLst/>
              <a:gdLst/>
              <a:ahLst/>
              <a:cxnLst/>
              <a:rect l="l" t="t" r="r" b="b"/>
              <a:pathLst>
                <a:path w="2435225" h="953770">
                  <a:moveTo>
                    <a:pt x="1956837" y="0"/>
                  </a:moveTo>
                  <a:lnTo>
                    <a:pt x="478329" y="0"/>
                  </a:lnTo>
                  <a:lnTo>
                    <a:pt x="429364" y="2455"/>
                  </a:lnTo>
                  <a:lnTo>
                    <a:pt x="381827" y="9664"/>
                  </a:lnTo>
                  <a:lnTo>
                    <a:pt x="335956" y="21387"/>
                  </a:lnTo>
                  <a:lnTo>
                    <a:pt x="291991" y="37388"/>
                  </a:lnTo>
                  <a:lnTo>
                    <a:pt x="250170" y="57427"/>
                  </a:lnTo>
                  <a:lnTo>
                    <a:pt x="210733" y="81268"/>
                  </a:lnTo>
                  <a:lnTo>
                    <a:pt x="173919" y="108672"/>
                  </a:lnTo>
                  <a:lnTo>
                    <a:pt x="139965" y="139401"/>
                  </a:lnTo>
                  <a:lnTo>
                    <a:pt x="109111" y="173217"/>
                  </a:lnTo>
                  <a:lnTo>
                    <a:pt x="81596" y="209883"/>
                  </a:lnTo>
                  <a:lnTo>
                    <a:pt x="57659" y="249161"/>
                  </a:lnTo>
                  <a:lnTo>
                    <a:pt x="37539" y="290811"/>
                  </a:lnTo>
                  <a:lnTo>
                    <a:pt x="21474" y="334598"/>
                  </a:lnTo>
                  <a:lnTo>
                    <a:pt x="9703" y="380282"/>
                  </a:lnTo>
                  <a:lnTo>
                    <a:pt x="2465" y="427626"/>
                  </a:lnTo>
                  <a:lnTo>
                    <a:pt x="0" y="477324"/>
                  </a:lnTo>
                  <a:lnTo>
                    <a:pt x="2465" y="526091"/>
                  </a:lnTo>
                  <a:lnTo>
                    <a:pt x="9703" y="573436"/>
                  </a:lnTo>
                  <a:lnTo>
                    <a:pt x="21474" y="619122"/>
                  </a:lnTo>
                  <a:lnTo>
                    <a:pt x="37539" y="662910"/>
                  </a:lnTo>
                  <a:lnTo>
                    <a:pt x="57659" y="704563"/>
                  </a:lnTo>
                  <a:lnTo>
                    <a:pt x="81596" y="743843"/>
                  </a:lnTo>
                  <a:lnTo>
                    <a:pt x="109111" y="780512"/>
                  </a:lnTo>
                  <a:lnTo>
                    <a:pt x="139965" y="814331"/>
                  </a:lnTo>
                  <a:lnTo>
                    <a:pt x="173919" y="845062"/>
                  </a:lnTo>
                  <a:lnTo>
                    <a:pt x="210733" y="872469"/>
                  </a:lnTo>
                  <a:lnTo>
                    <a:pt x="250170" y="896312"/>
                  </a:lnTo>
                  <a:lnTo>
                    <a:pt x="291991" y="916353"/>
                  </a:lnTo>
                  <a:lnTo>
                    <a:pt x="335956" y="932355"/>
                  </a:lnTo>
                  <a:lnTo>
                    <a:pt x="381827" y="944080"/>
                  </a:lnTo>
                  <a:lnTo>
                    <a:pt x="429364" y="951290"/>
                  </a:lnTo>
                  <a:lnTo>
                    <a:pt x="478329" y="953746"/>
                  </a:lnTo>
                  <a:lnTo>
                    <a:pt x="1956837" y="953746"/>
                  </a:lnTo>
                  <a:lnTo>
                    <a:pt x="2005778" y="951290"/>
                  </a:lnTo>
                  <a:lnTo>
                    <a:pt x="2053296" y="944080"/>
                  </a:lnTo>
                  <a:lnTo>
                    <a:pt x="2099153" y="932355"/>
                  </a:lnTo>
                  <a:lnTo>
                    <a:pt x="2143108" y="916353"/>
                  </a:lnTo>
                  <a:lnTo>
                    <a:pt x="2184923" y="896312"/>
                  </a:lnTo>
                  <a:lnTo>
                    <a:pt x="2224357" y="872469"/>
                  </a:lnTo>
                  <a:lnTo>
                    <a:pt x="2261172" y="845062"/>
                  </a:lnTo>
                  <a:lnTo>
                    <a:pt x="2295128" y="814331"/>
                  </a:lnTo>
                  <a:lnTo>
                    <a:pt x="2325986" y="780512"/>
                  </a:lnTo>
                  <a:lnTo>
                    <a:pt x="2353506" y="743843"/>
                  </a:lnTo>
                  <a:lnTo>
                    <a:pt x="2377450" y="704563"/>
                  </a:lnTo>
                  <a:lnTo>
                    <a:pt x="2397576" y="662910"/>
                  </a:lnTo>
                  <a:lnTo>
                    <a:pt x="2413647" y="619122"/>
                  </a:lnTo>
                  <a:lnTo>
                    <a:pt x="2425423" y="573436"/>
                  </a:lnTo>
                  <a:lnTo>
                    <a:pt x="2432664" y="526091"/>
                  </a:lnTo>
                  <a:lnTo>
                    <a:pt x="2435130" y="476391"/>
                  </a:lnTo>
                  <a:lnTo>
                    <a:pt x="2432664" y="427626"/>
                  </a:lnTo>
                  <a:lnTo>
                    <a:pt x="2425423" y="380282"/>
                  </a:lnTo>
                  <a:lnTo>
                    <a:pt x="2413647" y="334598"/>
                  </a:lnTo>
                  <a:lnTo>
                    <a:pt x="2397576" y="290811"/>
                  </a:lnTo>
                  <a:lnTo>
                    <a:pt x="2377450" y="249161"/>
                  </a:lnTo>
                  <a:lnTo>
                    <a:pt x="2353506" y="209883"/>
                  </a:lnTo>
                  <a:lnTo>
                    <a:pt x="2325986" y="173217"/>
                  </a:lnTo>
                  <a:lnTo>
                    <a:pt x="2295128" y="139401"/>
                  </a:lnTo>
                  <a:lnTo>
                    <a:pt x="2261172" y="108672"/>
                  </a:lnTo>
                  <a:lnTo>
                    <a:pt x="2224357" y="81268"/>
                  </a:lnTo>
                  <a:lnTo>
                    <a:pt x="2184923" y="57427"/>
                  </a:lnTo>
                  <a:lnTo>
                    <a:pt x="2143108" y="37388"/>
                  </a:lnTo>
                  <a:lnTo>
                    <a:pt x="2099153" y="21387"/>
                  </a:lnTo>
                  <a:lnTo>
                    <a:pt x="2053296" y="9664"/>
                  </a:lnTo>
                  <a:lnTo>
                    <a:pt x="2005778" y="2455"/>
                  </a:lnTo>
                  <a:lnTo>
                    <a:pt x="1956837" y="0"/>
                  </a:lnTo>
                  <a:close/>
                </a:path>
              </a:pathLst>
            </a:custGeom>
            <a:solidFill>
              <a:srgbClr val="6980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84703" y="2131758"/>
              <a:ext cx="6443980" cy="3602354"/>
            </a:xfrm>
            <a:custGeom>
              <a:avLst/>
              <a:gdLst/>
              <a:ahLst/>
              <a:cxnLst/>
              <a:rect l="l" t="t" r="r" b="b"/>
              <a:pathLst>
                <a:path w="6443980" h="3602354">
                  <a:moveTo>
                    <a:pt x="2466873" y="0"/>
                  </a:moveTo>
                  <a:lnTo>
                    <a:pt x="0" y="0"/>
                  </a:lnTo>
                  <a:lnTo>
                    <a:pt x="0" y="948232"/>
                  </a:lnTo>
                  <a:lnTo>
                    <a:pt x="2466873" y="948232"/>
                  </a:lnTo>
                  <a:lnTo>
                    <a:pt x="2466873" y="0"/>
                  </a:lnTo>
                  <a:close/>
                </a:path>
                <a:path w="6443980" h="3602354">
                  <a:moveTo>
                    <a:pt x="6443866" y="2616162"/>
                  </a:moveTo>
                  <a:lnTo>
                    <a:pt x="3940772" y="2616162"/>
                  </a:lnTo>
                  <a:lnTo>
                    <a:pt x="3940772" y="3602037"/>
                  </a:lnTo>
                  <a:lnTo>
                    <a:pt x="6443866" y="3602037"/>
                  </a:lnTo>
                  <a:lnTo>
                    <a:pt x="6443866" y="2616162"/>
                  </a:lnTo>
                  <a:close/>
                </a:path>
              </a:pathLst>
            </a:custGeom>
            <a:solidFill>
              <a:srgbClr val="6D7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68913" y="2852347"/>
              <a:ext cx="258445" cy="493395"/>
            </a:xfrm>
            <a:custGeom>
              <a:avLst/>
              <a:gdLst/>
              <a:ahLst/>
              <a:cxnLst/>
              <a:rect l="l" t="t" r="r" b="b"/>
              <a:pathLst>
                <a:path w="258445" h="493395">
                  <a:moveTo>
                    <a:pt x="147637" y="0"/>
                  </a:moveTo>
                  <a:lnTo>
                    <a:pt x="0" y="492918"/>
                  </a:lnTo>
                  <a:lnTo>
                    <a:pt x="147637" y="379099"/>
                  </a:lnTo>
                  <a:lnTo>
                    <a:pt x="258162" y="492918"/>
                  </a:lnTo>
                  <a:lnTo>
                    <a:pt x="147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68913" y="2852347"/>
              <a:ext cx="258445" cy="493395"/>
            </a:xfrm>
            <a:custGeom>
              <a:avLst/>
              <a:gdLst/>
              <a:ahLst/>
              <a:cxnLst/>
              <a:rect l="l" t="t" r="r" b="b"/>
              <a:pathLst>
                <a:path w="258445" h="493395">
                  <a:moveTo>
                    <a:pt x="147637" y="379099"/>
                  </a:moveTo>
                  <a:lnTo>
                    <a:pt x="0" y="492918"/>
                  </a:lnTo>
                  <a:lnTo>
                    <a:pt x="147637" y="0"/>
                  </a:lnTo>
                  <a:lnTo>
                    <a:pt x="258162" y="492918"/>
                  </a:lnTo>
                  <a:lnTo>
                    <a:pt x="147637" y="379099"/>
                  </a:lnTo>
                </a:path>
              </a:pathLst>
            </a:custGeom>
            <a:ln w="32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1052" y="4517634"/>
              <a:ext cx="2513574" cy="9966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90437" y="4546120"/>
            <a:ext cx="1555750" cy="8147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91490" marR="5080" indent="-479425">
              <a:lnSpc>
                <a:spcPts val="2990"/>
              </a:lnSpc>
              <a:spcBef>
                <a:spcPts val="390"/>
              </a:spcBef>
            </a:pPr>
            <a:r>
              <a:rPr sz="2650" spc="-30" dirty="0">
                <a:latin typeface="Times New Roman"/>
                <a:cs typeface="Times New Roman"/>
              </a:rPr>
              <a:t>C</a:t>
            </a:r>
            <a:r>
              <a:rPr sz="2650" spc="114" dirty="0">
                <a:latin typeface="Times New Roman"/>
                <a:cs typeface="Times New Roman"/>
              </a:rPr>
              <a:t>o</a:t>
            </a:r>
            <a:r>
              <a:rPr sz="2650" spc="-35" dirty="0">
                <a:latin typeface="Times New Roman"/>
                <a:cs typeface="Times New Roman"/>
              </a:rPr>
              <a:t>m</a:t>
            </a:r>
            <a:r>
              <a:rPr sz="2650" spc="-175" dirty="0">
                <a:latin typeface="Times New Roman"/>
                <a:cs typeface="Times New Roman"/>
              </a:rPr>
              <a:t>p</a:t>
            </a:r>
            <a:r>
              <a:rPr sz="2650" spc="114" dirty="0">
                <a:latin typeface="Times New Roman"/>
                <a:cs typeface="Times New Roman"/>
              </a:rPr>
              <a:t>o</a:t>
            </a:r>
            <a:r>
              <a:rPr sz="2650" spc="-175" dirty="0">
                <a:latin typeface="Times New Roman"/>
                <a:cs typeface="Times New Roman"/>
              </a:rPr>
              <a:t>n</a:t>
            </a:r>
            <a:r>
              <a:rPr sz="2650" spc="-10" dirty="0">
                <a:latin typeface="Times New Roman"/>
                <a:cs typeface="Times New Roman"/>
              </a:rPr>
              <a:t>e</a:t>
            </a:r>
            <a:r>
              <a:rPr sz="2650" spc="-170" dirty="0">
                <a:latin typeface="Times New Roman"/>
                <a:cs typeface="Times New Roman"/>
              </a:rPr>
              <a:t>n</a:t>
            </a:r>
            <a:r>
              <a:rPr sz="2650" spc="-5" dirty="0">
                <a:latin typeface="Times New Roman"/>
                <a:cs typeface="Times New Roman"/>
              </a:rPr>
              <a:t>t  </a:t>
            </a:r>
            <a:r>
              <a:rPr sz="2650" spc="-20" dirty="0">
                <a:latin typeface="Times New Roman"/>
                <a:cs typeface="Times New Roman"/>
              </a:rPr>
              <a:t>code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91394" y="4520264"/>
            <a:ext cx="2503095" cy="9858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891394" y="4520242"/>
            <a:ext cx="2540635" cy="845103"/>
          </a:xfrm>
          <a:prstGeom prst="rect">
            <a:avLst/>
          </a:prstGeom>
          <a:ln w="32987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772160" marR="782320" indent="219710">
              <a:lnSpc>
                <a:spcPts val="2990"/>
              </a:lnSpc>
              <a:spcBef>
                <a:spcPts val="590"/>
              </a:spcBef>
            </a:pPr>
            <a:r>
              <a:rPr sz="2650" spc="-90" dirty="0">
                <a:latin typeface="Times New Roman"/>
                <a:cs typeface="Times New Roman"/>
              </a:rPr>
              <a:t>Test  </a:t>
            </a:r>
            <a:r>
              <a:rPr sz="2650" spc="125" dirty="0">
                <a:latin typeface="Times New Roman"/>
                <a:cs typeface="Times New Roman"/>
              </a:rPr>
              <a:t>o</a:t>
            </a:r>
            <a:r>
              <a:rPr sz="2650" spc="-175" dirty="0">
                <a:latin typeface="Times New Roman"/>
                <a:cs typeface="Times New Roman"/>
              </a:rPr>
              <a:t>u</a:t>
            </a:r>
            <a:r>
              <a:rPr sz="2650" spc="130" dirty="0">
                <a:latin typeface="Times New Roman"/>
                <a:cs typeface="Times New Roman"/>
              </a:rPr>
              <a:t>t</a:t>
            </a:r>
            <a:r>
              <a:rPr sz="2650" spc="-170" dirty="0">
                <a:latin typeface="Times New Roman"/>
                <a:cs typeface="Times New Roman"/>
              </a:rPr>
              <a:t>p</a:t>
            </a:r>
            <a:r>
              <a:rPr sz="2650" spc="114" dirty="0">
                <a:latin typeface="Times New Roman"/>
                <a:cs typeface="Times New Roman"/>
              </a:rPr>
              <a:t>u</a:t>
            </a:r>
            <a:r>
              <a:rPr sz="2650" spc="-17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1149" y="1849963"/>
            <a:ext cx="2572385" cy="1056640"/>
            <a:chOff x="2447148" y="1849963"/>
            <a:chExt cx="2572385" cy="1056640"/>
          </a:xfrm>
        </p:grpSpPr>
        <p:sp>
          <p:nvSpPr>
            <p:cNvPr id="18" name="object 18"/>
            <p:cNvSpPr/>
            <p:nvPr/>
          </p:nvSpPr>
          <p:spPr>
            <a:xfrm>
              <a:off x="2463658" y="1866473"/>
              <a:ext cx="2503095" cy="98587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3658" y="1866473"/>
              <a:ext cx="2539365" cy="1023619"/>
            </a:xfrm>
            <a:custGeom>
              <a:avLst/>
              <a:gdLst/>
              <a:ahLst/>
              <a:cxnLst/>
              <a:rect l="l" t="t" r="r" b="b"/>
              <a:pathLst>
                <a:path w="2539365" h="1023619">
                  <a:moveTo>
                    <a:pt x="0" y="0"/>
                  </a:moveTo>
                  <a:lnTo>
                    <a:pt x="2539287" y="0"/>
                  </a:lnTo>
                  <a:lnTo>
                    <a:pt x="2539287" y="1023515"/>
                  </a:lnTo>
                  <a:lnTo>
                    <a:pt x="0" y="1023515"/>
                  </a:lnTo>
                  <a:lnTo>
                    <a:pt x="0" y="0"/>
                  </a:lnTo>
                </a:path>
              </a:pathLst>
            </a:custGeom>
            <a:ln w="329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87659" y="1866473"/>
            <a:ext cx="2539365" cy="603370"/>
          </a:xfrm>
          <a:prstGeom prst="rect">
            <a:avLst/>
          </a:prstGeom>
          <a:ln w="32987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663575">
              <a:spcBef>
                <a:spcPts val="1525"/>
              </a:spcBef>
            </a:pPr>
            <a:r>
              <a:rPr sz="2650" spc="-165" dirty="0">
                <a:latin typeface="Times New Roman"/>
                <a:cs typeface="Times New Roman"/>
              </a:rPr>
              <a:t>Test</a:t>
            </a:r>
            <a:r>
              <a:rPr sz="2650" spc="45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data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11489" y="3484962"/>
            <a:ext cx="104076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650" spc="-185" dirty="0">
                <a:latin typeface="Times New Roman"/>
                <a:cs typeface="Times New Roman"/>
              </a:rPr>
              <a:t>D</a:t>
            </a:r>
            <a:r>
              <a:rPr sz="2650" spc="-10" dirty="0">
                <a:latin typeface="Times New Roman"/>
                <a:cs typeface="Times New Roman"/>
              </a:rPr>
              <a:t>e</a:t>
            </a:r>
            <a:r>
              <a:rPr sz="2650" spc="-25" dirty="0">
                <a:latin typeface="Times New Roman"/>
                <a:cs typeface="Times New Roman"/>
              </a:rPr>
              <a:t>r</a:t>
            </a:r>
            <a:r>
              <a:rPr sz="2650" spc="130" dirty="0">
                <a:latin typeface="Times New Roman"/>
                <a:cs typeface="Times New Roman"/>
              </a:rPr>
              <a:t>i</a:t>
            </a:r>
            <a:r>
              <a:rPr sz="2650" spc="-170" dirty="0">
                <a:latin typeface="Times New Roman"/>
                <a:cs typeface="Times New Roman"/>
              </a:rPr>
              <a:t>v</a:t>
            </a:r>
            <a:r>
              <a:rPr sz="2650" spc="-20" dirty="0">
                <a:latin typeface="Times New Roman"/>
                <a:cs typeface="Times New Roman"/>
              </a:rPr>
              <a:t>e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40550" y="3155269"/>
            <a:ext cx="0" cy="379095"/>
          </a:xfrm>
          <a:custGeom>
            <a:avLst/>
            <a:gdLst/>
            <a:ahLst/>
            <a:cxnLst/>
            <a:rect l="l" t="t" r="r" b="b"/>
            <a:pathLst>
              <a:path h="379095">
                <a:moveTo>
                  <a:pt x="0" y="379099"/>
                </a:moveTo>
                <a:lnTo>
                  <a:pt x="0" y="0"/>
                </a:lnTo>
              </a:path>
            </a:pathLst>
          </a:custGeom>
          <a:ln w="3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612425" y="3448253"/>
            <a:ext cx="67183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650" spc="-459" dirty="0">
                <a:latin typeface="Times New Roman"/>
                <a:cs typeface="Times New Roman"/>
              </a:rPr>
              <a:t>T</a:t>
            </a:r>
            <a:r>
              <a:rPr sz="2650" spc="-25" dirty="0">
                <a:latin typeface="Times New Roman"/>
                <a:cs typeface="Times New Roman"/>
              </a:rPr>
              <a:t>e</a:t>
            </a:r>
            <a:r>
              <a:rPr sz="2650" spc="-165" dirty="0">
                <a:latin typeface="Times New Roman"/>
                <a:cs typeface="Times New Roman"/>
              </a:rPr>
              <a:t>s</a:t>
            </a:r>
            <a:r>
              <a:rPr sz="2650" spc="13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03146" y="2342985"/>
            <a:ext cx="5005070" cy="2801620"/>
            <a:chOff x="1379146" y="2342985"/>
            <a:chExt cx="5005070" cy="2801620"/>
          </a:xfrm>
        </p:grpSpPr>
        <p:sp>
          <p:nvSpPr>
            <p:cNvPr id="25" name="object 25"/>
            <p:cNvSpPr/>
            <p:nvPr/>
          </p:nvSpPr>
          <p:spPr>
            <a:xfrm>
              <a:off x="3716550" y="3914399"/>
              <a:ext cx="0" cy="606425"/>
            </a:xfrm>
            <a:custGeom>
              <a:avLst/>
              <a:gdLst/>
              <a:ahLst/>
              <a:cxnLst/>
              <a:rect l="l" t="t" r="r" b="b"/>
              <a:pathLst>
                <a:path h="606425">
                  <a:moveTo>
                    <a:pt x="0" y="605842"/>
                  </a:moveTo>
                  <a:lnTo>
                    <a:pt x="0" y="0"/>
                  </a:lnTo>
                </a:path>
              </a:pathLst>
            </a:custGeom>
            <a:ln w="326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85328" y="4861736"/>
              <a:ext cx="478790" cy="266700"/>
            </a:xfrm>
            <a:custGeom>
              <a:avLst/>
              <a:gdLst/>
              <a:ahLst/>
              <a:cxnLst/>
              <a:rect l="l" t="t" r="r" b="b"/>
              <a:pathLst>
                <a:path w="478789" h="266700">
                  <a:moveTo>
                    <a:pt x="0" y="0"/>
                  </a:moveTo>
                  <a:lnTo>
                    <a:pt x="109605" y="153288"/>
                  </a:lnTo>
                  <a:lnTo>
                    <a:pt x="0" y="266212"/>
                  </a:lnTo>
                  <a:lnTo>
                    <a:pt x="478329" y="153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95553" y="2359391"/>
              <a:ext cx="1068705" cy="2768600"/>
            </a:xfrm>
            <a:custGeom>
              <a:avLst/>
              <a:gdLst/>
              <a:ahLst/>
              <a:cxnLst/>
              <a:rect l="l" t="t" r="r" b="b"/>
              <a:pathLst>
                <a:path w="1068705" h="2768600">
                  <a:moveTo>
                    <a:pt x="699380" y="2655632"/>
                  </a:moveTo>
                  <a:lnTo>
                    <a:pt x="589775" y="2502344"/>
                  </a:lnTo>
                  <a:lnTo>
                    <a:pt x="1068105" y="2655632"/>
                  </a:lnTo>
                  <a:lnTo>
                    <a:pt x="589775" y="2768556"/>
                  </a:lnTo>
                  <a:lnTo>
                    <a:pt x="699380" y="2655632"/>
                  </a:lnTo>
                </a:path>
                <a:path w="1068705" h="2768600">
                  <a:moveTo>
                    <a:pt x="1068105" y="0"/>
                  </a:moveTo>
                  <a:lnTo>
                    <a:pt x="0" y="0"/>
                  </a:lnTo>
                  <a:lnTo>
                    <a:pt x="0" y="1174975"/>
                  </a:lnTo>
                </a:path>
                <a:path w="1068705" h="2768600">
                  <a:moveTo>
                    <a:pt x="0" y="1517365"/>
                  </a:moveTo>
                  <a:lnTo>
                    <a:pt x="0" y="2655632"/>
                  </a:lnTo>
                  <a:lnTo>
                    <a:pt x="809906" y="2655632"/>
                  </a:lnTo>
                </a:path>
              </a:pathLst>
            </a:custGeom>
            <a:ln w="32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26322" y="4861736"/>
              <a:ext cx="441325" cy="266700"/>
            </a:xfrm>
            <a:custGeom>
              <a:avLst/>
              <a:gdLst/>
              <a:ahLst/>
              <a:cxnLst/>
              <a:rect l="l" t="t" r="r" b="b"/>
              <a:pathLst>
                <a:path w="441325" h="266700">
                  <a:moveTo>
                    <a:pt x="0" y="0"/>
                  </a:moveTo>
                  <a:lnTo>
                    <a:pt x="73266" y="153288"/>
                  </a:lnTo>
                  <a:lnTo>
                    <a:pt x="0" y="266212"/>
                  </a:lnTo>
                  <a:lnTo>
                    <a:pt x="441070" y="153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67601" y="4861736"/>
              <a:ext cx="1400175" cy="266700"/>
            </a:xfrm>
            <a:custGeom>
              <a:avLst/>
              <a:gdLst/>
              <a:ahLst/>
              <a:cxnLst/>
              <a:rect l="l" t="t" r="r" b="b"/>
              <a:pathLst>
                <a:path w="1400175" h="266700">
                  <a:moveTo>
                    <a:pt x="1031988" y="153288"/>
                  </a:moveTo>
                  <a:lnTo>
                    <a:pt x="958721" y="0"/>
                  </a:lnTo>
                  <a:lnTo>
                    <a:pt x="1399792" y="153288"/>
                  </a:lnTo>
                  <a:lnTo>
                    <a:pt x="958721" y="266212"/>
                  </a:lnTo>
                  <a:lnTo>
                    <a:pt x="1031988" y="153288"/>
                  </a:lnTo>
                </a:path>
                <a:path w="1400175" h="266700">
                  <a:moveTo>
                    <a:pt x="0" y="153288"/>
                  </a:moveTo>
                  <a:lnTo>
                    <a:pt x="1104518" y="153288"/>
                  </a:lnTo>
                </a:path>
              </a:pathLst>
            </a:custGeom>
            <a:ln w="32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5357" y="236647"/>
            <a:ext cx="3475354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70" dirty="0"/>
              <a:t>Testing </a:t>
            </a:r>
            <a:r>
              <a:rPr sz="4800" spc="-20" dirty="0"/>
              <a:t>Levels</a:t>
            </a:r>
            <a:endParaRPr sz="4800"/>
          </a:p>
        </p:txBody>
      </p:sp>
      <p:sp>
        <p:nvSpPr>
          <p:cNvPr id="8" name="object 8"/>
          <p:cNvSpPr txBox="1"/>
          <p:nvPr/>
        </p:nvSpPr>
        <p:spPr>
          <a:xfrm>
            <a:off x="3770123" y="1543558"/>
            <a:ext cx="3270885" cy="236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63550">
              <a:spcBef>
                <a:spcPts val="100"/>
              </a:spcBef>
              <a:buChar char="•"/>
              <a:tabLst>
                <a:tab pos="475615" algn="l"/>
                <a:tab pos="476250" algn="l"/>
              </a:tabLst>
            </a:pPr>
            <a:r>
              <a:rPr sz="3000" dirty="0">
                <a:latin typeface="Times New Roman"/>
                <a:cs typeface="Times New Roman"/>
              </a:rPr>
              <a:t>Unit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  <a:buFont typeface="Times New Roman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75615" indent="-463550">
              <a:buChar char="•"/>
              <a:tabLst>
                <a:tab pos="475615" algn="l"/>
                <a:tab pos="476250" algn="l"/>
              </a:tabLst>
            </a:pPr>
            <a:r>
              <a:rPr sz="3000" spc="-5" dirty="0">
                <a:latin typeface="Times New Roman"/>
                <a:cs typeface="Times New Roman"/>
              </a:rPr>
              <a:t>Integration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  <a:buFont typeface="Times New Roman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75615" indent="-463550">
              <a:buChar char="•"/>
              <a:tabLst>
                <a:tab pos="475615" algn="l"/>
                <a:tab pos="476250" algn="l"/>
              </a:tabLst>
            </a:pPr>
            <a:r>
              <a:rPr sz="3000" spc="-5" dirty="0">
                <a:latin typeface="Times New Roman"/>
                <a:cs typeface="Times New Roman"/>
              </a:rPr>
              <a:t>System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737" y="0"/>
            <a:ext cx="8208645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165473" y="84247"/>
            <a:ext cx="3556000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/>
              <a:t>UNIT</a:t>
            </a:r>
            <a:r>
              <a:rPr sz="4800" spc="-55" dirty="0"/>
              <a:t> </a:t>
            </a:r>
            <a:r>
              <a:rPr sz="4800" spc="-25" dirty="0"/>
              <a:t>TESTING</a:t>
            </a:r>
            <a:endParaRPr sz="4800"/>
          </a:p>
        </p:txBody>
      </p:sp>
      <p:grpSp>
        <p:nvGrpSpPr>
          <p:cNvPr id="8" name="object 8"/>
          <p:cNvGrpSpPr/>
          <p:nvPr/>
        </p:nvGrpSpPr>
        <p:grpSpPr>
          <a:xfrm>
            <a:off x="2377439" y="2229867"/>
            <a:ext cx="152400" cy="1350645"/>
            <a:chOff x="853439" y="2229866"/>
            <a:chExt cx="152400" cy="1350645"/>
          </a:xfrm>
        </p:grpSpPr>
        <p:sp>
          <p:nvSpPr>
            <p:cNvPr id="9" name="object 9"/>
            <p:cNvSpPr/>
            <p:nvPr/>
          </p:nvSpPr>
          <p:spPr>
            <a:xfrm>
              <a:off x="853439" y="2229866"/>
              <a:ext cx="152400" cy="1615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3439" y="2824226"/>
              <a:ext cx="152400" cy="1615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3439" y="3418586"/>
              <a:ext cx="152400" cy="1615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2678955" y="2603500"/>
            <a:ext cx="8825659" cy="980974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424180">
              <a:spcBef>
                <a:spcPts val="1660"/>
              </a:spcBef>
            </a:pPr>
            <a:r>
              <a:rPr spc="-40" dirty="0"/>
              <a:t>Tests </a:t>
            </a:r>
            <a:r>
              <a:rPr dirty="0"/>
              <a:t>each module</a:t>
            </a:r>
            <a:r>
              <a:rPr spc="-25" dirty="0"/>
              <a:t> </a:t>
            </a:r>
            <a:r>
              <a:rPr spc="-15" dirty="0"/>
              <a:t>individually.</a:t>
            </a:r>
          </a:p>
          <a:p>
            <a:pPr marL="504825" marR="5080">
              <a:lnSpc>
                <a:spcPct val="150000"/>
              </a:lnSpc>
            </a:pPr>
            <a:r>
              <a:rPr dirty="0"/>
              <a:t>Follows a white </a:t>
            </a:r>
            <a:r>
              <a:rPr spc="5" dirty="0"/>
              <a:t>box </a:t>
            </a:r>
            <a:r>
              <a:rPr spc="-5" dirty="0"/>
              <a:t>testing </a:t>
            </a:r>
            <a:r>
              <a:rPr dirty="0"/>
              <a:t>(Logic of </a:t>
            </a:r>
            <a:r>
              <a:rPr spc="-5" dirty="0"/>
              <a:t>the program).  </a:t>
            </a:r>
            <a:r>
              <a:rPr spc="5" dirty="0"/>
              <a:t>Done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developers.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0843" y="132588"/>
            <a:ext cx="10438228" cy="6858000"/>
            <a:chOff x="915085" y="0"/>
            <a:chExt cx="8228965" cy="6858000"/>
          </a:xfrm>
        </p:grpSpPr>
        <p:sp>
          <p:nvSpPr>
            <p:cNvPr id="3" name="object 3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1435" y="1413764"/>
              <a:ext cx="210312" cy="2103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5085" y="1338325"/>
              <a:ext cx="312051" cy="292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4876" y="88392"/>
              <a:ext cx="6563868" cy="99821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795272" y="1286256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95272" y="2154936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95272" y="2627377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596639" y="3561588"/>
            <a:ext cx="228600" cy="1658620"/>
            <a:chOff x="2072639" y="3561588"/>
            <a:chExt cx="228600" cy="1658620"/>
          </a:xfrm>
        </p:grpSpPr>
        <p:sp>
          <p:nvSpPr>
            <p:cNvPr id="14" name="object 14"/>
            <p:cNvSpPr/>
            <p:nvPr/>
          </p:nvSpPr>
          <p:spPr>
            <a:xfrm>
              <a:off x="2072639" y="3561588"/>
              <a:ext cx="228600" cy="2316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72639" y="4037076"/>
              <a:ext cx="228600" cy="2316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72639" y="4512563"/>
              <a:ext cx="228600" cy="2316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72639" y="4988052"/>
              <a:ext cx="228600" cy="2316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82572" y="1118362"/>
            <a:ext cx="8046084" cy="4169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9905" indent="264795"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Once </a:t>
            </a:r>
            <a:r>
              <a:rPr sz="2600" spc="-5" dirty="0">
                <a:latin typeface="Times New Roman"/>
                <a:cs typeface="Times New Roman"/>
              </a:rPr>
              <a:t>all the </a:t>
            </a:r>
            <a:r>
              <a:rPr sz="2600" dirty="0">
                <a:latin typeface="Times New Roman"/>
                <a:cs typeface="Times New Roman"/>
              </a:rPr>
              <a:t>modules have been unit </a:t>
            </a:r>
            <a:r>
              <a:rPr sz="2600" spc="-5" dirty="0">
                <a:latin typeface="Times New Roman"/>
                <a:cs typeface="Times New Roman"/>
              </a:rPr>
              <a:t>tested,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integration 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performed.</a:t>
            </a:r>
            <a:endParaRPr sz="2600">
              <a:latin typeface="Times New Roman"/>
              <a:cs typeface="Times New Roman"/>
            </a:endParaRPr>
          </a:p>
          <a:p>
            <a:pPr marL="277495"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It is </a:t>
            </a:r>
            <a:r>
              <a:rPr sz="2600" spc="-5" dirty="0">
                <a:latin typeface="Times New Roman"/>
                <a:cs typeface="Times New Roman"/>
              </a:rPr>
              <a:t>systematic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testing.</a:t>
            </a:r>
            <a:endParaRPr sz="2600">
              <a:latin typeface="Times New Roman"/>
              <a:cs typeface="Times New Roman"/>
            </a:endParaRPr>
          </a:p>
          <a:p>
            <a:pPr marL="277495"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Produce </a:t>
            </a:r>
            <a:r>
              <a:rPr sz="2600" spc="-5" dirty="0">
                <a:latin typeface="Times New Roman"/>
                <a:cs typeface="Times New Roman"/>
              </a:rPr>
              <a:t>tests </a:t>
            </a:r>
            <a:r>
              <a:rPr sz="2600" dirty="0">
                <a:latin typeface="Times New Roman"/>
                <a:cs typeface="Times New Roman"/>
              </a:rPr>
              <a:t>to identify </a:t>
            </a:r>
            <a:r>
              <a:rPr sz="2600" spc="-5" dirty="0">
                <a:latin typeface="Times New Roman"/>
                <a:cs typeface="Times New Roman"/>
              </a:rPr>
              <a:t>errors associated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interfacing.</a:t>
            </a:r>
            <a:endParaRPr sz="2600">
              <a:latin typeface="Times New Roman"/>
              <a:cs typeface="Times New Roman"/>
            </a:endParaRPr>
          </a:p>
          <a:p>
            <a:pPr marL="1166495">
              <a:spcBef>
                <a:spcPts val="595"/>
              </a:spcBef>
            </a:pPr>
            <a:r>
              <a:rPr sz="2800" b="1" spc="-40" dirty="0">
                <a:latin typeface="Times New Roman"/>
                <a:cs typeface="Times New Roman"/>
              </a:rPr>
              <a:t>Types:</a:t>
            </a:r>
            <a:endParaRPr sz="2800">
              <a:latin typeface="Times New Roman"/>
              <a:cs typeface="Times New Roman"/>
            </a:endParaRPr>
          </a:p>
          <a:p>
            <a:pPr marL="2286635" marR="1775460" indent="4445">
              <a:lnSpc>
                <a:spcPct val="120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Big Bang Integration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spc="-60" dirty="0">
                <a:latin typeface="Times New Roman"/>
                <a:cs typeface="Times New Roman"/>
              </a:rPr>
              <a:t>Top </a:t>
            </a:r>
            <a:r>
              <a:rPr sz="2600" dirty="0">
                <a:latin typeface="Times New Roman"/>
                <a:cs typeface="Times New Roman"/>
              </a:rPr>
              <a:t>Down Integration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Bottom Up Integration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Mixed Integration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1349" y="0"/>
            <a:ext cx="9557034" cy="6858000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85416" y="278892"/>
              <a:ext cx="2951987" cy="9982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3588" y="278892"/>
              <a:ext cx="2942843" cy="9982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758439" y="4678680"/>
            <a:ext cx="228600" cy="1420495"/>
            <a:chOff x="1234439" y="4678679"/>
            <a:chExt cx="228600" cy="1420495"/>
          </a:xfrm>
        </p:grpSpPr>
        <p:sp>
          <p:nvSpPr>
            <p:cNvPr id="10" name="object 10"/>
            <p:cNvSpPr/>
            <p:nvPr/>
          </p:nvSpPr>
          <p:spPr>
            <a:xfrm>
              <a:off x="1234439" y="4678679"/>
              <a:ext cx="228600" cy="2316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4439" y="5074919"/>
              <a:ext cx="228600" cy="2316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4439" y="5471159"/>
              <a:ext cx="228600" cy="2316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439" y="5867399"/>
              <a:ext cx="228600" cy="2316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46045" y="1240282"/>
            <a:ext cx="6645275" cy="501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" marR="691515">
              <a:spcBef>
                <a:spcPts val="105"/>
              </a:spcBef>
              <a:buFont typeface="Wingdings"/>
              <a:buChar char=""/>
              <a:tabLst>
                <a:tab pos="314960" algn="l"/>
                <a:tab pos="1845945" algn="l"/>
              </a:tabLst>
            </a:pPr>
            <a:r>
              <a:rPr sz="2600" dirty="0">
                <a:latin typeface="Times New Roman"/>
                <a:cs typeface="Times New Roman"/>
              </a:rPr>
              <a:t>The system as a whole is </a:t>
            </a:r>
            <a:r>
              <a:rPr sz="2600" spc="-5" dirty="0">
                <a:latin typeface="Times New Roman"/>
                <a:cs typeface="Times New Roman"/>
              </a:rPr>
              <a:t>tested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uncover  </a:t>
            </a:r>
            <a:r>
              <a:rPr sz="2600" spc="-5" dirty="0">
                <a:latin typeface="Times New Roman"/>
                <a:cs typeface="Times New Roman"/>
              </a:rPr>
              <a:t>requirement	errors.</a:t>
            </a:r>
            <a:endParaRPr sz="260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  <a:buFont typeface="Wingdings"/>
              <a:buChar char=""/>
            </a:pPr>
            <a:endParaRPr sz="3550">
              <a:latin typeface="Times New Roman"/>
              <a:cs typeface="Times New Roman"/>
            </a:endParaRPr>
          </a:p>
          <a:p>
            <a:pPr marL="88265" marR="5080" algn="just">
              <a:spcBef>
                <a:spcPts val="5"/>
              </a:spcBef>
              <a:buFont typeface="Wingdings"/>
              <a:buChar char=""/>
              <a:tabLst>
                <a:tab pos="314960" algn="l"/>
              </a:tabLst>
            </a:pPr>
            <a:r>
              <a:rPr sz="2600" spc="-40" dirty="0">
                <a:latin typeface="Times New Roman"/>
                <a:cs typeface="Times New Roman"/>
              </a:rPr>
              <a:t>Verifies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system </a:t>
            </a:r>
            <a:r>
              <a:rPr sz="2600" spc="-5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work properly  and that overall system function and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performance  has been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achieved.</a:t>
            </a:r>
            <a:endParaRPr sz="260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/>
            <a:r>
              <a:rPr sz="2800" b="1" spc="-40" dirty="0">
                <a:latin typeface="Times New Roman"/>
                <a:cs typeface="Times New Roman"/>
              </a:rPr>
              <a:t>Types:</a:t>
            </a:r>
            <a:endParaRPr sz="2800">
              <a:latin typeface="Times New Roman"/>
              <a:cs typeface="Times New Roman"/>
            </a:endParaRPr>
          </a:p>
          <a:p>
            <a:pPr marL="489584" marR="4314190" indent="-17145">
              <a:spcBef>
                <a:spcPts val="10"/>
              </a:spcBef>
            </a:pPr>
            <a:r>
              <a:rPr sz="2600" dirty="0">
                <a:latin typeface="Times New Roman"/>
                <a:cs typeface="Times New Roman"/>
              </a:rPr>
              <a:t>Alpha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Beta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marL="489584" marR="3418204" indent="-17145"/>
            <a:r>
              <a:rPr sz="2600" dirty="0">
                <a:latin typeface="Times New Roman"/>
                <a:cs typeface="Times New Roman"/>
              </a:rPr>
              <a:t>Acceptance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Performance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8130" y="0"/>
            <a:ext cx="9809922" cy="6858000"/>
            <a:chOff x="915085" y="0"/>
            <a:chExt cx="8228965" cy="6858000"/>
          </a:xfrm>
        </p:grpSpPr>
        <p:sp>
          <p:nvSpPr>
            <p:cNvPr id="3" name="object 3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1435" y="1413764"/>
              <a:ext cx="210312" cy="2103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5085" y="1338325"/>
              <a:ext cx="312051" cy="292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227595" y="243605"/>
            <a:ext cx="8761413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chemeClr val="tx1"/>
                </a:solidFill>
              </a:rPr>
              <a:t>Alpha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spc="-50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82846" y="1054032"/>
            <a:ext cx="9208018" cy="581389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11175" indent="89535">
              <a:lnSpc>
                <a:spcPct val="80000"/>
              </a:lnSpc>
              <a:spcBef>
                <a:spcPts val="800"/>
              </a:spcBef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carried </a:t>
            </a:r>
            <a:r>
              <a:rPr sz="2900" dirty="0">
                <a:latin typeface="Times New Roman"/>
                <a:cs typeface="Times New Roman"/>
              </a:rPr>
              <a:t>out by </a:t>
            </a:r>
            <a:r>
              <a:rPr sz="2900" spc="-5" dirty="0">
                <a:latin typeface="Times New Roman"/>
                <a:cs typeface="Times New Roman"/>
              </a:rPr>
              <a:t>the test team </a:t>
            </a:r>
            <a:r>
              <a:rPr sz="2900" dirty="0">
                <a:latin typeface="Times New Roman"/>
                <a:cs typeface="Times New Roman"/>
              </a:rPr>
              <a:t>within the</a:t>
            </a:r>
            <a:r>
              <a:rPr sz="2900" spc="-1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developing  </a:t>
            </a:r>
            <a:r>
              <a:rPr sz="2900" spc="-5" dirty="0">
                <a:latin typeface="Times New Roman"/>
                <a:cs typeface="Times New Roman"/>
              </a:rPr>
              <a:t>organization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.</a:t>
            </a:r>
          </a:p>
          <a:p>
            <a:pPr marL="2804795">
              <a:lnSpc>
                <a:spcPts val="3929"/>
              </a:lnSpc>
              <a:spcBef>
                <a:spcPts val="2490"/>
              </a:spcBef>
            </a:pPr>
            <a:r>
              <a:rPr sz="3300" b="1" spc="-20" dirty="0">
                <a:solidFill>
                  <a:srgbClr val="4A2103"/>
                </a:solidFill>
                <a:latin typeface="Carlito"/>
                <a:cs typeface="Carlito"/>
              </a:rPr>
              <a:t>Beta</a:t>
            </a:r>
            <a:r>
              <a:rPr sz="3300" b="1" spc="15" dirty="0">
                <a:solidFill>
                  <a:srgbClr val="4A2103"/>
                </a:solidFill>
                <a:latin typeface="Carlito"/>
                <a:cs typeface="Carlito"/>
              </a:rPr>
              <a:t> </a:t>
            </a:r>
            <a:r>
              <a:rPr sz="3300" b="1" spc="-50" dirty="0">
                <a:solidFill>
                  <a:srgbClr val="4A2103"/>
                </a:solidFill>
                <a:latin typeface="Carlito"/>
                <a:cs typeface="Carlito"/>
              </a:rPr>
              <a:t>Testing</a:t>
            </a:r>
            <a:endParaRPr sz="3300" dirty="0">
              <a:latin typeface="Carlito"/>
              <a:cs typeface="Carlito"/>
            </a:endParaRPr>
          </a:p>
          <a:p>
            <a:pPr marL="12700">
              <a:lnSpc>
                <a:spcPts val="3450"/>
              </a:lnSpc>
              <a:tabLst>
                <a:tab pos="5719445" algn="l"/>
              </a:tabLst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performed </a:t>
            </a:r>
            <a:r>
              <a:rPr sz="2900" dirty="0">
                <a:latin typeface="Times New Roman"/>
                <a:cs typeface="Times New Roman"/>
              </a:rPr>
              <a:t>by a </a:t>
            </a:r>
            <a:r>
              <a:rPr sz="2900" spc="-5" dirty="0">
                <a:latin typeface="Times New Roman"/>
                <a:cs typeface="Times New Roman"/>
              </a:rPr>
              <a:t>selected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group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	friendly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customers.</a:t>
            </a:r>
            <a:endParaRPr sz="2900" dirty="0">
              <a:latin typeface="Times New Roman"/>
              <a:cs typeface="Times New Roman"/>
            </a:endParaRPr>
          </a:p>
          <a:p>
            <a:pPr marL="2821940">
              <a:lnSpc>
                <a:spcPts val="3925"/>
              </a:lnSpc>
              <a:spcBef>
                <a:spcPts val="2685"/>
              </a:spcBef>
            </a:pPr>
            <a:r>
              <a:rPr sz="3300" b="1" spc="-5" dirty="0">
                <a:solidFill>
                  <a:srgbClr val="4A2103"/>
                </a:solidFill>
                <a:latin typeface="Carlito"/>
                <a:cs typeface="Carlito"/>
              </a:rPr>
              <a:t>Acceptance</a:t>
            </a:r>
            <a:r>
              <a:rPr sz="3300" b="1" spc="5" dirty="0">
                <a:solidFill>
                  <a:srgbClr val="4A2103"/>
                </a:solidFill>
                <a:latin typeface="Carlito"/>
                <a:cs typeface="Carlito"/>
              </a:rPr>
              <a:t> </a:t>
            </a:r>
            <a:r>
              <a:rPr sz="3300" b="1" spc="-50" dirty="0">
                <a:solidFill>
                  <a:srgbClr val="4A2103"/>
                </a:solidFill>
                <a:latin typeface="Carlito"/>
                <a:cs typeface="Carlito"/>
              </a:rPr>
              <a:t>Testing</a:t>
            </a:r>
            <a:endParaRPr sz="3300" dirty="0">
              <a:latin typeface="Carlito"/>
              <a:cs typeface="Carlito"/>
            </a:endParaRPr>
          </a:p>
          <a:p>
            <a:pPr marL="12700" marR="328930">
              <a:lnSpc>
                <a:spcPct val="80000"/>
              </a:lnSpc>
              <a:spcBef>
                <a:spcPts val="660"/>
              </a:spcBef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performed </a:t>
            </a:r>
            <a:r>
              <a:rPr sz="2900" dirty="0">
                <a:latin typeface="Times New Roman"/>
                <a:cs typeface="Times New Roman"/>
              </a:rPr>
              <a:t>by the </a:t>
            </a:r>
            <a:r>
              <a:rPr sz="2900" spc="-10" dirty="0">
                <a:latin typeface="Times New Roman"/>
                <a:cs typeface="Times New Roman"/>
              </a:rPr>
              <a:t>customer </a:t>
            </a:r>
            <a:r>
              <a:rPr sz="2900" dirty="0">
                <a:latin typeface="Times New Roman"/>
                <a:cs typeface="Times New Roman"/>
              </a:rPr>
              <a:t>to </a:t>
            </a:r>
            <a:r>
              <a:rPr sz="2900" spc="-5" dirty="0">
                <a:latin typeface="Times New Roman"/>
                <a:cs typeface="Times New Roman"/>
              </a:rPr>
              <a:t>determine </a:t>
            </a:r>
            <a:r>
              <a:rPr sz="2900" dirty="0">
                <a:latin typeface="Times New Roman"/>
                <a:cs typeface="Times New Roman"/>
              </a:rPr>
              <a:t>whether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  </a:t>
            </a:r>
            <a:r>
              <a:rPr sz="2900" spc="-5" dirty="0">
                <a:latin typeface="Times New Roman"/>
                <a:cs typeface="Times New Roman"/>
              </a:rPr>
              <a:t>accept </a:t>
            </a:r>
            <a:r>
              <a:rPr sz="2900" dirty="0">
                <a:latin typeface="Times New Roman"/>
                <a:cs typeface="Times New Roman"/>
              </a:rPr>
              <a:t>or </a:t>
            </a:r>
            <a:r>
              <a:rPr sz="2900" spc="-5" dirty="0">
                <a:latin typeface="Times New Roman"/>
                <a:cs typeface="Times New Roman"/>
              </a:rPr>
              <a:t>reject </a:t>
            </a:r>
            <a:r>
              <a:rPr sz="2900" dirty="0">
                <a:latin typeface="Times New Roman"/>
                <a:cs typeface="Times New Roman"/>
              </a:rPr>
              <a:t>the </a:t>
            </a:r>
            <a:r>
              <a:rPr sz="2900" spc="-5" dirty="0">
                <a:latin typeface="Times New Roman"/>
                <a:cs typeface="Times New Roman"/>
              </a:rPr>
              <a:t>delivery </a:t>
            </a:r>
            <a:r>
              <a:rPr sz="2900" dirty="0">
                <a:latin typeface="Times New Roman"/>
                <a:cs typeface="Times New Roman"/>
              </a:rPr>
              <a:t>of the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system.</a:t>
            </a:r>
            <a:endParaRPr sz="29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2890520">
              <a:lnSpc>
                <a:spcPts val="3925"/>
              </a:lnSpc>
            </a:pPr>
            <a:r>
              <a:rPr sz="3300" b="1" spc="-10" dirty="0">
                <a:solidFill>
                  <a:srgbClr val="310D04"/>
                </a:solidFill>
                <a:latin typeface="Carlito"/>
                <a:cs typeface="Carlito"/>
              </a:rPr>
              <a:t>Performance</a:t>
            </a:r>
            <a:r>
              <a:rPr sz="3300" b="1" spc="5" dirty="0">
                <a:solidFill>
                  <a:srgbClr val="310D04"/>
                </a:solidFill>
                <a:latin typeface="Carlito"/>
                <a:cs typeface="Carlito"/>
              </a:rPr>
              <a:t> </a:t>
            </a:r>
            <a:r>
              <a:rPr sz="3300" b="1" spc="-50" dirty="0">
                <a:solidFill>
                  <a:srgbClr val="310D04"/>
                </a:solidFill>
                <a:latin typeface="Carlito"/>
                <a:cs typeface="Carlito"/>
              </a:rPr>
              <a:t>Testing</a:t>
            </a:r>
            <a:endParaRPr sz="3300" dirty="0">
              <a:latin typeface="Carlito"/>
              <a:cs typeface="Carlito"/>
            </a:endParaRPr>
          </a:p>
          <a:p>
            <a:pPr marL="12700" marR="561975">
              <a:lnSpc>
                <a:spcPts val="2780"/>
              </a:lnSpc>
              <a:spcBef>
                <a:spcPts val="645"/>
              </a:spcBef>
            </a:pPr>
            <a:r>
              <a:rPr sz="2900" dirty="0">
                <a:latin typeface="Times New Roman"/>
                <a:cs typeface="Times New Roman"/>
              </a:rPr>
              <a:t>It is carried out to check whether the </a:t>
            </a:r>
            <a:r>
              <a:rPr sz="2900" spc="-5" dirty="0">
                <a:latin typeface="Times New Roman"/>
                <a:cs typeface="Times New Roman"/>
              </a:rPr>
              <a:t>system </a:t>
            </a:r>
            <a:r>
              <a:rPr sz="2900" spc="-10" dirty="0">
                <a:latin typeface="Times New Roman"/>
                <a:cs typeface="Times New Roman"/>
              </a:rPr>
              <a:t>meets</a:t>
            </a:r>
            <a:r>
              <a:rPr sz="2900" spc="-1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  nonfunctional </a:t>
            </a:r>
            <a:r>
              <a:rPr sz="2900" spc="-5" dirty="0">
                <a:latin typeface="Times New Roman"/>
                <a:cs typeface="Times New Roman"/>
              </a:rPr>
              <a:t>requirements </a:t>
            </a:r>
            <a:r>
              <a:rPr sz="2900" dirty="0">
                <a:latin typeface="Times New Roman"/>
                <a:cs typeface="Times New Roman"/>
              </a:rPr>
              <a:t>identified in the SRS  </a:t>
            </a:r>
            <a:r>
              <a:rPr sz="2900" spc="-5" dirty="0">
                <a:latin typeface="Times New Roman"/>
                <a:cs typeface="Times New Roman"/>
              </a:rPr>
              <a:t>document.</a:t>
            </a:r>
            <a:endParaRPr sz="2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39086" y="0"/>
            <a:ext cx="8228965" cy="6858000"/>
            <a:chOff x="915085" y="0"/>
            <a:chExt cx="8228965" cy="6858000"/>
          </a:xfrm>
        </p:grpSpPr>
        <p:sp>
          <p:nvSpPr>
            <p:cNvPr id="3" name="object 3"/>
            <p:cNvSpPr/>
            <p:nvPr/>
          </p:nvSpPr>
          <p:spPr>
            <a:xfrm>
              <a:off x="101282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1435" y="1413764"/>
              <a:ext cx="210312" cy="2103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5085" y="1338325"/>
              <a:ext cx="312051" cy="292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93340" y="-113873"/>
            <a:ext cx="7604125" cy="14901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30" dirty="0">
                <a:solidFill>
                  <a:schemeClr val="tx1"/>
                </a:solidFill>
              </a:rPr>
              <a:t>Types </a:t>
            </a:r>
            <a:r>
              <a:rPr sz="4800" spc="-10" dirty="0">
                <a:solidFill>
                  <a:schemeClr val="tx1"/>
                </a:solidFill>
              </a:rPr>
              <a:t>of </a:t>
            </a:r>
            <a:r>
              <a:rPr sz="4800" spc="-20" dirty="0">
                <a:solidFill>
                  <a:schemeClr val="tx1"/>
                </a:solidFill>
              </a:rPr>
              <a:t>Performance</a:t>
            </a:r>
            <a:r>
              <a:rPr sz="4800" spc="25" dirty="0">
                <a:solidFill>
                  <a:schemeClr val="tx1"/>
                </a:solidFill>
              </a:rPr>
              <a:t> </a:t>
            </a:r>
            <a:r>
              <a:rPr sz="4800" spc="-60" dirty="0">
                <a:solidFill>
                  <a:schemeClr val="tx1"/>
                </a:solidFill>
              </a:rPr>
              <a:t>Testing</a:t>
            </a:r>
            <a:r>
              <a:rPr sz="4800" spc="-60" dirty="0"/>
              <a:t>:</a:t>
            </a:r>
            <a:endParaRPr sz="4800" dirty="0"/>
          </a:p>
        </p:txBody>
      </p:sp>
      <p:sp>
        <p:nvSpPr>
          <p:cNvPr id="9" name="object 9"/>
          <p:cNvSpPr/>
          <p:nvPr/>
        </p:nvSpPr>
        <p:spPr>
          <a:xfrm>
            <a:off x="1871472" y="1729740"/>
            <a:ext cx="178308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1472" y="2200656"/>
            <a:ext cx="178308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71472" y="2673096"/>
            <a:ext cx="178308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71472" y="3145536"/>
            <a:ext cx="178308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1472" y="3617976"/>
            <a:ext cx="178308" cy="184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71472" y="4090415"/>
            <a:ext cx="178308" cy="184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71472" y="4562855"/>
            <a:ext cx="178308" cy="184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1472" y="5035296"/>
            <a:ext cx="178308" cy="184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1472" y="5507736"/>
            <a:ext cx="178308" cy="1844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61818" y="1487398"/>
            <a:ext cx="3109595" cy="4276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87325" indent="8890">
              <a:lnSpc>
                <a:spcPct val="119200"/>
              </a:lnSpc>
              <a:spcBef>
                <a:spcPts val="90"/>
              </a:spcBef>
            </a:pPr>
            <a:r>
              <a:rPr sz="2600" spc="-5" dirty="0">
                <a:latin typeface="Times New Roman"/>
                <a:cs typeface="Times New Roman"/>
              </a:rPr>
              <a:t>Stress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spc="-60" dirty="0">
                <a:latin typeface="Times New Roman"/>
                <a:cs typeface="Times New Roman"/>
              </a:rPr>
              <a:t>Volume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Configuration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spc="-5" dirty="0">
                <a:latin typeface="Times New Roman"/>
                <a:cs typeface="Times New Roman"/>
              </a:rPr>
              <a:t>Compatibility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Regression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Recovery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Maintenance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marL="18415" marR="5080">
              <a:lnSpc>
                <a:spcPts val="3720"/>
              </a:lnSpc>
              <a:spcBef>
                <a:spcPts val="225"/>
              </a:spcBef>
            </a:pPr>
            <a:r>
              <a:rPr sz="2600" dirty="0">
                <a:latin typeface="Times New Roman"/>
                <a:cs typeface="Times New Roman"/>
              </a:rPr>
              <a:t>Documentation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Usability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385" y="112542"/>
            <a:ext cx="9964997" cy="6745458"/>
            <a:chOff x="935736" y="0"/>
            <a:chExt cx="8208645" cy="6858000"/>
          </a:xfrm>
        </p:grpSpPr>
        <p:sp>
          <p:nvSpPr>
            <p:cNvPr id="3" name="object 3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14412" y="0"/>
              <a:ext cx="8129905" cy="6858000"/>
            </a:xfrm>
            <a:custGeom>
              <a:avLst/>
              <a:gdLst/>
              <a:ahLst/>
              <a:cxnLst/>
              <a:rect l="l" t="t" r="r" b="b"/>
              <a:pathLst>
                <a:path w="8129905" h="6858000">
                  <a:moveTo>
                    <a:pt x="81295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29524" y="6858000"/>
                  </a:lnTo>
                  <a:lnTo>
                    <a:pt x="8129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5736" y="0"/>
              <a:ext cx="155447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4412" y="0"/>
              <a:ext cx="73025" cy="6858000"/>
            </a:xfrm>
            <a:custGeom>
              <a:avLst/>
              <a:gdLst/>
              <a:ahLst/>
              <a:cxnLst/>
              <a:rect l="l" t="t" r="r" b="b"/>
              <a:pathLst>
                <a:path w="73025" h="6858000">
                  <a:moveTo>
                    <a:pt x="730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025" y="6858000"/>
                  </a:lnTo>
                  <a:lnTo>
                    <a:pt x="73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7951" y="377379"/>
            <a:ext cx="4048086" cy="75148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spc="-5" dirty="0">
                <a:solidFill>
                  <a:schemeClr val="tx1"/>
                </a:solidFill>
              </a:rPr>
              <a:t>DISCUSSION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6431" y="1545083"/>
            <a:ext cx="8910233" cy="45762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 marR="445770">
              <a:spcBef>
                <a:spcPts val="105"/>
              </a:spcBef>
              <a:buFont typeface="Wingdings"/>
              <a:buChar char=""/>
              <a:tabLst>
                <a:tab pos="396875" algn="l"/>
              </a:tabLst>
            </a:pPr>
            <a:r>
              <a:rPr sz="2600" dirty="0">
                <a:latin typeface="Times New Roman"/>
                <a:cs typeface="Times New Roman"/>
              </a:rPr>
              <a:t>In order to be cost </a:t>
            </a:r>
            <a:r>
              <a:rPr sz="2600" spc="-10" dirty="0">
                <a:latin typeface="Times New Roman"/>
                <a:cs typeface="Times New Roman"/>
              </a:rPr>
              <a:t>effective, </a:t>
            </a:r>
            <a:r>
              <a:rPr sz="2600" spc="-5" dirty="0">
                <a:latin typeface="Times New Roman"/>
                <a:cs typeface="Times New Roman"/>
              </a:rPr>
              <a:t>the testing must </a:t>
            </a:r>
            <a:r>
              <a:rPr sz="2600" spc="5" dirty="0">
                <a:latin typeface="Times New Roman"/>
                <a:cs typeface="Times New Roman"/>
              </a:rPr>
              <a:t>be  </a:t>
            </a:r>
            <a:r>
              <a:rPr sz="2600" dirty="0">
                <a:latin typeface="Times New Roman"/>
                <a:cs typeface="Times New Roman"/>
              </a:rPr>
              <a:t>concentrated on </a:t>
            </a:r>
            <a:r>
              <a:rPr sz="2600" spc="-5" dirty="0">
                <a:latin typeface="Times New Roman"/>
                <a:cs typeface="Times New Roman"/>
              </a:rPr>
              <a:t>areas </a:t>
            </a:r>
            <a:r>
              <a:rPr sz="2600" dirty="0">
                <a:latin typeface="Times New Roman"/>
                <a:cs typeface="Times New Roman"/>
              </a:rPr>
              <a:t>where it will be </a:t>
            </a:r>
            <a:r>
              <a:rPr sz="2600" spc="-5" dirty="0">
                <a:latin typeface="Times New Roman"/>
                <a:cs typeface="Times New Roman"/>
              </a:rPr>
              <a:t>most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effective.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88900" marR="5080" algn="just">
              <a:buFont typeface="Wingdings"/>
              <a:buChar char=""/>
              <a:tabLst>
                <a:tab pos="314960" algn="l"/>
              </a:tabLst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should be planned such that when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is  stopped for whatever </a:t>
            </a:r>
            <a:r>
              <a:rPr sz="2600" spc="-5" dirty="0">
                <a:latin typeface="Times New Roman"/>
                <a:cs typeface="Times New Roman"/>
              </a:rPr>
              <a:t>reason,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most </a:t>
            </a:r>
            <a:r>
              <a:rPr sz="2600" spc="-10" dirty="0">
                <a:latin typeface="Times New Roman"/>
                <a:cs typeface="Times New Roman"/>
              </a:rPr>
              <a:t>effective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in  the </a:t>
            </a:r>
            <a:r>
              <a:rPr sz="2600" spc="-5" dirty="0">
                <a:latin typeface="Times New Roman"/>
                <a:cs typeface="Times New Roman"/>
              </a:rPr>
              <a:t>time </a:t>
            </a:r>
            <a:r>
              <a:rPr sz="2600" dirty="0">
                <a:latin typeface="Times New Roman"/>
                <a:cs typeface="Times New Roman"/>
              </a:rPr>
              <a:t>allotted has </a:t>
            </a:r>
            <a:r>
              <a:rPr sz="2600" spc="-5" dirty="0">
                <a:latin typeface="Times New Roman"/>
                <a:cs typeface="Times New Roman"/>
              </a:rPr>
              <a:t>already </a:t>
            </a:r>
            <a:r>
              <a:rPr sz="2600" dirty="0">
                <a:latin typeface="Times New Roman"/>
                <a:cs typeface="Times New Roman"/>
              </a:rPr>
              <a:t>been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done.</a:t>
            </a:r>
          </a:p>
          <a:p>
            <a:pPr>
              <a:spcBef>
                <a:spcPts val="15"/>
              </a:spcBef>
            </a:pPr>
            <a:endParaRPr sz="3850" dirty="0">
              <a:latin typeface="Times New Roman"/>
              <a:cs typeface="Times New Roman"/>
            </a:endParaRPr>
          </a:p>
          <a:p>
            <a:pPr marL="12700" marR="532130">
              <a:buFont typeface="Wingdings"/>
              <a:buChar char=""/>
              <a:tabLst>
                <a:tab pos="238760" algn="l"/>
              </a:tabLst>
            </a:pPr>
            <a:r>
              <a:rPr sz="2600" dirty="0">
                <a:latin typeface="Times New Roman"/>
                <a:cs typeface="Times New Roman"/>
              </a:rPr>
              <a:t>The absence of an </a:t>
            </a:r>
            <a:r>
              <a:rPr sz="2600" spc="-5" dirty="0">
                <a:latin typeface="Times New Roman"/>
                <a:cs typeface="Times New Roman"/>
              </a:rPr>
              <a:t>organizational testing </a:t>
            </a:r>
            <a:r>
              <a:rPr sz="2600" dirty="0">
                <a:latin typeface="Times New Roman"/>
                <a:cs typeface="Times New Roman"/>
              </a:rPr>
              <a:t>policy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may  result </a:t>
            </a:r>
            <a:r>
              <a:rPr sz="2600" dirty="0">
                <a:latin typeface="Times New Roman"/>
                <a:cs typeface="Times New Roman"/>
              </a:rPr>
              <a:t>in too much </a:t>
            </a:r>
            <a:r>
              <a:rPr sz="2600" spc="-10" dirty="0">
                <a:latin typeface="Times New Roman"/>
                <a:cs typeface="Times New Roman"/>
              </a:rPr>
              <a:t>effort </a:t>
            </a:r>
            <a:r>
              <a:rPr sz="2600" dirty="0">
                <a:latin typeface="Times New Roman"/>
                <a:cs typeface="Times New Roman"/>
              </a:rPr>
              <a:t>and money will be spent on  </a:t>
            </a:r>
            <a:r>
              <a:rPr sz="2600" spc="-5" dirty="0">
                <a:latin typeface="Times New Roman"/>
                <a:cs typeface="Times New Roman"/>
              </a:rPr>
              <a:t>testing, attempting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achieve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level </a:t>
            </a:r>
            <a:r>
              <a:rPr sz="2600" dirty="0">
                <a:latin typeface="Times New Roman"/>
                <a:cs typeface="Times New Roman"/>
              </a:rPr>
              <a:t>of quality that </a:t>
            </a:r>
            <a:r>
              <a:rPr sz="2600" spc="-5" dirty="0">
                <a:latin typeface="Times New Roman"/>
                <a:cs typeface="Times New Roman"/>
              </a:rPr>
              <a:t>is  impossible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unnecessary.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3393</TotalTime>
  <Words>581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Carlito</vt:lpstr>
      <vt:lpstr>Century Gothic</vt:lpstr>
      <vt:lpstr>Times New Roman</vt:lpstr>
      <vt:lpstr>Wingdings</vt:lpstr>
      <vt:lpstr>Wingdings 3</vt:lpstr>
      <vt:lpstr>Ion Boardroom</vt:lpstr>
      <vt:lpstr>      BSSE    -Software Quality Engineering      Week-5  Lecture 9  Semester 6- Fall 2020</vt:lpstr>
      <vt:lpstr>PowerPoint Presentation</vt:lpstr>
      <vt:lpstr>SDlC(Software Development Life Cycle)</vt:lpstr>
      <vt:lpstr>PowerPoint Presentation</vt:lpstr>
      <vt:lpstr>Testing Life Cycle</vt:lpstr>
      <vt:lpstr>PowerPoint Presentation</vt:lpstr>
      <vt:lpstr>Test Case</vt:lpstr>
      <vt:lpstr>PowerPoint Presentation</vt:lpstr>
      <vt:lpstr>Black box testing</vt:lpstr>
      <vt:lpstr>Black box testing</vt:lpstr>
      <vt:lpstr>White box testing</vt:lpstr>
      <vt:lpstr>Testing Levels</vt:lpstr>
      <vt:lpstr>UNIT TESTING</vt:lpstr>
      <vt:lpstr>PowerPoint Presentation</vt:lpstr>
      <vt:lpstr>PowerPoint Presentation</vt:lpstr>
      <vt:lpstr>Alpha Testing</vt:lpstr>
      <vt:lpstr>Types of Performance Testing: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</dc:title>
  <dc:creator>Zarsha</dc:creator>
  <cp:lastModifiedBy>Zarsha</cp:lastModifiedBy>
  <cp:revision>17</cp:revision>
  <dcterms:created xsi:type="dcterms:W3CDTF">2019-10-13T12:26:15Z</dcterms:created>
  <dcterms:modified xsi:type="dcterms:W3CDTF">2020-03-25T21:47:54Z</dcterms:modified>
</cp:coreProperties>
</file>