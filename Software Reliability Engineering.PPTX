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80" r:id="rId19"/>
    <p:sldId id="281" r:id="rId20"/>
    <p:sldId id="282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38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6215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9928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613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7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937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036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689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530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41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937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721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618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7912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25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1716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040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9A55AB8-B99F-4B2D-8867-2A11E1712A20}" type="datetimeFigureOut">
              <a:rPr lang="en-US" smtClean="0"/>
              <a:t>5/10/2020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0B450C34-5DEE-4E87-91B0-A25D9C4943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602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g"/><Relationship Id="rId5" Type="http://schemas.openxmlformats.org/officeDocument/2006/relationships/image" Target="../media/image20.jp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g"/><Relationship Id="rId5" Type="http://schemas.openxmlformats.org/officeDocument/2006/relationships/image" Target="../media/image35.jpg"/><Relationship Id="rId4" Type="http://schemas.openxmlformats.org/officeDocument/2006/relationships/image" Target="../media/image3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43.jpg"/><Relationship Id="rId7" Type="http://schemas.openxmlformats.org/officeDocument/2006/relationships/image" Target="../media/image47.png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jpg"/><Relationship Id="rId2" Type="http://schemas.openxmlformats.org/officeDocument/2006/relationships/image" Target="../media/image6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5.jpg"/><Relationship Id="rId5" Type="http://schemas.openxmlformats.org/officeDocument/2006/relationships/image" Target="../media/image64.jpg"/><Relationship Id="rId4" Type="http://schemas.openxmlformats.org/officeDocument/2006/relationships/image" Target="../media/image6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7" Type="http://schemas.openxmlformats.org/officeDocument/2006/relationships/image" Target="../media/image71.jpg"/><Relationship Id="rId2" Type="http://schemas.openxmlformats.org/officeDocument/2006/relationships/image" Target="../media/image66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5" Type="http://schemas.openxmlformats.org/officeDocument/2006/relationships/image" Target="../media/image69.jpg"/><Relationship Id="rId4" Type="http://schemas.openxmlformats.org/officeDocument/2006/relationships/image" Target="../media/image6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6.jpg"/><Relationship Id="rId5" Type="http://schemas.openxmlformats.org/officeDocument/2006/relationships/image" Target="../media/image75.jpg"/><Relationship Id="rId4" Type="http://schemas.openxmlformats.org/officeDocument/2006/relationships/image" Target="../media/image74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jpg"/><Relationship Id="rId2" Type="http://schemas.openxmlformats.org/officeDocument/2006/relationships/image" Target="../media/image7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jpg"/><Relationship Id="rId5" Type="http://schemas.openxmlformats.org/officeDocument/2006/relationships/image" Target="../media/image80.jpg"/><Relationship Id="rId4" Type="http://schemas.openxmlformats.org/officeDocument/2006/relationships/image" Target="../media/image79.jp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6.jpg"/><Relationship Id="rId4" Type="http://schemas.openxmlformats.org/officeDocument/2006/relationships/image" Target="../media/image8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BEDC7-927F-4BFD-89D3-1E5293861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6BA0F-F2C9-4131-A9F2-D264F838AB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3745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115715" y="4345319"/>
            <a:ext cx="7776626" cy="626102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3993" b="1" spc="-5" dirty="0">
                <a:solidFill>
                  <a:srgbClr val="FFFFFF"/>
                </a:solidFill>
                <a:latin typeface="Arial"/>
                <a:cs typeface="Arial"/>
              </a:rPr>
              <a:t>Software Reliability Engineering</a:t>
            </a:r>
            <a:endParaRPr sz="3993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7484" y="5233285"/>
            <a:ext cx="1207930" cy="26311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Mark</a:t>
            </a:r>
            <a:r>
              <a:rPr sz="1634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34" b="1" spc="-23" dirty="0">
                <a:solidFill>
                  <a:srgbClr val="FFFFFF"/>
                </a:solidFill>
                <a:latin typeface="Arial"/>
                <a:cs typeface="Arial"/>
              </a:rPr>
              <a:t>Turner</a:t>
            </a:r>
            <a:endParaRPr sz="1634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A22F27-94DC-43BC-B943-D10EB62D21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962" t="21935" r="20962" b="19840"/>
          <a:stretch/>
        </p:blipFill>
        <p:spPr>
          <a:xfrm>
            <a:off x="1268920" y="323036"/>
            <a:ext cx="8623421" cy="59964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93728" y="332577"/>
            <a:ext cx="5294491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9" dirty="0"/>
              <a:t>Different </a:t>
            </a:r>
            <a:r>
              <a:rPr spc="-5" dirty="0"/>
              <a:t>Views of</a:t>
            </a:r>
            <a:r>
              <a:rPr spc="45" dirty="0"/>
              <a:t> </a:t>
            </a:r>
            <a:r>
              <a:rPr spc="-5" dirty="0"/>
              <a:t>Reliability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7473466" y="2994873"/>
            <a:ext cx="1390042" cy="2865952"/>
            <a:chOff x="8104509" y="1778508"/>
            <a:chExt cx="1531620" cy="3157855"/>
          </a:xfrm>
        </p:grpSpPr>
        <p:sp>
          <p:nvSpPr>
            <p:cNvPr id="5" name="object 5"/>
            <p:cNvSpPr/>
            <p:nvPr/>
          </p:nvSpPr>
          <p:spPr>
            <a:xfrm>
              <a:off x="8109081" y="1938528"/>
              <a:ext cx="1527175" cy="2992120"/>
            </a:xfrm>
            <a:custGeom>
              <a:avLst/>
              <a:gdLst/>
              <a:ahLst/>
              <a:cxnLst/>
              <a:rect l="l" t="t" r="r" b="b"/>
              <a:pathLst>
                <a:path w="1527175" h="2992120">
                  <a:moveTo>
                    <a:pt x="1527047" y="2837687"/>
                  </a:moveTo>
                  <a:lnTo>
                    <a:pt x="1527047" y="0"/>
                  </a:lnTo>
                  <a:lnTo>
                    <a:pt x="1523557" y="14891"/>
                  </a:lnTo>
                  <a:lnTo>
                    <a:pt x="1513297" y="29399"/>
                  </a:lnTo>
                  <a:lnTo>
                    <a:pt x="1473743" y="56996"/>
                  </a:lnTo>
                  <a:lnTo>
                    <a:pt x="1410932" y="82256"/>
                  </a:lnTo>
                  <a:lnTo>
                    <a:pt x="1371600" y="93842"/>
                  </a:lnTo>
                  <a:lnTo>
                    <a:pt x="1327409" y="104643"/>
                  </a:lnTo>
                  <a:lnTo>
                    <a:pt x="1278677" y="114591"/>
                  </a:lnTo>
                  <a:lnTo>
                    <a:pt x="1225722" y="123619"/>
                  </a:lnTo>
                  <a:lnTo>
                    <a:pt x="1168862" y="131662"/>
                  </a:lnTo>
                  <a:lnTo>
                    <a:pt x="1108415" y="138650"/>
                  </a:lnTo>
                  <a:lnTo>
                    <a:pt x="1044700" y="144519"/>
                  </a:lnTo>
                  <a:lnTo>
                    <a:pt x="978035" y="149199"/>
                  </a:lnTo>
                  <a:lnTo>
                    <a:pt x="908739" y="152626"/>
                  </a:lnTo>
                  <a:lnTo>
                    <a:pt x="837129" y="154731"/>
                  </a:lnTo>
                  <a:lnTo>
                    <a:pt x="763523" y="155447"/>
                  </a:lnTo>
                  <a:lnTo>
                    <a:pt x="689918" y="154731"/>
                  </a:lnTo>
                  <a:lnTo>
                    <a:pt x="618308" y="152626"/>
                  </a:lnTo>
                  <a:lnTo>
                    <a:pt x="549012" y="149199"/>
                  </a:lnTo>
                  <a:lnTo>
                    <a:pt x="482347" y="144519"/>
                  </a:lnTo>
                  <a:lnTo>
                    <a:pt x="418632" y="138650"/>
                  </a:lnTo>
                  <a:lnTo>
                    <a:pt x="358185" y="131662"/>
                  </a:lnTo>
                  <a:lnTo>
                    <a:pt x="301325" y="123619"/>
                  </a:lnTo>
                  <a:lnTo>
                    <a:pt x="248370" y="114591"/>
                  </a:lnTo>
                  <a:lnTo>
                    <a:pt x="199638" y="104643"/>
                  </a:lnTo>
                  <a:lnTo>
                    <a:pt x="155447" y="93842"/>
                  </a:lnTo>
                  <a:lnTo>
                    <a:pt x="116115" y="82256"/>
                  </a:lnTo>
                  <a:lnTo>
                    <a:pt x="53304" y="56996"/>
                  </a:lnTo>
                  <a:lnTo>
                    <a:pt x="13750" y="29399"/>
                  </a:lnTo>
                  <a:lnTo>
                    <a:pt x="0" y="0"/>
                  </a:lnTo>
                  <a:lnTo>
                    <a:pt x="0" y="2837687"/>
                  </a:lnTo>
                  <a:lnTo>
                    <a:pt x="30461" y="2881019"/>
                  </a:lnTo>
                  <a:lnTo>
                    <a:pt x="81961" y="2907322"/>
                  </a:lnTo>
                  <a:lnTo>
                    <a:pt x="155447" y="2930968"/>
                  </a:lnTo>
                  <a:lnTo>
                    <a:pt x="199638" y="2941636"/>
                  </a:lnTo>
                  <a:lnTo>
                    <a:pt x="248370" y="2951450"/>
                  </a:lnTo>
                  <a:lnTo>
                    <a:pt x="301325" y="2960346"/>
                  </a:lnTo>
                  <a:lnTo>
                    <a:pt x="358185" y="2968261"/>
                  </a:lnTo>
                  <a:lnTo>
                    <a:pt x="418632" y="2975132"/>
                  </a:lnTo>
                  <a:lnTo>
                    <a:pt x="482347" y="2980896"/>
                  </a:lnTo>
                  <a:lnTo>
                    <a:pt x="549012" y="2985489"/>
                  </a:lnTo>
                  <a:lnTo>
                    <a:pt x="618308" y="2988848"/>
                  </a:lnTo>
                  <a:lnTo>
                    <a:pt x="689918" y="2990910"/>
                  </a:lnTo>
                  <a:lnTo>
                    <a:pt x="763523" y="2991611"/>
                  </a:lnTo>
                  <a:lnTo>
                    <a:pt x="837129" y="2990910"/>
                  </a:lnTo>
                  <a:lnTo>
                    <a:pt x="908739" y="2988848"/>
                  </a:lnTo>
                  <a:lnTo>
                    <a:pt x="978035" y="2985489"/>
                  </a:lnTo>
                  <a:lnTo>
                    <a:pt x="1044700" y="2980896"/>
                  </a:lnTo>
                  <a:lnTo>
                    <a:pt x="1108415" y="2975132"/>
                  </a:lnTo>
                  <a:lnTo>
                    <a:pt x="1168862" y="2968261"/>
                  </a:lnTo>
                  <a:lnTo>
                    <a:pt x="1225722" y="2960346"/>
                  </a:lnTo>
                  <a:lnTo>
                    <a:pt x="1278677" y="2951450"/>
                  </a:lnTo>
                  <a:lnTo>
                    <a:pt x="1327409" y="2941636"/>
                  </a:lnTo>
                  <a:lnTo>
                    <a:pt x="1371600" y="2930968"/>
                  </a:lnTo>
                  <a:lnTo>
                    <a:pt x="1410932" y="2919509"/>
                  </a:lnTo>
                  <a:lnTo>
                    <a:pt x="1473743" y="2894471"/>
                  </a:lnTo>
                  <a:lnTo>
                    <a:pt x="1513297" y="2867028"/>
                  </a:lnTo>
                  <a:lnTo>
                    <a:pt x="1523557" y="2852564"/>
                  </a:lnTo>
                  <a:lnTo>
                    <a:pt x="1527047" y="2837687"/>
                  </a:lnTo>
                  <a:close/>
                </a:path>
              </a:pathLst>
            </a:custGeom>
            <a:solidFill>
              <a:srgbClr val="65CC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" name="object 6"/>
            <p:cNvSpPr/>
            <p:nvPr/>
          </p:nvSpPr>
          <p:spPr>
            <a:xfrm>
              <a:off x="8109081" y="1783080"/>
              <a:ext cx="1527175" cy="311150"/>
            </a:xfrm>
            <a:custGeom>
              <a:avLst/>
              <a:gdLst/>
              <a:ahLst/>
              <a:cxnLst/>
              <a:rect l="l" t="t" r="r" b="b"/>
              <a:pathLst>
                <a:path w="1527175" h="311150">
                  <a:moveTo>
                    <a:pt x="1527047" y="155447"/>
                  </a:moveTo>
                  <a:lnTo>
                    <a:pt x="1496586" y="111444"/>
                  </a:lnTo>
                  <a:lnTo>
                    <a:pt x="1445086" y="84825"/>
                  </a:lnTo>
                  <a:lnTo>
                    <a:pt x="1371600" y="60953"/>
                  </a:lnTo>
                  <a:lnTo>
                    <a:pt x="1327409" y="50201"/>
                  </a:lnTo>
                  <a:lnTo>
                    <a:pt x="1278677" y="40320"/>
                  </a:lnTo>
                  <a:lnTo>
                    <a:pt x="1225722" y="31372"/>
                  </a:lnTo>
                  <a:lnTo>
                    <a:pt x="1168862" y="23417"/>
                  </a:lnTo>
                  <a:lnTo>
                    <a:pt x="1108415" y="16518"/>
                  </a:lnTo>
                  <a:lnTo>
                    <a:pt x="1044700" y="10735"/>
                  </a:lnTo>
                  <a:lnTo>
                    <a:pt x="978035" y="6130"/>
                  </a:lnTo>
                  <a:lnTo>
                    <a:pt x="908739" y="2765"/>
                  </a:lnTo>
                  <a:lnTo>
                    <a:pt x="837129" y="701"/>
                  </a:lnTo>
                  <a:lnTo>
                    <a:pt x="763523" y="0"/>
                  </a:lnTo>
                  <a:lnTo>
                    <a:pt x="689918" y="701"/>
                  </a:lnTo>
                  <a:lnTo>
                    <a:pt x="618308" y="2765"/>
                  </a:lnTo>
                  <a:lnTo>
                    <a:pt x="549012" y="6130"/>
                  </a:lnTo>
                  <a:lnTo>
                    <a:pt x="482347" y="10735"/>
                  </a:lnTo>
                  <a:lnTo>
                    <a:pt x="418632" y="16518"/>
                  </a:lnTo>
                  <a:lnTo>
                    <a:pt x="358185" y="23417"/>
                  </a:lnTo>
                  <a:lnTo>
                    <a:pt x="301325" y="31372"/>
                  </a:lnTo>
                  <a:lnTo>
                    <a:pt x="248370" y="40320"/>
                  </a:lnTo>
                  <a:lnTo>
                    <a:pt x="199638" y="50201"/>
                  </a:lnTo>
                  <a:lnTo>
                    <a:pt x="155447" y="60953"/>
                  </a:lnTo>
                  <a:lnTo>
                    <a:pt x="116115" y="72515"/>
                  </a:lnTo>
                  <a:lnTo>
                    <a:pt x="53304" y="97821"/>
                  </a:lnTo>
                  <a:lnTo>
                    <a:pt x="13750" y="125629"/>
                  </a:lnTo>
                  <a:lnTo>
                    <a:pt x="0" y="155447"/>
                  </a:lnTo>
                  <a:lnTo>
                    <a:pt x="3490" y="170339"/>
                  </a:lnTo>
                  <a:lnTo>
                    <a:pt x="30461" y="198904"/>
                  </a:lnTo>
                  <a:lnTo>
                    <a:pt x="81961" y="225400"/>
                  </a:lnTo>
                  <a:lnTo>
                    <a:pt x="155447" y="249290"/>
                  </a:lnTo>
                  <a:lnTo>
                    <a:pt x="199638" y="260091"/>
                  </a:lnTo>
                  <a:lnTo>
                    <a:pt x="248370" y="270039"/>
                  </a:lnTo>
                  <a:lnTo>
                    <a:pt x="301325" y="279067"/>
                  </a:lnTo>
                  <a:lnTo>
                    <a:pt x="358185" y="287110"/>
                  </a:lnTo>
                  <a:lnTo>
                    <a:pt x="418632" y="294098"/>
                  </a:lnTo>
                  <a:lnTo>
                    <a:pt x="482347" y="299967"/>
                  </a:lnTo>
                  <a:lnTo>
                    <a:pt x="549012" y="304647"/>
                  </a:lnTo>
                  <a:lnTo>
                    <a:pt x="618308" y="308074"/>
                  </a:lnTo>
                  <a:lnTo>
                    <a:pt x="689918" y="310179"/>
                  </a:lnTo>
                  <a:lnTo>
                    <a:pt x="763523" y="310895"/>
                  </a:lnTo>
                  <a:lnTo>
                    <a:pt x="837129" y="310179"/>
                  </a:lnTo>
                  <a:lnTo>
                    <a:pt x="908739" y="308074"/>
                  </a:lnTo>
                  <a:lnTo>
                    <a:pt x="978035" y="304647"/>
                  </a:lnTo>
                  <a:lnTo>
                    <a:pt x="1044700" y="299967"/>
                  </a:lnTo>
                  <a:lnTo>
                    <a:pt x="1108415" y="294098"/>
                  </a:lnTo>
                  <a:lnTo>
                    <a:pt x="1168862" y="287110"/>
                  </a:lnTo>
                  <a:lnTo>
                    <a:pt x="1225722" y="279067"/>
                  </a:lnTo>
                  <a:lnTo>
                    <a:pt x="1278677" y="270039"/>
                  </a:lnTo>
                  <a:lnTo>
                    <a:pt x="1327409" y="260091"/>
                  </a:lnTo>
                  <a:lnTo>
                    <a:pt x="1371600" y="249290"/>
                  </a:lnTo>
                  <a:lnTo>
                    <a:pt x="1410932" y="237704"/>
                  </a:lnTo>
                  <a:lnTo>
                    <a:pt x="1473743" y="212444"/>
                  </a:lnTo>
                  <a:lnTo>
                    <a:pt x="1513297" y="184847"/>
                  </a:lnTo>
                  <a:lnTo>
                    <a:pt x="1527047" y="155447"/>
                  </a:lnTo>
                  <a:close/>
                </a:path>
              </a:pathLst>
            </a:custGeom>
            <a:solidFill>
              <a:srgbClr val="A2E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7" name="object 7"/>
            <p:cNvSpPr/>
            <p:nvPr/>
          </p:nvSpPr>
          <p:spPr>
            <a:xfrm>
              <a:off x="8104509" y="1778508"/>
              <a:ext cx="1524000" cy="3157855"/>
            </a:xfrm>
            <a:custGeom>
              <a:avLst/>
              <a:gdLst/>
              <a:ahLst/>
              <a:cxnLst/>
              <a:rect l="l" t="t" r="r" b="b"/>
              <a:pathLst>
                <a:path w="1524000" h="3157854">
                  <a:moveTo>
                    <a:pt x="1524000" y="153924"/>
                  </a:moveTo>
                  <a:lnTo>
                    <a:pt x="1524000" y="132588"/>
                  </a:lnTo>
                  <a:lnTo>
                    <a:pt x="1498600" y="117348"/>
                  </a:lnTo>
                  <a:lnTo>
                    <a:pt x="1498600" y="109728"/>
                  </a:lnTo>
                  <a:lnTo>
                    <a:pt x="1473200" y="94488"/>
                  </a:lnTo>
                  <a:lnTo>
                    <a:pt x="1447800" y="88392"/>
                  </a:lnTo>
                  <a:lnTo>
                    <a:pt x="1435100" y="80772"/>
                  </a:lnTo>
                  <a:lnTo>
                    <a:pt x="1397000" y="68580"/>
                  </a:lnTo>
                  <a:lnTo>
                    <a:pt x="1371600" y="62484"/>
                  </a:lnTo>
                  <a:lnTo>
                    <a:pt x="1333500" y="50292"/>
                  </a:lnTo>
                  <a:lnTo>
                    <a:pt x="1308100" y="45720"/>
                  </a:lnTo>
                  <a:lnTo>
                    <a:pt x="1282700" y="39624"/>
                  </a:lnTo>
                  <a:lnTo>
                    <a:pt x="1193800" y="25908"/>
                  </a:lnTo>
                  <a:lnTo>
                    <a:pt x="1155700" y="21336"/>
                  </a:lnTo>
                  <a:lnTo>
                    <a:pt x="1092200" y="15240"/>
                  </a:lnTo>
                  <a:lnTo>
                    <a:pt x="1054100" y="12192"/>
                  </a:lnTo>
                  <a:lnTo>
                    <a:pt x="1028700" y="9144"/>
                  </a:lnTo>
                  <a:lnTo>
                    <a:pt x="990600" y="6096"/>
                  </a:lnTo>
                  <a:lnTo>
                    <a:pt x="838200" y="0"/>
                  </a:lnTo>
                  <a:lnTo>
                    <a:pt x="685800" y="0"/>
                  </a:lnTo>
                  <a:lnTo>
                    <a:pt x="533400" y="6096"/>
                  </a:lnTo>
                  <a:lnTo>
                    <a:pt x="431800" y="15240"/>
                  </a:lnTo>
                  <a:lnTo>
                    <a:pt x="368300" y="21336"/>
                  </a:lnTo>
                  <a:lnTo>
                    <a:pt x="330200" y="25908"/>
                  </a:lnTo>
                  <a:lnTo>
                    <a:pt x="254000" y="39624"/>
                  </a:lnTo>
                  <a:lnTo>
                    <a:pt x="215900" y="45720"/>
                  </a:lnTo>
                  <a:lnTo>
                    <a:pt x="190500" y="50292"/>
                  </a:lnTo>
                  <a:lnTo>
                    <a:pt x="152400" y="62484"/>
                  </a:lnTo>
                  <a:lnTo>
                    <a:pt x="101600" y="74676"/>
                  </a:lnTo>
                  <a:lnTo>
                    <a:pt x="88900" y="80772"/>
                  </a:lnTo>
                  <a:lnTo>
                    <a:pt x="76200" y="88392"/>
                  </a:lnTo>
                  <a:lnTo>
                    <a:pt x="50800" y="94488"/>
                  </a:lnTo>
                  <a:lnTo>
                    <a:pt x="25400" y="109728"/>
                  </a:lnTo>
                  <a:lnTo>
                    <a:pt x="25400" y="117348"/>
                  </a:lnTo>
                  <a:lnTo>
                    <a:pt x="0" y="132588"/>
                  </a:lnTo>
                  <a:lnTo>
                    <a:pt x="0" y="146304"/>
                  </a:lnTo>
                  <a:lnTo>
                    <a:pt x="12700" y="138684"/>
                  </a:lnTo>
                  <a:lnTo>
                    <a:pt x="12700" y="131064"/>
                  </a:lnTo>
                  <a:lnTo>
                    <a:pt x="25400" y="124968"/>
                  </a:lnTo>
                  <a:lnTo>
                    <a:pt x="50800" y="109728"/>
                  </a:lnTo>
                  <a:lnTo>
                    <a:pt x="63500" y="103632"/>
                  </a:lnTo>
                  <a:lnTo>
                    <a:pt x="76200" y="96012"/>
                  </a:lnTo>
                  <a:lnTo>
                    <a:pt x="88900" y="89916"/>
                  </a:lnTo>
                  <a:lnTo>
                    <a:pt x="127000" y="77724"/>
                  </a:lnTo>
                  <a:lnTo>
                    <a:pt x="203200" y="59436"/>
                  </a:lnTo>
                  <a:lnTo>
                    <a:pt x="215900" y="54864"/>
                  </a:lnTo>
                  <a:lnTo>
                    <a:pt x="254000" y="48768"/>
                  </a:lnTo>
                  <a:lnTo>
                    <a:pt x="330200" y="35052"/>
                  </a:lnTo>
                  <a:lnTo>
                    <a:pt x="368300" y="32004"/>
                  </a:lnTo>
                  <a:lnTo>
                    <a:pt x="393700" y="27432"/>
                  </a:lnTo>
                  <a:lnTo>
                    <a:pt x="469900" y="21336"/>
                  </a:lnTo>
                  <a:lnTo>
                    <a:pt x="495300" y="18288"/>
                  </a:lnTo>
                  <a:lnTo>
                    <a:pt x="533400" y="16764"/>
                  </a:lnTo>
                  <a:lnTo>
                    <a:pt x="571500" y="13716"/>
                  </a:lnTo>
                  <a:lnTo>
                    <a:pt x="685800" y="9144"/>
                  </a:lnTo>
                  <a:lnTo>
                    <a:pt x="838200" y="9144"/>
                  </a:lnTo>
                  <a:lnTo>
                    <a:pt x="952500" y="13716"/>
                  </a:lnTo>
                  <a:lnTo>
                    <a:pt x="990600" y="16764"/>
                  </a:lnTo>
                  <a:lnTo>
                    <a:pt x="1028700" y="18288"/>
                  </a:lnTo>
                  <a:lnTo>
                    <a:pt x="1054100" y="21336"/>
                  </a:lnTo>
                  <a:lnTo>
                    <a:pt x="1130300" y="27432"/>
                  </a:lnTo>
                  <a:lnTo>
                    <a:pt x="1155700" y="32004"/>
                  </a:lnTo>
                  <a:lnTo>
                    <a:pt x="1193800" y="35052"/>
                  </a:lnTo>
                  <a:lnTo>
                    <a:pt x="1270000" y="48768"/>
                  </a:lnTo>
                  <a:lnTo>
                    <a:pt x="1295400" y="54864"/>
                  </a:lnTo>
                  <a:lnTo>
                    <a:pt x="1320800" y="59436"/>
                  </a:lnTo>
                  <a:lnTo>
                    <a:pt x="1397000" y="77724"/>
                  </a:lnTo>
                  <a:lnTo>
                    <a:pt x="1409700" y="83820"/>
                  </a:lnTo>
                  <a:lnTo>
                    <a:pt x="1435100" y="89916"/>
                  </a:lnTo>
                  <a:lnTo>
                    <a:pt x="1447800" y="96012"/>
                  </a:lnTo>
                  <a:lnTo>
                    <a:pt x="1460500" y="103632"/>
                  </a:lnTo>
                  <a:lnTo>
                    <a:pt x="1473200" y="109728"/>
                  </a:lnTo>
                  <a:lnTo>
                    <a:pt x="1498600" y="124968"/>
                  </a:lnTo>
                  <a:lnTo>
                    <a:pt x="1511300" y="138684"/>
                  </a:lnTo>
                  <a:lnTo>
                    <a:pt x="1511300" y="144780"/>
                  </a:lnTo>
                  <a:lnTo>
                    <a:pt x="1524000" y="153924"/>
                  </a:lnTo>
                  <a:close/>
                </a:path>
                <a:path w="1524000" h="3157854">
                  <a:moveTo>
                    <a:pt x="1524000" y="185928"/>
                  </a:moveTo>
                  <a:lnTo>
                    <a:pt x="1524000" y="166116"/>
                  </a:lnTo>
                  <a:lnTo>
                    <a:pt x="1511300" y="173736"/>
                  </a:lnTo>
                  <a:lnTo>
                    <a:pt x="1511300" y="187452"/>
                  </a:lnTo>
                  <a:lnTo>
                    <a:pt x="1498600" y="195072"/>
                  </a:lnTo>
                  <a:lnTo>
                    <a:pt x="1485900" y="201168"/>
                  </a:lnTo>
                  <a:lnTo>
                    <a:pt x="1460500" y="216408"/>
                  </a:lnTo>
                  <a:lnTo>
                    <a:pt x="1435100" y="228600"/>
                  </a:lnTo>
                  <a:lnTo>
                    <a:pt x="1409700" y="236220"/>
                  </a:lnTo>
                  <a:lnTo>
                    <a:pt x="1397000" y="242316"/>
                  </a:lnTo>
                  <a:lnTo>
                    <a:pt x="1371600" y="248412"/>
                  </a:lnTo>
                  <a:lnTo>
                    <a:pt x="1346200" y="252984"/>
                  </a:lnTo>
                  <a:lnTo>
                    <a:pt x="1295400" y="265176"/>
                  </a:lnTo>
                  <a:lnTo>
                    <a:pt x="1193800" y="283464"/>
                  </a:lnTo>
                  <a:lnTo>
                    <a:pt x="1130300" y="291084"/>
                  </a:lnTo>
                  <a:lnTo>
                    <a:pt x="1054100" y="297180"/>
                  </a:lnTo>
                  <a:lnTo>
                    <a:pt x="990600" y="303276"/>
                  </a:lnTo>
                  <a:lnTo>
                    <a:pt x="838200" y="309372"/>
                  </a:lnTo>
                  <a:lnTo>
                    <a:pt x="685800" y="309372"/>
                  </a:lnTo>
                  <a:lnTo>
                    <a:pt x="533400" y="303276"/>
                  </a:lnTo>
                  <a:lnTo>
                    <a:pt x="469900" y="297180"/>
                  </a:lnTo>
                  <a:lnTo>
                    <a:pt x="431800" y="294132"/>
                  </a:lnTo>
                  <a:lnTo>
                    <a:pt x="368300" y="288036"/>
                  </a:lnTo>
                  <a:lnTo>
                    <a:pt x="330200" y="283464"/>
                  </a:lnTo>
                  <a:lnTo>
                    <a:pt x="279400" y="274320"/>
                  </a:lnTo>
                  <a:lnTo>
                    <a:pt x="215900" y="265176"/>
                  </a:lnTo>
                  <a:lnTo>
                    <a:pt x="177800" y="252984"/>
                  </a:lnTo>
                  <a:lnTo>
                    <a:pt x="152400" y="248412"/>
                  </a:lnTo>
                  <a:lnTo>
                    <a:pt x="127000" y="242316"/>
                  </a:lnTo>
                  <a:lnTo>
                    <a:pt x="114300" y="236220"/>
                  </a:lnTo>
                  <a:lnTo>
                    <a:pt x="88900" y="228600"/>
                  </a:lnTo>
                  <a:lnTo>
                    <a:pt x="76200" y="222504"/>
                  </a:lnTo>
                  <a:lnTo>
                    <a:pt x="63500" y="214884"/>
                  </a:lnTo>
                  <a:lnTo>
                    <a:pt x="50800" y="208788"/>
                  </a:lnTo>
                  <a:lnTo>
                    <a:pt x="38100" y="201168"/>
                  </a:lnTo>
                  <a:lnTo>
                    <a:pt x="25400" y="195072"/>
                  </a:lnTo>
                  <a:lnTo>
                    <a:pt x="12700" y="187452"/>
                  </a:lnTo>
                  <a:lnTo>
                    <a:pt x="12700" y="181356"/>
                  </a:lnTo>
                  <a:lnTo>
                    <a:pt x="0" y="172212"/>
                  </a:lnTo>
                  <a:lnTo>
                    <a:pt x="0" y="185928"/>
                  </a:lnTo>
                  <a:lnTo>
                    <a:pt x="12700" y="195072"/>
                  </a:lnTo>
                  <a:lnTo>
                    <a:pt x="25400" y="202692"/>
                  </a:lnTo>
                  <a:lnTo>
                    <a:pt x="25400" y="210312"/>
                  </a:lnTo>
                  <a:lnTo>
                    <a:pt x="38100" y="216408"/>
                  </a:lnTo>
                  <a:lnTo>
                    <a:pt x="50800" y="224028"/>
                  </a:lnTo>
                  <a:lnTo>
                    <a:pt x="76200" y="231648"/>
                  </a:lnTo>
                  <a:lnTo>
                    <a:pt x="88900" y="237744"/>
                  </a:lnTo>
                  <a:lnTo>
                    <a:pt x="101600" y="245364"/>
                  </a:lnTo>
                  <a:lnTo>
                    <a:pt x="177800" y="263652"/>
                  </a:lnTo>
                  <a:lnTo>
                    <a:pt x="190500" y="268224"/>
                  </a:lnTo>
                  <a:lnTo>
                    <a:pt x="215900" y="274320"/>
                  </a:lnTo>
                  <a:lnTo>
                    <a:pt x="279400" y="283464"/>
                  </a:lnTo>
                  <a:lnTo>
                    <a:pt x="304800" y="288036"/>
                  </a:lnTo>
                  <a:lnTo>
                    <a:pt x="368300" y="297180"/>
                  </a:lnTo>
                  <a:lnTo>
                    <a:pt x="431800" y="304800"/>
                  </a:lnTo>
                  <a:lnTo>
                    <a:pt x="469900" y="307848"/>
                  </a:lnTo>
                  <a:lnTo>
                    <a:pt x="495300" y="309372"/>
                  </a:lnTo>
                  <a:lnTo>
                    <a:pt x="533400" y="312420"/>
                  </a:lnTo>
                  <a:lnTo>
                    <a:pt x="571500" y="313944"/>
                  </a:lnTo>
                  <a:lnTo>
                    <a:pt x="609600" y="316992"/>
                  </a:lnTo>
                  <a:lnTo>
                    <a:pt x="647700" y="316992"/>
                  </a:lnTo>
                  <a:lnTo>
                    <a:pt x="685800" y="318516"/>
                  </a:lnTo>
                  <a:lnTo>
                    <a:pt x="762000" y="320040"/>
                  </a:lnTo>
                  <a:lnTo>
                    <a:pt x="838200" y="318516"/>
                  </a:lnTo>
                  <a:lnTo>
                    <a:pt x="876300" y="316992"/>
                  </a:lnTo>
                  <a:lnTo>
                    <a:pt x="914400" y="316992"/>
                  </a:lnTo>
                  <a:lnTo>
                    <a:pt x="952500" y="313944"/>
                  </a:lnTo>
                  <a:lnTo>
                    <a:pt x="990600" y="312420"/>
                  </a:lnTo>
                  <a:lnTo>
                    <a:pt x="1028700" y="309372"/>
                  </a:lnTo>
                  <a:lnTo>
                    <a:pt x="1092200" y="304800"/>
                  </a:lnTo>
                  <a:lnTo>
                    <a:pt x="1193800" y="292608"/>
                  </a:lnTo>
                  <a:lnTo>
                    <a:pt x="1282700" y="278892"/>
                  </a:lnTo>
                  <a:lnTo>
                    <a:pt x="1333500" y="268224"/>
                  </a:lnTo>
                  <a:lnTo>
                    <a:pt x="1346200" y="262128"/>
                  </a:lnTo>
                  <a:lnTo>
                    <a:pt x="1371600" y="257556"/>
                  </a:lnTo>
                  <a:lnTo>
                    <a:pt x="1397000" y="251460"/>
                  </a:lnTo>
                  <a:lnTo>
                    <a:pt x="1422400" y="243840"/>
                  </a:lnTo>
                  <a:lnTo>
                    <a:pt x="1447800" y="231648"/>
                  </a:lnTo>
                  <a:lnTo>
                    <a:pt x="1473200" y="224028"/>
                  </a:lnTo>
                  <a:lnTo>
                    <a:pt x="1485900" y="216408"/>
                  </a:lnTo>
                  <a:lnTo>
                    <a:pt x="1498600" y="210312"/>
                  </a:lnTo>
                  <a:lnTo>
                    <a:pt x="1498600" y="201168"/>
                  </a:lnTo>
                  <a:lnTo>
                    <a:pt x="1524000" y="185928"/>
                  </a:lnTo>
                  <a:close/>
                </a:path>
                <a:path w="1524000" h="3157854">
                  <a:moveTo>
                    <a:pt x="1524000" y="3023616"/>
                  </a:moveTo>
                  <a:lnTo>
                    <a:pt x="1524000" y="3003804"/>
                  </a:lnTo>
                  <a:lnTo>
                    <a:pt x="1511300" y="3011424"/>
                  </a:lnTo>
                  <a:lnTo>
                    <a:pt x="1511300" y="3025140"/>
                  </a:lnTo>
                  <a:lnTo>
                    <a:pt x="1498600" y="3032760"/>
                  </a:lnTo>
                  <a:lnTo>
                    <a:pt x="1485900" y="3038856"/>
                  </a:lnTo>
                  <a:lnTo>
                    <a:pt x="1460500" y="3054096"/>
                  </a:lnTo>
                  <a:lnTo>
                    <a:pt x="1435100" y="3066288"/>
                  </a:lnTo>
                  <a:lnTo>
                    <a:pt x="1409700" y="3073908"/>
                  </a:lnTo>
                  <a:lnTo>
                    <a:pt x="1397000" y="3080004"/>
                  </a:lnTo>
                  <a:lnTo>
                    <a:pt x="1371600" y="3086100"/>
                  </a:lnTo>
                  <a:lnTo>
                    <a:pt x="1346200" y="3090672"/>
                  </a:lnTo>
                  <a:lnTo>
                    <a:pt x="1295400" y="3102864"/>
                  </a:lnTo>
                  <a:lnTo>
                    <a:pt x="1193800" y="3121152"/>
                  </a:lnTo>
                  <a:lnTo>
                    <a:pt x="1130300" y="3128772"/>
                  </a:lnTo>
                  <a:lnTo>
                    <a:pt x="1054100" y="3134868"/>
                  </a:lnTo>
                  <a:lnTo>
                    <a:pt x="990600" y="3140964"/>
                  </a:lnTo>
                  <a:lnTo>
                    <a:pt x="838200" y="3147060"/>
                  </a:lnTo>
                  <a:lnTo>
                    <a:pt x="685800" y="3147060"/>
                  </a:lnTo>
                  <a:lnTo>
                    <a:pt x="533400" y="3140964"/>
                  </a:lnTo>
                  <a:lnTo>
                    <a:pt x="469900" y="3134868"/>
                  </a:lnTo>
                  <a:lnTo>
                    <a:pt x="431800" y="3131820"/>
                  </a:lnTo>
                  <a:lnTo>
                    <a:pt x="368300" y="3125724"/>
                  </a:lnTo>
                  <a:lnTo>
                    <a:pt x="330200" y="3121152"/>
                  </a:lnTo>
                  <a:lnTo>
                    <a:pt x="279400" y="3112008"/>
                  </a:lnTo>
                  <a:lnTo>
                    <a:pt x="215900" y="3102864"/>
                  </a:lnTo>
                  <a:lnTo>
                    <a:pt x="177800" y="3090672"/>
                  </a:lnTo>
                  <a:lnTo>
                    <a:pt x="152400" y="3086100"/>
                  </a:lnTo>
                  <a:lnTo>
                    <a:pt x="127000" y="3080004"/>
                  </a:lnTo>
                  <a:lnTo>
                    <a:pt x="114300" y="3072384"/>
                  </a:lnTo>
                  <a:lnTo>
                    <a:pt x="76200" y="3060192"/>
                  </a:lnTo>
                  <a:lnTo>
                    <a:pt x="63500" y="3052572"/>
                  </a:lnTo>
                  <a:lnTo>
                    <a:pt x="50800" y="3046476"/>
                  </a:lnTo>
                  <a:lnTo>
                    <a:pt x="38100" y="3038856"/>
                  </a:lnTo>
                  <a:lnTo>
                    <a:pt x="25400" y="3032760"/>
                  </a:lnTo>
                  <a:lnTo>
                    <a:pt x="12700" y="3025140"/>
                  </a:lnTo>
                  <a:lnTo>
                    <a:pt x="12700" y="3017520"/>
                  </a:lnTo>
                  <a:lnTo>
                    <a:pt x="0" y="3009900"/>
                  </a:lnTo>
                  <a:lnTo>
                    <a:pt x="0" y="3023616"/>
                  </a:lnTo>
                  <a:lnTo>
                    <a:pt x="25400" y="3040380"/>
                  </a:lnTo>
                  <a:lnTo>
                    <a:pt x="25400" y="3048000"/>
                  </a:lnTo>
                  <a:lnTo>
                    <a:pt x="38100" y="3054096"/>
                  </a:lnTo>
                  <a:lnTo>
                    <a:pt x="50800" y="3061716"/>
                  </a:lnTo>
                  <a:lnTo>
                    <a:pt x="76200" y="3069336"/>
                  </a:lnTo>
                  <a:lnTo>
                    <a:pt x="101600" y="3081528"/>
                  </a:lnTo>
                  <a:lnTo>
                    <a:pt x="127000" y="3089148"/>
                  </a:lnTo>
                  <a:lnTo>
                    <a:pt x="152400" y="3095244"/>
                  </a:lnTo>
                  <a:lnTo>
                    <a:pt x="177800" y="3099816"/>
                  </a:lnTo>
                  <a:lnTo>
                    <a:pt x="190500" y="3105912"/>
                  </a:lnTo>
                  <a:lnTo>
                    <a:pt x="215900" y="3112008"/>
                  </a:lnTo>
                  <a:lnTo>
                    <a:pt x="279400" y="3121152"/>
                  </a:lnTo>
                  <a:lnTo>
                    <a:pt x="304800" y="3125724"/>
                  </a:lnTo>
                  <a:lnTo>
                    <a:pt x="368300" y="3134868"/>
                  </a:lnTo>
                  <a:lnTo>
                    <a:pt x="431800" y="3142488"/>
                  </a:lnTo>
                  <a:lnTo>
                    <a:pt x="469900" y="3145536"/>
                  </a:lnTo>
                  <a:lnTo>
                    <a:pt x="495300" y="3147060"/>
                  </a:lnTo>
                  <a:lnTo>
                    <a:pt x="533400" y="3150108"/>
                  </a:lnTo>
                  <a:lnTo>
                    <a:pt x="571500" y="3151632"/>
                  </a:lnTo>
                  <a:lnTo>
                    <a:pt x="609600" y="3154680"/>
                  </a:lnTo>
                  <a:lnTo>
                    <a:pt x="647700" y="3154680"/>
                  </a:lnTo>
                  <a:lnTo>
                    <a:pt x="685800" y="3156204"/>
                  </a:lnTo>
                  <a:lnTo>
                    <a:pt x="762000" y="3157728"/>
                  </a:lnTo>
                  <a:lnTo>
                    <a:pt x="838200" y="3156204"/>
                  </a:lnTo>
                  <a:lnTo>
                    <a:pt x="876300" y="3154680"/>
                  </a:lnTo>
                  <a:lnTo>
                    <a:pt x="914400" y="3154680"/>
                  </a:lnTo>
                  <a:lnTo>
                    <a:pt x="952500" y="3151632"/>
                  </a:lnTo>
                  <a:lnTo>
                    <a:pt x="990600" y="3150108"/>
                  </a:lnTo>
                  <a:lnTo>
                    <a:pt x="1028700" y="3147060"/>
                  </a:lnTo>
                  <a:lnTo>
                    <a:pt x="1092200" y="3142488"/>
                  </a:lnTo>
                  <a:lnTo>
                    <a:pt x="1193800" y="3130296"/>
                  </a:lnTo>
                  <a:lnTo>
                    <a:pt x="1282700" y="3116580"/>
                  </a:lnTo>
                  <a:lnTo>
                    <a:pt x="1333500" y="3105912"/>
                  </a:lnTo>
                  <a:lnTo>
                    <a:pt x="1346200" y="3099816"/>
                  </a:lnTo>
                  <a:lnTo>
                    <a:pt x="1371600" y="3095244"/>
                  </a:lnTo>
                  <a:lnTo>
                    <a:pt x="1397000" y="3089148"/>
                  </a:lnTo>
                  <a:lnTo>
                    <a:pt x="1422400" y="3081528"/>
                  </a:lnTo>
                  <a:lnTo>
                    <a:pt x="1447800" y="3069336"/>
                  </a:lnTo>
                  <a:lnTo>
                    <a:pt x="1473200" y="3061716"/>
                  </a:lnTo>
                  <a:lnTo>
                    <a:pt x="1485900" y="3054096"/>
                  </a:lnTo>
                  <a:lnTo>
                    <a:pt x="1498600" y="3048000"/>
                  </a:lnTo>
                  <a:lnTo>
                    <a:pt x="1498600" y="3038856"/>
                  </a:lnTo>
                  <a:lnTo>
                    <a:pt x="1524000" y="302361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7656711" y="2843000"/>
            <a:ext cx="1140503" cy="2625859"/>
          </a:xfrm>
          <a:prstGeom prst="rect">
            <a:avLst/>
          </a:prstGeom>
        </p:spPr>
        <p:txBody>
          <a:bodyPr vert="horz" wrap="square" lIns="0" tIns="123329" rIns="0" bIns="0" rtlCol="0">
            <a:spAutoFit/>
          </a:bodyPr>
          <a:lstStyle/>
          <a:p>
            <a:pPr marR="4611" algn="ctr">
              <a:spcBef>
                <a:spcPts val="971"/>
              </a:spcBef>
            </a:pPr>
            <a:r>
              <a:rPr sz="1815" b="1" spc="-5" dirty="0">
                <a:solidFill>
                  <a:srgbClr val="FF3200"/>
                </a:solidFill>
                <a:latin typeface="Arial"/>
                <a:cs typeface="Arial"/>
              </a:rPr>
              <a:t>System</a:t>
            </a:r>
            <a:endParaRPr sz="1815" dirty="0">
              <a:latin typeface="Arial"/>
              <a:cs typeface="Arial"/>
            </a:endParaRPr>
          </a:p>
          <a:p>
            <a:pPr marL="11527" marR="4611" algn="ctr">
              <a:spcBef>
                <a:spcPts val="794"/>
              </a:spcBef>
            </a:pPr>
            <a:r>
              <a:rPr sz="1634" b="1" dirty="0">
                <a:latin typeface="Arial"/>
                <a:cs typeface="Arial"/>
              </a:rPr>
              <a:t>M</a:t>
            </a:r>
            <a:r>
              <a:rPr sz="1634" b="1" spc="-5" dirty="0">
                <a:latin typeface="Arial"/>
                <a:cs typeface="Arial"/>
              </a:rPr>
              <a:t>ec</a:t>
            </a:r>
            <a:r>
              <a:rPr sz="1634" b="1" dirty="0">
                <a:latin typeface="Arial"/>
                <a:cs typeface="Arial"/>
              </a:rPr>
              <a:t>h</a:t>
            </a:r>
            <a:r>
              <a:rPr sz="1634" b="1" spc="-5" dirty="0">
                <a:latin typeface="Arial"/>
                <a:cs typeface="Arial"/>
              </a:rPr>
              <a:t>a</a:t>
            </a:r>
            <a:r>
              <a:rPr sz="1634" b="1" dirty="0">
                <a:latin typeface="Arial"/>
                <a:cs typeface="Arial"/>
              </a:rPr>
              <a:t>ni</a:t>
            </a:r>
            <a:r>
              <a:rPr sz="1634" b="1" spc="-5" dirty="0">
                <a:latin typeface="Arial"/>
                <a:cs typeface="Arial"/>
              </a:rPr>
              <a:t>ca</a:t>
            </a:r>
            <a:r>
              <a:rPr sz="1634" b="1" dirty="0">
                <a:latin typeface="Arial"/>
                <a:cs typeface="Arial"/>
              </a:rPr>
              <a:t>l  </a:t>
            </a:r>
            <a:r>
              <a:rPr sz="1634" b="1" spc="-5" dirty="0">
                <a:latin typeface="Arial"/>
                <a:cs typeface="Arial"/>
              </a:rPr>
              <a:t>Reliability</a:t>
            </a:r>
            <a:endParaRPr sz="1634" dirty="0">
              <a:latin typeface="Arial"/>
              <a:cs typeface="Arial"/>
            </a:endParaRPr>
          </a:p>
          <a:p>
            <a:pPr marR="106620" algn="ctr">
              <a:lnSpc>
                <a:spcPts val="1688"/>
              </a:lnSpc>
            </a:pPr>
            <a:r>
              <a:rPr sz="1634" b="1" dirty="0">
                <a:latin typeface="Arial"/>
                <a:cs typeface="Arial"/>
              </a:rPr>
              <a:t>+</a:t>
            </a:r>
            <a:endParaRPr sz="1634" dirty="0">
              <a:latin typeface="Arial"/>
              <a:cs typeface="Arial"/>
            </a:endParaRPr>
          </a:p>
          <a:p>
            <a:pPr marL="27664" marR="101433" algn="ctr">
              <a:spcBef>
                <a:spcPts val="381"/>
              </a:spcBef>
            </a:pPr>
            <a:r>
              <a:rPr sz="1634" b="1" spc="-5" dirty="0">
                <a:latin typeface="Arial"/>
                <a:cs typeface="Arial"/>
              </a:rPr>
              <a:t>E</a:t>
            </a:r>
            <a:r>
              <a:rPr sz="1634" b="1" dirty="0">
                <a:latin typeface="Arial"/>
                <a:cs typeface="Arial"/>
              </a:rPr>
              <a:t>l</a:t>
            </a:r>
            <a:r>
              <a:rPr sz="1634" b="1" spc="-5" dirty="0">
                <a:latin typeface="Arial"/>
                <a:cs typeface="Arial"/>
              </a:rPr>
              <a:t>ec</a:t>
            </a:r>
            <a:r>
              <a:rPr sz="1634" b="1" dirty="0">
                <a:latin typeface="Arial"/>
                <a:cs typeface="Arial"/>
              </a:rPr>
              <a:t>t</a:t>
            </a:r>
            <a:r>
              <a:rPr sz="1634" b="1" spc="-5" dirty="0">
                <a:latin typeface="Arial"/>
                <a:cs typeface="Arial"/>
              </a:rPr>
              <a:t>r</a:t>
            </a:r>
            <a:r>
              <a:rPr sz="1634" b="1" dirty="0">
                <a:latin typeface="Arial"/>
                <a:cs typeface="Arial"/>
              </a:rPr>
              <a:t>onic  </a:t>
            </a:r>
            <a:r>
              <a:rPr sz="1634" b="1" spc="-5" dirty="0">
                <a:latin typeface="Arial"/>
                <a:cs typeface="Arial"/>
              </a:rPr>
              <a:t>Reliability</a:t>
            </a:r>
            <a:endParaRPr sz="1634" dirty="0">
              <a:latin typeface="Arial"/>
              <a:cs typeface="Arial"/>
            </a:endParaRPr>
          </a:p>
          <a:p>
            <a:pPr marR="84144" algn="ctr"/>
            <a:r>
              <a:rPr sz="1634" b="1" dirty="0">
                <a:latin typeface="Arial"/>
                <a:cs typeface="Arial"/>
              </a:rPr>
              <a:t>+</a:t>
            </a:r>
            <a:endParaRPr sz="1634" dirty="0">
              <a:latin typeface="Arial"/>
              <a:cs typeface="Arial"/>
            </a:endParaRPr>
          </a:p>
          <a:p>
            <a:pPr marL="80109" marR="71464" algn="ctr">
              <a:spcBef>
                <a:spcPts val="653"/>
              </a:spcBef>
            </a:pPr>
            <a:r>
              <a:rPr sz="1634" b="1" dirty="0">
                <a:latin typeface="Arial"/>
                <a:cs typeface="Arial"/>
              </a:rPr>
              <a:t>Software  </a:t>
            </a:r>
            <a:r>
              <a:rPr sz="1634" b="1" spc="-5" dirty="0">
                <a:latin typeface="Arial"/>
                <a:cs typeface="Arial"/>
              </a:rPr>
              <a:t>Re</a:t>
            </a:r>
            <a:r>
              <a:rPr sz="1634" b="1" dirty="0">
                <a:latin typeface="Arial"/>
                <a:cs typeface="Arial"/>
              </a:rPr>
              <a:t>li</a:t>
            </a:r>
            <a:r>
              <a:rPr sz="1634" b="1" spc="-5" dirty="0">
                <a:latin typeface="Arial"/>
                <a:cs typeface="Arial"/>
              </a:rPr>
              <a:t>a</a:t>
            </a:r>
            <a:r>
              <a:rPr sz="1634" b="1" dirty="0">
                <a:latin typeface="Arial"/>
                <a:cs typeface="Arial"/>
              </a:rPr>
              <a:t>bility</a:t>
            </a:r>
            <a:endParaRPr sz="1634" dirty="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217144" y="3466114"/>
            <a:ext cx="143844" cy="156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 txBox="1"/>
          <p:nvPr/>
        </p:nvSpPr>
        <p:spPr>
          <a:xfrm>
            <a:off x="957744" y="2430035"/>
            <a:ext cx="6074229" cy="2870212"/>
          </a:xfrm>
          <a:prstGeom prst="rect">
            <a:avLst/>
          </a:prstGeom>
        </p:spPr>
        <p:txBody>
          <a:bodyPr vert="horz" wrap="square" lIns="0" tIns="145228" rIns="0" bIns="0" rtlCol="0">
            <a:spAutoFit/>
          </a:bodyPr>
          <a:lstStyle/>
          <a:p>
            <a:pPr marL="61091">
              <a:spcBef>
                <a:spcPts val="1144"/>
              </a:spcBef>
            </a:pPr>
            <a:r>
              <a:rPr sz="1634" b="1" spc="-5" dirty="0">
                <a:latin typeface="Arial"/>
                <a:cs typeface="Arial"/>
              </a:rPr>
              <a:t>Product </a:t>
            </a:r>
            <a:r>
              <a:rPr sz="1634" b="1" spc="-9" dirty="0">
                <a:latin typeface="Arial"/>
                <a:cs typeface="Arial"/>
              </a:rPr>
              <a:t>development</a:t>
            </a:r>
            <a:r>
              <a:rPr sz="1634" b="1" spc="27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teams</a:t>
            </a:r>
            <a:endParaRPr sz="1634" dirty="0">
              <a:latin typeface="Arial"/>
              <a:cs typeface="Arial"/>
            </a:endParaRPr>
          </a:p>
          <a:p>
            <a:pPr marL="88754" marR="818383">
              <a:spcBef>
                <a:spcPts val="935"/>
              </a:spcBef>
            </a:pP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View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reliability at the sub-domain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level,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addressing mechanical,  electronic and software</a:t>
            </a:r>
            <a:r>
              <a:rPr sz="1452" spc="23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issues.</a:t>
            </a:r>
            <a:endParaRPr sz="1452" dirty="0">
              <a:latin typeface="Arial"/>
              <a:cs typeface="Arial"/>
            </a:endParaRPr>
          </a:p>
          <a:p>
            <a:pPr marL="11527">
              <a:spcBef>
                <a:spcPts val="1116"/>
              </a:spcBef>
            </a:pPr>
            <a:r>
              <a:rPr sz="1634" b="1" spc="-5" dirty="0">
                <a:latin typeface="Arial"/>
                <a:cs typeface="Arial"/>
              </a:rPr>
              <a:t>Customers</a:t>
            </a:r>
            <a:endParaRPr sz="1634" dirty="0">
              <a:latin typeface="Arial"/>
              <a:cs typeface="Arial"/>
            </a:endParaRPr>
          </a:p>
          <a:p>
            <a:pPr marL="91636" marR="119876">
              <a:spcBef>
                <a:spcPts val="921"/>
              </a:spcBef>
            </a:pP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View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reliability at the system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level,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with minimal consideration placed on  sub-domain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distinction.</a:t>
            </a:r>
            <a:endParaRPr sz="1452" dirty="0">
              <a:latin typeface="Arial"/>
              <a:cs typeface="Arial"/>
            </a:endParaRPr>
          </a:p>
          <a:p>
            <a:pPr marL="11527">
              <a:spcBef>
                <a:spcPts val="1112"/>
              </a:spcBef>
            </a:pPr>
            <a:r>
              <a:rPr sz="1634" b="1" dirty="0">
                <a:latin typeface="Arial"/>
                <a:cs typeface="Arial"/>
              </a:rPr>
              <a:t>The </a:t>
            </a:r>
            <a:r>
              <a:rPr sz="1634" b="1" spc="-5" dirty="0">
                <a:latin typeface="Arial"/>
                <a:cs typeface="Arial"/>
              </a:rPr>
              <a:t>primary measure </a:t>
            </a:r>
            <a:r>
              <a:rPr sz="1634" b="1" dirty="0">
                <a:latin typeface="Arial"/>
                <a:cs typeface="Arial"/>
              </a:rPr>
              <a:t>of </a:t>
            </a:r>
            <a:r>
              <a:rPr sz="1634" b="1" spc="-5" dirty="0">
                <a:latin typeface="Arial"/>
                <a:cs typeface="Arial"/>
              </a:rPr>
              <a:t>reliability </a:t>
            </a:r>
            <a:r>
              <a:rPr sz="1634" b="1" dirty="0">
                <a:latin typeface="Arial"/>
                <a:cs typeface="Arial"/>
              </a:rPr>
              <a:t>is </a:t>
            </a:r>
            <a:r>
              <a:rPr sz="1634" b="1" spc="-5" dirty="0">
                <a:latin typeface="Arial"/>
                <a:cs typeface="Arial"/>
              </a:rPr>
              <a:t>defined </a:t>
            </a:r>
            <a:r>
              <a:rPr sz="1634" b="1" dirty="0">
                <a:latin typeface="Arial"/>
                <a:cs typeface="Arial"/>
              </a:rPr>
              <a:t>by the</a:t>
            </a:r>
            <a:r>
              <a:rPr sz="1634" b="1" spc="-18" dirty="0">
                <a:latin typeface="Arial"/>
                <a:cs typeface="Arial"/>
              </a:rPr>
              <a:t> </a:t>
            </a:r>
            <a:r>
              <a:rPr sz="1634" b="1" spc="-14" dirty="0">
                <a:latin typeface="Arial"/>
                <a:cs typeface="Arial"/>
              </a:rPr>
              <a:t>customer.</a:t>
            </a:r>
            <a:endParaRPr sz="1634" dirty="0">
              <a:latin typeface="Arial"/>
              <a:cs typeface="Arial"/>
            </a:endParaRPr>
          </a:p>
          <a:p>
            <a:pPr marL="93941" marR="439737">
              <a:spcBef>
                <a:spcPts val="944"/>
              </a:spcBef>
            </a:pPr>
            <a:r>
              <a:rPr sz="1452" spc="-86" dirty="0">
                <a:solidFill>
                  <a:srgbClr val="000065"/>
                </a:solidFill>
                <a:latin typeface="Arial"/>
                <a:cs typeface="Arial"/>
              </a:rPr>
              <a:t>To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develop a reliable product engineering teams must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consider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both  views (system and</a:t>
            </a:r>
            <a:r>
              <a:rPr sz="1452" spc="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sub-domain).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9821" y="539117"/>
            <a:ext cx="8585627" cy="565055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9" dirty="0"/>
              <a:t>System-Level </a:t>
            </a:r>
            <a:r>
              <a:rPr spc="-5" dirty="0"/>
              <a:t>Reliability Modeling </a:t>
            </a:r>
            <a:r>
              <a:rPr sz="1815" dirty="0">
                <a:latin typeface="Arial"/>
                <a:cs typeface="Arial"/>
              </a:rPr>
              <a:t>(1 of</a:t>
            </a:r>
            <a:r>
              <a:rPr sz="1815" spc="59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2)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48679" y="2939143"/>
            <a:ext cx="1585408" cy="564776"/>
            <a:chOff x="1548262" y="3238500"/>
            <a:chExt cx="1746885" cy="622300"/>
          </a:xfrm>
        </p:grpSpPr>
        <p:sp>
          <p:nvSpPr>
            <p:cNvPr id="4" name="object 4"/>
            <p:cNvSpPr/>
            <p:nvPr/>
          </p:nvSpPr>
          <p:spPr>
            <a:xfrm>
              <a:off x="1565026" y="3253740"/>
              <a:ext cx="1714499" cy="591311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" name="object 5"/>
            <p:cNvSpPr/>
            <p:nvPr/>
          </p:nvSpPr>
          <p:spPr>
            <a:xfrm>
              <a:off x="1548262" y="3238500"/>
              <a:ext cx="1746885" cy="622300"/>
            </a:xfrm>
            <a:custGeom>
              <a:avLst/>
              <a:gdLst/>
              <a:ahLst/>
              <a:cxnLst/>
              <a:rect l="l" t="t" r="r" b="b"/>
              <a:pathLst>
                <a:path w="1746885" h="622300">
                  <a:moveTo>
                    <a:pt x="1746504" y="518160"/>
                  </a:moveTo>
                  <a:lnTo>
                    <a:pt x="1746504" y="102108"/>
                  </a:lnTo>
                  <a:lnTo>
                    <a:pt x="1744980" y="89916"/>
                  </a:lnTo>
                  <a:lnTo>
                    <a:pt x="1720596" y="41148"/>
                  </a:lnTo>
                  <a:lnTo>
                    <a:pt x="1687068" y="13716"/>
                  </a:lnTo>
                  <a:lnTo>
                    <a:pt x="1642872" y="0"/>
                  </a:lnTo>
                  <a:lnTo>
                    <a:pt x="102108" y="0"/>
                  </a:lnTo>
                  <a:lnTo>
                    <a:pt x="59436" y="13716"/>
                  </a:lnTo>
                  <a:lnTo>
                    <a:pt x="25908" y="42672"/>
                  </a:lnTo>
                  <a:lnTo>
                    <a:pt x="4572" y="80772"/>
                  </a:lnTo>
                  <a:lnTo>
                    <a:pt x="1524" y="103632"/>
                  </a:lnTo>
                  <a:lnTo>
                    <a:pt x="0" y="114300"/>
                  </a:lnTo>
                  <a:lnTo>
                    <a:pt x="0" y="509016"/>
                  </a:lnTo>
                  <a:lnTo>
                    <a:pt x="1524" y="521208"/>
                  </a:lnTo>
                  <a:lnTo>
                    <a:pt x="3048" y="531876"/>
                  </a:lnTo>
                  <a:lnTo>
                    <a:pt x="9144" y="553212"/>
                  </a:lnTo>
                  <a:lnTo>
                    <a:pt x="15240" y="563880"/>
                  </a:lnTo>
                  <a:lnTo>
                    <a:pt x="19812" y="573024"/>
                  </a:lnTo>
                  <a:lnTo>
                    <a:pt x="27432" y="582168"/>
                  </a:lnTo>
                  <a:lnTo>
                    <a:pt x="32004" y="586740"/>
                  </a:lnTo>
                  <a:lnTo>
                    <a:pt x="32004" y="105156"/>
                  </a:lnTo>
                  <a:lnTo>
                    <a:pt x="33528" y="97536"/>
                  </a:lnTo>
                  <a:lnTo>
                    <a:pt x="36576" y="88392"/>
                  </a:lnTo>
                  <a:lnTo>
                    <a:pt x="39624" y="82296"/>
                  </a:lnTo>
                  <a:lnTo>
                    <a:pt x="42672" y="74676"/>
                  </a:lnTo>
                  <a:lnTo>
                    <a:pt x="68580" y="45720"/>
                  </a:lnTo>
                  <a:lnTo>
                    <a:pt x="106680" y="32004"/>
                  </a:lnTo>
                  <a:lnTo>
                    <a:pt x="1641348" y="32004"/>
                  </a:lnTo>
                  <a:lnTo>
                    <a:pt x="1650492" y="33528"/>
                  </a:lnTo>
                  <a:lnTo>
                    <a:pt x="1658112" y="35052"/>
                  </a:lnTo>
                  <a:lnTo>
                    <a:pt x="1665732" y="38100"/>
                  </a:lnTo>
                  <a:lnTo>
                    <a:pt x="1671828" y="42672"/>
                  </a:lnTo>
                  <a:lnTo>
                    <a:pt x="1679448" y="45720"/>
                  </a:lnTo>
                  <a:lnTo>
                    <a:pt x="1685544" y="51816"/>
                  </a:lnTo>
                  <a:lnTo>
                    <a:pt x="1691640" y="56388"/>
                  </a:lnTo>
                  <a:lnTo>
                    <a:pt x="1700784" y="68580"/>
                  </a:lnTo>
                  <a:lnTo>
                    <a:pt x="1705356" y="76200"/>
                  </a:lnTo>
                  <a:lnTo>
                    <a:pt x="1708404" y="82296"/>
                  </a:lnTo>
                  <a:lnTo>
                    <a:pt x="1711452" y="89916"/>
                  </a:lnTo>
                  <a:lnTo>
                    <a:pt x="1712976" y="99060"/>
                  </a:lnTo>
                  <a:lnTo>
                    <a:pt x="1714500" y="106680"/>
                  </a:lnTo>
                  <a:lnTo>
                    <a:pt x="1714500" y="588264"/>
                  </a:lnTo>
                  <a:lnTo>
                    <a:pt x="1720596" y="580644"/>
                  </a:lnTo>
                  <a:lnTo>
                    <a:pt x="1728216" y="571500"/>
                  </a:lnTo>
                  <a:lnTo>
                    <a:pt x="1732788" y="562356"/>
                  </a:lnTo>
                  <a:lnTo>
                    <a:pt x="1741932" y="541020"/>
                  </a:lnTo>
                  <a:lnTo>
                    <a:pt x="1744980" y="530352"/>
                  </a:lnTo>
                  <a:lnTo>
                    <a:pt x="1746504" y="518160"/>
                  </a:lnTo>
                  <a:close/>
                </a:path>
                <a:path w="1746885" h="622300">
                  <a:moveTo>
                    <a:pt x="1714500" y="588264"/>
                  </a:moveTo>
                  <a:lnTo>
                    <a:pt x="1714500" y="516636"/>
                  </a:lnTo>
                  <a:lnTo>
                    <a:pt x="1712976" y="525780"/>
                  </a:lnTo>
                  <a:lnTo>
                    <a:pt x="1711452" y="533400"/>
                  </a:lnTo>
                  <a:lnTo>
                    <a:pt x="1705356" y="548640"/>
                  </a:lnTo>
                  <a:lnTo>
                    <a:pt x="1696212" y="560832"/>
                  </a:lnTo>
                  <a:lnTo>
                    <a:pt x="1690116" y="566928"/>
                  </a:lnTo>
                  <a:lnTo>
                    <a:pt x="1684020" y="571500"/>
                  </a:lnTo>
                  <a:lnTo>
                    <a:pt x="1677924" y="577596"/>
                  </a:lnTo>
                  <a:lnTo>
                    <a:pt x="1671828" y="580644"/>
                  </a:lnTo>
                  <a:lnTo>
                    <a:pt x="1664208" y="585216"/>
                  </a:lnTo>
                  <a:lnTo>
                    <a:pt x="1656588" y="586740"/>
                  </a:lnTo>
                  <a:lnTo>
                    <a:pt x="1648968" y="589788"/>
                  </a:lnTo>
                  <a:lnTo>
                    <a:pt x="1639824" y="589788"/>
                  </a:lnTo>
                  <a:lnTo>
                    <a:pt x="1632204" y="591312"/>
                  </a:lnTo>
                  <a:lnTo>
                    <a:pt x="114300" y="591312"/>
                  </a:lnTo>
                  <a:lnTo>
                    <a:pt x="105156" y="589788"/>
                  </a:lnTo>
                  <a:lnTo>
                    <a:pt x="89916" y="586740"/>
                  </a:lnTo>
                  <a:lnTo>
                    <a:pt x="74676" y="580644"/>
                  </a:lnTo>
                  <a:lnTo>
                    <a:pt x="68580" y="576072"/>
                  </a:lnTo>
                  <a:lnTo>
                    <a:pt x="60960" y="571500"/>
                  </a:lnTo>
                  <a:lnTo>
                    <a:pt x="56388" y="565404"/>
                  </a:lnTo>
                  <a:lnTo>
                    <a:pt x="50292" y="559308"/>
                  </a:lnTo>
                  <a:lnTo>
                    <a:pt x="41148" y="547116"/>
                  </a:lnTo>
                  <a:lnTo>
                    <a:pt x="35052" y="531876"/>
                  </a:lnTo>
                  <a:lnTo>
                    <a:pt x="33528" y="524256"/>
                  </a:lnTo>
                  <a:lnTo>
                    <a:pt x="32004" y="515112"/>
                  </a:lnTo>
                  <a:lnTo>
                    <a:pt x="32004" y="586740"/>
                  </a:lnTo>
                  <a:lnTo>
                    <a:pt x="71628" y="614172"/>
                  </a:lnTo>
                  <a:lnTo>
                    <a:pt x="103632" y="621792"/>
                  </a:lnTo>
                  <a:lnTo>
                    <a:pt x="1644396" y="621792"/>
                  </a:lnTo>
                  <a:lnTo>
                    <a:pt x="1687068" y="608076"/>
                  </a:lnTo>
                  <a:lnTo>
                    <a:pt x="1705356" y="595884"/>
                  </a:lnTo>
                  <a:lnTo>
                    <a:pt x="1714500" y="5882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4414929" y="1677731"/>
            <a:ext cx="4957354" cy="2073536"/>
            <a:chOff x="3494409" y="1848611"/>
            <a:chExt cx="5462270" cy="2284730"/>
          </a:xfrm>
        </p:grpSpPr>
        <p:sp>
          <p:nvSpPr>
            <p:cNvPr id="7" name="object 7"/>
            <p:cNvSpPr/>
            <p:nvPr/>
          </p:nvSpPr>
          <p:spPr>
            <a:xfrm>
              <a:off x="3494409" y="1848611"/>
              <a:ext cx="4657344" cy="2284476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8" name="object 8"/>
            <p:cNvSpPr/>
            <p:nvPr/>
          </p:nvSpPr>
          <p:spPr>
            <a:xfrm>
              <a:off x="8127369" y="2769108"/>
              <a:ext cx="813815" cy="39014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9" name="object 9"/>
            <p:cNvSpPr/>
            <p:nvPr/>
          </p:nvSpPr>
          <p:spPr>
            <a:xfrm>
              <a:off x="8112130" y="2752344"/>
              <a:ext cx="844550" cy="424180"/>
            </a:xfrm>
            <a:custGeom>
              <a:avLst/>
              <a:gdLst/>
              <a:ahLst/>
              <a:cxnLst/>
              <a:rect l="l" t="t" r="r" b="b"/>
              <a:pathLst>
                <a:path w="844550" h="424180">
                  <a:moveTo>
                    <a:pt x="6096" y="373380"/>
                  </a:moveTo>
                  <a:lnTo>
                    <a:pt x="6096" y="50292"/>
                  </a:lnTo>
                  <a:lnTo>
                    <a:pt x="3048" y="57912"/>
                  </a:lnTo>
                  <a:lnTo>
                    <a:pt x="1524" y="65532"/>
                  </a:lnTo>
                  <a:lnTo>
                    <a:pt x="0" y="74676"/>
                  </a:lnTo>
                  <a:lnTo>
                    <a:pt x="0" y="350520"/>
                  </a:lnTo>
                  <a:lnTo>
                    <a:pt x="1524" y="359664"/>
                  </a:lnTo>
                  <a:lnTo>
                    <a:pt x="4572" y="367284"/>
                  </a:lnTo>
                  <a:lnTo>
                    <a:pt x="6096" y="373380"/>
                  </a:lnTo>
                  <a:close/>
                </a:path>
                <a:path w="844550" h="424180">
                  <a:moveTo>
                    <a:pt x="13716" y="385572"/>
                  </a:moveTo>
                  <a:lnTo>
                    <a:pt x="13716" y="38100"/>
                  </a:lnTo>
                  <a:lnTo>
                    <a:pt x="7620" y="48768"/>
                  </a:lnTo>
                  <a:lnTo>
                    <a:pt x="6096" y="48768"/>
                  </a:lnTo>
                  <a:lnTo>
                    <a:pt x="6096" y="374904"/>
                  </a:lnTo>
                  <a:lnTo>
                    <a:pt x="7620" y="374904"/>
                  </a:lnTo>
                  <a:lnTo>
                    <a:pt x="13716" y="385572"/>
                  </a:lnTo>
                  <a:close/>
                </a:path>
                <a:path w="844550" h="424180">
                  <a:moveTo>
                    <a:pt x="22860" y="397764"/>
                  </a:moveTo>
                  <a:lnTo>
                    <a:pt x="22860" y="25908"/>
                  </a:lnTo>
                  <a:lnTo>
                    <a:pt x="15240" y="35052"/>
                  </a:lnTo>
                  <a:lnTo>
                    <a:pt x="13716" y="36576"/>
                  </a:lnTo>
                  <a:lnTo>
                    <a:pt x="13716" y="387096"/>
                  </a:lnTo>
                  <a:lnTo>
                    <a:pt x="15240" y="388620"/>
                  </a:lnTo>
                  <a:lnTo>
                    <a:pt x="22860" y="397764"/>
                  </a:lnTo>
                  <a:close/>
                </a:path>
                <a:path w="844550" h="424180">
                  <a:moveTo>
                    <a:pt x="24384" y="399288"/>
                  </a:moveTo>
                  <a:lnTo>
                    <a:pt x="24384" y="24384"/>
                  </a:lnTo>
                  <a:lnTo>
                    <a:pt x="22860" y="24384"/>
                  </a:lnTo>
                  <a:lnTo>
                    <a:pt x="22860" y="399288"/>
                  </a:lnTo>
                  <a:lnTo>
                    <a:pt x="24384" y="399288"/>
                  </a:lnTo>
                  <a:close/>
                </a:path>
                <a:path w="844550" h="424180">
                  <a:moveTo>
                    <a:pt x="809244" y="64008"/>
                  </a:moveTo>
                  <a:lnTo>
                    <a:pt x="809244" y="13716"/>
                  </a:lnTo>
                  <a:lnTo>
                    <a:pt x="807720" y="13716"/>
                  </a:lnTo>
                  <a:lnTo>
                    <a:pt x="797052" y="7620"/>
                  </a:lnTo>
                  <a:lnTo>
                    <a:pt x="795528" y="7620"/>
                  </a:lnTo>
                  <a:lnTo>
                    <a:pt x="794004" y="6096"/>
                  </a:lnTo>
                  <a:lnTo>
                    <a:pt x="786384" y="4572"/>
                  </a:lnTo>
                  <a:lnTo>
                    <a:pt x="778764" y="1524"/>
                  </a:lnTo>
                  <a:lnTo>
                    <a:pt x="771144" y="1524"/>
                  </a:lnTo>
                  <a:lnTo>
                    <a:pt x="763524" y="0"/>
                  </a:lnTo>
                  <a:lnTo>
                    <a:pt x="80772" y="0"/>
                  </a:lnTo>
                  <a:lnTo>
                    <a:pt x="71628" y="1524"/>
                  </a:lnTo>
                  <a:lnTo>
                    <a:pt x="56388" y="4572"/>
                  </a:lnTo>
                  <a:lnTo>
                    <a:pt x="50292" y="6096"/>
                  </a:lnTo>
                  <a:lnTo>
                    <a:pt x="50292" y="7620"/>
                  </a:lnTo>
                  <a:lnTo>
                    <a:pt x="48768" y="7620"/>
                  </a:lnTo>
                  <a:lnTo>
                    <a:pt x="36576" y="13716"/>
                  </a:lnTo>
                  <a:lnTo>
                    <a:pt x="35052" y="15240"/>
                  </a:lnTo>
                  <a:lnTo>
                    <a:pt x="24384" y="22860"/>
                  </a:lnTo>
                  <a:lnTo>
                    <a:pt x="24384" y="400812"/>
                  </a:lnTo>
                  <a:lnTo>
                    <a:pt x="32004" y="406254"/>
                  </a:lnTo>
                  <a:lnTo>
                    <a:pt x="32004" y="76200"/>
                  </a:lnTo>
                  <a:lnTo>
                    <a:pt x="33528" y="70104"/>
                  </a:lnTo>
                  <a:lnTo>
                    <a:pt x="33528" y="65532"/>
                  </a:lnTo>
                  <a:lnTo>
                    <a:pt x="36576" y="60960"/>
                  </a:lnTo>
                  <a:lnTo>
                    <a:pt x="36576" y="61341"/>
                  </a:lnTo>
                  <a:lnTo>
                    <a:pt x="39624" y="56007"/>
                  </a:lnTo>
                  <a:lnTo>
                    <a:pt x="39624" y="54864"/>
                  </a:lnTo>
                  <a:lnTo>
                    <a:pt x="45720" y="47548"/>
                  </a:lnTo>
                  <a:lnTo>
                    <a:pt x="45720" y="47244"/>
                  </a:lnTo>
                  <a:lnTo>
                    <a:pt x="47244" y="45720"/>
                  </a:lnTo>
                  <a:lnTo>
                    <a:pt x="47244" y="45974"/>
                  </a:lnTo>
                  <a:lnTo>
                    <a:pt x="51816" y="42164"/>
                  </a:lnTo>
                  <a:lnTo>
                    <a:pt x="51816" y="41148"/>
                  </a:lnTo>
                  <a:lnTo>
                    <a:pt x="64008" y="35052"/>
                  </a:lnTo>
                  <a:lnTo>
                    <a:pt x="64008" y="35814"/>
                  </a:lnTo>
                  <a:lnTo>
                    <a:pt x="67056" y="35052"/>
                  </a:lnTo>
                  <a:lnTo>
                    <a:pt x="76200" y="32004"/>
                  </a:lnTo>
                  <a:lnTo>
                    <a:pt x="769620" y="32004"/>
                  </a:lnTo>
                  <a:lnTo>
                    <a:pt x="781812" y="36068"/>
                  </a:lnTo>
                  <a:lnTo>
                    <a:pt x="781812" y="35052"/>
                  </a:lnTo>
                  <a:lnTo>
                    <a:pt x="792480" y="41148"/>
                  </a:lnTo>
                  <a:lnTo>
                    <a:pt x="792480" y="41801"/>
                  </a:lnTo>
                  <a:lnTo>
                    <a:pt x="800100" y="47244"/>
                  </a:lnTo>
                  <a:lnTo>
                    <a:pt x="800100" y="49377"/>
                  </a:lnTo>
                  <a:lnTo>
                    <a:pt x="804672" y="54864"/>
                  </a:lnTo>
                  <a:lnTo>
                    <a:pt x="804672" y="56007"/>
                  </a:lnTo>
                  <a:lnTo>
                    <a:pt x="809244" y="64008"/>
                  </a:lnTo>
                  <a:close/>
                </a:path>
                <a:path w="844550" h="424180">
                  <a:moveTo>
                    <a:pt x="36576" y="361188"/>
                  </a:moveTo>
                  <a:lnTo>
                    <a:pt x="33528" y="356616"/>
                  </a:lnTo>
                  <a:lnTo>
                    <a:pt x="32004" y="350520"/>
                  </a:lnTo>
                  <a:lnTo>
                    <a:pt x="32004" y="406254"/>
                  </a:lnTo>
                  <a:lnTo>
                    <a:pt x="35052" y="408432"/>
                  </a:lnTo>
                  <a:lnTo>
                    <a:pt x="35052" y="359664"/>
                  </a:lnTo>
                  <a:lnTo>
                    <a:pt x="36576" y="361188"/>
                  </a:lnTo>
                  <a:close/>
                </a:path>
                <a:path w="844550" h="424180">
                  <a:moveTo>
                    <a:pt x="36576" y="61341"/>
                  </a:moveTo>
                  <a:lnTo>
                    <a:pt x="36576" y="60960"/>
                  </a:lnTo>
                  <a:lnTo>
                    <a:pt x="35052" y="64008"/>
                  </a:lnTo>
                  <a:lnTo>
                    <a:pt x="36576" y="61341"/>
                  </a:lnTo>
                  <a:close/>
                </a:path>
                <a:path w="844550" h="424180">
                  <a:moveTo>
                    <a:pt x="41148" y="370332"/>
                  </a:moveTo>
                  <a:lnTo>
                    <a:pt x="35052" y="359664"/>
                  </a:lnTo>
                  <a:lnTo>
                    <a:pt x="35052" y="408432"/>
                  </a:lnTo>
                  <a:lnTo>
                    <a:pt x="36576" y="409956"/>
                  </a:lnTo>
                  <a:lnTo>
                    <a:pt x="39624" y="411480"/>
                  </a:lnTo>
                  <a:lnTo>
                    <a:pt x="39624" y="368808"/>
                  </a:lnTo>
                  <a:lnTo>
                    <a:pt x="41148" y="370332"/>
                  </a:lnTo>
                  <a:close/>
                </a:path>
                <a:path w="844550" h="424180">
                  <a:moveTo>
                    <a:pt x="41148" y="53340"/>
                  </a:moveTo>
                  <a:lnTo>
                    <a:pt x="39624" y="54864"/>
                  </a:lnTo>
                  <a:lnTo>
                    <a:pt x="39624" y="56007"/>
                  </a:lnTo>
                  <a:lnTo>
                    <a:pt x="41148" y="53340"/>
                  </a:lnTo>
                  <a:close/>
                </a:path>
                <a:path w="844550" h="424180">
                  <a:moveTo>
                    <a:pt x="46551" y="377120"/>
                  </a:moveTo>
                  <a:lnTo>
                    <a:pt x="39624" y="368808"/>
                  </a:lnTo>
                  <a:lnTo>
                    <a:pt x="39624" y="411480"/>
                  </a:lnTo>
                  <a:lnTo>
                    <a:pt x="45720" y="414528"/>
                  </a:lnTo>
                  <a:lnTo>
                    <a:pt x="45720" y="376428"/>
                  </a:lnTo>
                  <a:lnTo>
                    <a:pt x="46551" y="377120"/>
                  </a:lnTo>
                  <a:close/>
                </a:path>
                <a:path w="844550" h="424180">
                  <a:moveTo>
                    <a:pt x="47244" y="45720"/>
                  </a:moveTo>
                  <a:lnTo>
                    <a:pt x="45720" y="47244"/>
                  </a:lnTo>
                  <a:lnTo>
                    <a:pt x="46551" y="46551"/>
                  </a:lnTo>
                  <a:lnTo>
                    <a:pt x="47244" y="45720"/>
                  </a:lnTo>
                  <a:close/>
                </a:path>
                <a:path w="844550" h="424180">
                  <a:moveTo>
                    <a:pt x="46551" y="46551"/>
                  </a:moveTo>
                  <a:lnTo>
                    <a:pt x="45720" y="47244"/>
                  </a:lnTo>
                  <a:lnTo>
                    <a:pt x="45720" y="47548"/>
                  </a:lnTo>
                  <a:lnTo>
                    <a:pt x="46551" y="46551"/>
                  </a:lnTo>
                  <a:close/>
                </a:path>
                <a:path w="844550" h="424180">
                  <a:moveTo>
                    <a:pt x="47244" y="377952"/>
                  </a:moveTo>
                  <a:lnTo>
                    <a:pt x="46551" y="377120"/>
                  </a:lnTo>
                  <a:lnTo>
                    <a:pt x="45720" y="376428"/>
                  </a:lnTo>
                  <a:lnTo>
                    <a:pt x="47244" y="377952"/>
                  </a:lnTo>
                  <a:close/>
                </a:path>
                <a:path w="844550" h="424180">
                  <a:moveTo>
                    <a:pt x="47244" y="415290"/>
                  </a:moveTo>
                  <a:lnTo>
                    <a:pt x="47244" y="377952"/>
                  </a:lnTo>
                  <a:lnTo>
                    <a:pt x="45720" y="376428"/>
                  </a:lnTo>
                  <a:lnTo>
                    <a:pt x="45720" y="414528"/>
                  </a:lnTo>
                  <a:lnTo>
                    <a:pt x="47244" y="415290"/>
                  </a:lnTo>
                  <a:close/>
                </a:path>
                <a:path w="844550" h="424180">
                  <a:moveTo>
                    <a:pt x="47244" y="45974"/>
                  </a:moveTo>
                  <a:lnTo>
                    <a:pt x="47244" y="45720"/>
                  </a:lnTo>
                  <a:lnTo>
                    <a:pt x="46551" y="46551"/>
                  </a:lnTo>
                  <a:lnTo>
                    <a:pt x="47244" y="45974"/>
                  </a:lnTo>
                  <a:close/>
                </a:path>
                <a:path w="844550" h="424180">
                  <a:moveTo>
                    <a:pt x="54864" y="384048"/>
                  </a:moveTo>
                  <a:lnTo>
                    <a:pt x="46551" y="377120"/>
                  </a:lnTo>
                  <a:lnTo>
                    <a:pt x="47244" y="377952"/>
                  </a:lnTo>
                  <a:lnTo>
                    <a:pt x="47244" y="415290"/>
                  </a:lnTo>
                  <a:lnTo>
                    <a:pt x="48768" y="416052"/>
                  </a:lnTo>
                  <a:lnTo>
                    <a:pt x="50292" y="416052"/>
                  </a:lnTo>
                  <a:lnTo>
                    <a:pt x="50292" y="417576"/>
                  </a:lnTo>
                  <a:lnTo>
                    <a:pt x="51816" y="417880"/>
                  </a:lnTo>
                  <a:lnTo>
                    <a:pt x="51816" y="382524"/>
                  </a:lnTo>
                  <a:lnTo>
                    <a:pt x="54864" y="384048"/>
                  </a:lnTo>
                  <a:close/>
                </a:path>
                <a:path w="844550" h="424180">
                  <a:moveTo>
                    <a:pt x="54864" y="39624"/>
                  </a:moveTo>
                  <a:lnTo>
                    <a:pt x="51816" y="41148"/>
                  </a:lnTo>
                  <a:lnTo>
                    <a:pt x="51816" y="42164"/>
                  </a:lnTo>
                  <a:lnTo>
                    <a:pt x="54864" y="39624"/>
                  </a:lnTo>
                  <a:close/>
                </a:path>
                <a:path w="844550" h="424180">
                  <a:moveTo>
                    <a:pt x="64008" y="421538"/>
                  </a:moveTo>
                  <a:lnTo>
                    <a:pt x="64008" y="388620"/>
                  </a:lnTo>
                  <a:lnTo>
                    <a:pt x="51816" y="382524"/>
                  </a:lnTo>
                  <a:lnTo>
                    <a:pt x="51816" y="417880"/>
                  </a:lnTo>
                  <a:lnTo>
                    <a:pt x="57912" y="419100"/>
                  </a:lnTo>
                  <a:lnTo>
                    <a:pt x="64008" y="421538"/>
                  </a:lnTo>
                  <a:close/>
                </a:path>
                <a:path w="844550" h="424180">
                  <a:moveTo>
                    <a:pt x="64008" y="35814"/>
                  </a:moveTo>
                  <a:lnTo>
                    <a:pt x="64008" y="35052"/>
                  </a:lnTo>
                  <a:lnTo>
                    <a:pt x="60960" y="36576"/>
                  </a:lnTo>
                  <a:lnTo>
                    <a:pt x="64008" y="35814"/>
                  </a:lnTo>
                  <a:close/>
                </a:path>
                <a:path w="844550" h="424180">
                  <a:moveTo>
                    <a:pt x="783336" y="387096"/>
                  </a:moveTo>
                  <a:lnTo>
                    <a:pt x="777240" y="388620"/>
                  </a:lnTo>
                  <a:lnTo>
                    <a:pt x="768096" y="391668"/>
                  </a:lnTo>
                  <a:lnTo>
                    <a:pt x="80772" y="391668"/>
                  </a:lnTo>
                  <a:lnTo>
                    <a:pt x="74676" y="390144"/>
                  </a:lnTo>
                  <a:lnTo>
                    <a:pt x="70104" y="390144"/>
                  </a:lnTo>
                  <a:lnTo>
                    <a:pt x="60960" y="387096"/>
                  </a:lnTo>
                  <a:lnTo>
                    <a:pt x="64008" y="388620"/>
                  </a:lnTo>
                  <a:lnTo>
                    <a:pt x="64008" y="421538"/>
                  </a:lnTo>
                  <a:lnTo>
                    <a:pt x="65532" y="422148"/>
                  </a:lnTo>
                  <a:lnTo>
                    <a:pt x="73152" y="422148"/>
                  </a:lnTo>
                  <a:lnTo>
                    <a:pt x="80772" y="423672"/>
                  </a:lnTo>
                  <a:lnTo>
                    <a:pt x="763524" y="422151"/>
                  </a:lnTo>
                  <a:lnTo>
                    <a:pt x="772668" y="422148"/>
                  </a:lnTo>
                  <a:lnTo>
                    <a:pt x="781812" y="420319"/>
                  </a:lnTo>
                  <a:lnTo>
                    <a:pt x="781812" y="388620"/>
                  </a:lnTo>
                  <a:lnTo>
                    <a:pt x="783336" y="387096"/>
                  </a:lnTo>
                  <a:close/>
                </a:path>
                <a:path w="844550" h="424180">
                  <a:moveTo>
                    <a:pt x="783336" y="36576"/>
                  </a:moveTo>
                  <a:lnTo>
                    <a:pt x="781812" y="35052"/>
                  </a:lnTo>
                  <a:lnTo>
                    <a:pt x="781812" y="36068"/>
                  </a:lnTo>
                  <a:lnTo>
                    <a:pt x="783336" y="36576"/>
                  </a:lnTo>
                  <a:close/>
                </a:path>
                <a:path w="844550" h="424180">
                  <a:moveTo>
                    <a:pt x="792480" y="417957"/>
                  </a:moveTo>
                  <a:lnTo>
                    <a:pt x="792480" y="382524"/>
                  </a:lnTo>
                  <a:lnTo>
                    <a:pt x="781812" y="388620"/>
                  </a:lnTo>
                  <a:lnTo>
                    <a:pt x="781812" y="420319"/>
                  </a:lnTo>
                  <a:lnTo>
                    <a:pt x="787908" y="419100"/>
                  </a:lnTo>
                  <a:lnTo>
                    <a:pt x="792480" y="417957"/>
                  </a:lnTo>
                  <a:close/>
                </a:path>
                <a:path w="844550" h="424180">
                  <a:moveTo>
                    <a:pt x="792480" y="41801"/>
                  </a:moveTo>
                  <a:lnTo>
                    <a:pt x="792480" y="41148"/>
                  </a:lnTo>
                  <a:lnTo>
                    <a:pt x="789432" y="39624"/>
                  </a:lnTo>
                  <a:lnTo>
                    <a:pt x="792480" y="41801"/>
                  </a:lnTo>
                  <a:close/>
                </a:path>
                <a:path w="844550" h="424180">
                  <a:moveTo>
                    <a:pt x="800100" y="414310"/>
                  </a:moveTo>
                  <a:lnTo>
                    <a:pt x="800100" y="376428"/>
                  </a:lnTo>
                  <a:lnTo>
                    <a:pt x="789432" y="384048"/>
                  </a:lnTo>
                  <a:lnTo>
                    <a:pt x="792480" y="382524"/>
                  </a:lnTo>
                  <a:lnTo>
                    <a:pt x="792480" y="417957"/>
                  </a:lnTo>
                  <a:lnTo>
                    <a:pt x="794004" y="417576"/>
                  </a:lnTo>
                  <a:lnTo>
                    <a:pt x="795528" y="416052"/>
                  </a:lnTo>
                  <a:lnTo>
                    <a:pt x="797052" y="416052"/>
                  </a:lnTo>
                  <a:lnTo>
                    <a:pt x="800100" y="414310"/>
                  </a:lnTo>
                  <a:close/>
                </a:path>
                <a:path w="844550" h="424180">
                  <a:moveTo>
                    <a:pt x="800100" y="49377"/>
                  </a:moveTo>
                  <a:lnTo>
                    <a:pt x="800100" y="47244"/>
                  </a:lnTo>
                  <a:lnTo>
                    <a:pt x="797052" y="45720"/>
                  </a:lnTo>
                  <a:lnTo>
                    <a:pt x="800100" y="49377"/>
                  </a:lnTo>
                  <a:close/>
                </a:path>
                <a:path w="844550" h="424180">
                  <a:moveTo>
                    <a:pt x="804672" y="411697"/>
                  </a:moveTo>
                  <a:lnTo>
                    <a:pt x="804672" y="368808"/>
                  </a:lnTo>
                  <a:lnTo>
                    <a:pt x="797052" y="377952"/>
                  </a:lnTo>
                  <a:lnTo>
                    <a:pt x="800100" y="376428"/>
                  </a:lnTo>
                  <a:lnTo>
                    <a:pt x="800100" y="414310"/>
                  </a:lnTo>
                  <a:lnTo>
                    <a:pt x="804672" y="411697"/>
                  </a:lnTo>
                  <a:close/>
                </a:path>
                <a:path w="844550" h="424180">
                  <a:moveTo>
                    <a:pt x="804672" y="56007"/>
                  </a:moveTo>
                  <a:lnTo>
                    <a:pt x="804672" y="54864"/>
                  </a:lnTo>
                  <a:lnTo>
                    <a:pt x="803148" y="53340"/>
                  </a:lnTo>
                  <a:lnTo>
                    <a:pt x="804672" y="56007"/>
                  </a:lnTo>
                  <a:close/>
                </a:path>
                <a:path w="844550" h="424180">
                  <a:moveTo>
                    <a:pt x="809244" y="409956"/>
                  </a:moveTo>
                  <a:lnTo>
                    <a:pt x="809244" y="359664"/>
                  </a:lnTo>
                  <a:lnTo>
                    <a:pt x="803148" y="370332"/>
                  </a:lnTo>
                  <a:lnTo>
                    <a:pt x="804672" y="368808"/>
                  </a:lnTo>
                  <a:lnTo>
                    <a:pt x="804672" y="411697"/>
                  </a:lnTo>
                  <a:lnTo>
                    <a:pt x="807720" y="409956"/>
                  </a:lnTo>
                  <a:lnTo>
                    <a:pt x="809244" y="409956"/>
                  </a:lnTo>
                  <a:close/>
                </a:path>
                <a:path w="844550" h="424180">
                  <a:moveTo>
                    <a:pt x="819912" y="400812"/>
                  </a:moveTo>
                  <a:lnTo>
                    <a:pt x="819912" y="22860"/>
                  </a:lnTo>
                  <a:lnTo>
                    <a:pt x="810768" y="15240"/>
                  </a:lnTo>
                  <a:lnTo>
                    <a:pt x="809244" y="15240"/>
                  </a:lnTo>
                  <a:lnTo>
                    <a:pt x="809244" y="60960"/>
                  </a:lnTo>
                  <a:lnTo>
                    <a:pt x="812292" y="73152"/>
                  </a:lnTo>
                  <a:lnTo>
                    <a:pt x="812292" y="407162"/>
                  </a:lnTo>
                  <a:lnTo>
                    <a:pt x="819912" y="400812"/>
                  </a:lnTo>
                  <a:close/>
                </a:path>
                <a:path w="844550" h="424180">
                  <a:moveTo>
                    <a:pt x="812292" y="407162"/>
                  </a:moveTo>
                  <a:lnTo>
                    <a:pt x="812292" y="353568"/>
                  </a:lnTo>
                  <a:lnTo>
                    <a:pt x="810768" y="356616"/>
                  </a:lnTo>
                  <a:lnTo>
                    <a:pt x="809244" y="361188"/>
                  </a:lnTo>
                  <a:lnTo>
                    <a:pt x="809244" y="408432"/>
                  </a:lnTo>
                  <a:lnTo>
                    <a:pt x="810768" y="408432"/>
                  </a:lnTo>
                  <a:lnTo>
                    <a:pt x="812292" y="407162"/>
                  </a:lnTo>
                  <a:close/>
                </a:path>
                <a:path w="844550" h="424180">
                  <a:moveTo>
                    <a:pt x="821436" y="399288"/>
                  </a:moveTo>
                  <a:lnTo>
                    <a:pt x="821436" y="24384"/>
                  </a:lnTo>
                  <a:lnTo>
                    <a:pt x="819912" y="24384"/>
                  </a:lnTo>
                  <a:lnTo>
                    <a:pt x="819912" y="399288"/>
                  </a:lnTo>
                  <a:lnTo>
                    <a:pt x="821436" y="399288"/>
                  </a:lnTo>
                  <a:close/>
                </a:path>
                <a:path w="844550" h="424180">
                  <a:moveTo>
                    <a:pt x="830580" y="388620"/>
                  </a:moveTo>
                  <a:lnTo>
                    <a:pt x="830580" y="35052"/>
                  </a:lnTo>
                  <a:lnTo>
                    <a:pt x="821436" y="25908"/>
                  </a:lnTo>
                  <a:lnTo>
                    <a:pt x="821436" y="397764"/>
                  </a:lnTo>
                  <a:lnTo>
                    <a:pt x="830580" y="388620"/>
                  </a:lnTo>
                  <a:close/>
                </a:path>
                <a:path w="844550" h="424180">
                  <a:moveTo>
                    <a:pt x="838200" y="374904"/>
                  </a:moveTo>
                  <a:lnTo>
                    <a:pt x="838200" y="48768"/>
                  </a:lnTo>
                  <a:lnTo>
                    <a:pt x="832104" y="38100"/>
                  </a:lnTo>
                  <a:lnTo>
                    <a:pt x="830580" y="36576"/>
                  </a:lnTo>
                  <a:lnTo>
                    <a:pt x="830580" y="387096"/>
                  </a:lnTo>
                  <a:lnTo>
                    <a:pt x="832104" y="385572"/>
                  </a:lnTo>
                  <a:lnTo>
                    <a:pt x="838200" y="374904"/>
                  </a:lnTo>
                  <a:close/>
                </a:path>
                <a:path w="844550" h="424180">
                  <a:moveTo>
                    <a:pt x="844296" y="348996"/>
                  </a:moveTo>
                  <a:lnTo>
                    <a:pt x="844296" y="73152"/>
                  </a:lnTo>
                  <a:lnTo>
                    <a:pt x="842772" y="64008"/>
                  </a:lnTo>
                  <a:lnTo>
                    <a:pt x="841248" y="56388"/>
                  </a:lnTo>
                  <a:lnTo>
                    <a:pt x="838200" y="50292"/>
                  </a:lnTo>
                  <a:lnTo>
                    <a:pt x="838200" y="373380"/>
                  </a:lnTo>
                  <a:lnTo>
                    <a:pt x="841248" y="365760"/>
                  </a:lnTo>
                  <a:lnTo>
                    <a:pt x="842772" y="358140"/>
                  </a:lnTo>
                  <a:lnTo>
                    <a:pt x="844296" y="34899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8671734" y="2509911"/>
            <a:ext cx="610881" cy="34685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78957" marR="4611" indent="-68006">
              <a:spcBef>
                <a:spcPts val="91"/>
              </a:spcBef>
            </a:pPr>
            <a:r>
              <a:rPr sz="1089" b="1" dirty="0">
                <a:latin typeface="Arial"/>
                <a:cs typeface="Arial"/>
              </a:rPr>
              <a:t>S</a:t>
            </a:r>
            <a:r>
              <a:rPr sz="1089" b="1" spc="-5" dirty="0">
                <a:latin typeface="Arial"/>
                <a:cs typeface="Arial"/>
              </a:rPr>
              <a:t>oft</a:t>
            </a:r>
            <a:r>
              <a:rPr sz="1089" b="1" spc="23" dirty="0">
                <a:latin typeface="Arial"/>
                <a:cs typeface="Arial"/>
              </a:rPr>
              <a:t>w</a:t>
            </a:r>
            <a:r>
              <a:rPr sz="1089" b="1" dirty="0">
                <a:latin typeface="Arial"/>
                <a:cs typeface="Arial"/>
              </a:rPr>
              <a:t>are  </a:t>
            </a:r>
            <a:r>
              <a:rPr sz="1089" b="1" spc="-5" dirty="0">
                <a:latin typeface="Arial"/>
                <a:cs typeface="Arial"/>
              </a:rPr>
              <a:t>R=0.99</a:t>
            </a:r>
            <a:endParaRPr sz="1089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9374821" y="2726141"/>
            <a:ext cx="271438" cy="23627"/>
          </a:xfrm>
          <a:custGeom>
            <a:avLst/>
            <a:gdLst/>
            <a:ahLst/>
            <a:cxnLst/>
            <a:rect l="l" t="t" r="r" b="b"/>
            <a:pathLst>
              <a:path w="299084" h="26035">
                <a:moveTo>
                  <a:pt x="298703" y="25907"/>
                </a:moveTo>
                <a:lnTo>
                  <a:pt x="298703" y="0"/>
                </a:lnTo>
                <a:lnTo>
                  <a:pt x="0" y="0"/>
                </a:lnTo>
                <a:lnTo>
                  <a:pt x="0" y="25907"/>
                </a:lnTo>
                <a:lnTo>
                  <a:pt x="298703" y="25907"/>
                </a:lnTo>
                <a:close/>
              </a:path>
            </a:pathLst>
          </a:custGeom>
          <a:solidFill>
            <a:srgbClr val="0000FF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/>
          <p:nvPr/>
        </p:nvSpPr>
        <p:spPr>
          <a:xfrm>
            <a:off x="2446743" y="3903182"/>
            <a:ext cx="136929" cy="1369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/>
          <p:nvPr/>
        </p:nvSpPr>
        <p:spPr>
          <a:xfrm>
            <a:off x="2446743" y="4676349"/>
            <a:ext cx="136929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5" name="object 15"/>
          <p:cNvSpPr txBox="1"/>
          <p:nvPr/>
        </p:nvSpPr>
        <p:spPr>
          <a:xfrm>
            <a:off x="1209821" y="1145094"/>
            <a:ext cx="8857228" cy="26311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>
              <a:spcBef>
                <a:spcPts val="91"/>
              </a:spcBef>
            </a:pP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A </a:t>
            </a:r>
            <a:r>
              <a:rPr sz="1634" b="1" spc="-9" dirty="0">
                <a:solidFill>
                  <a:schemeClr val="bg1"/>
                </a:solidFill>
                <a:latin typeface="Arial"/>
                <a:cs typeface="Arial"/>
              </a:rPr>
              <a:t>system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is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made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up of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components/sub-systems; each has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its </a:t>
            </a:r>
            <a:r>
              <a:rPr sz="1634" b="1" spc="5" dirty="0">
                <a:solidFill>
                  <a:schemeClr val="bg1"/>
                </a:solidFill>
                <a:latin typeface="Arial"/>
                <a:cs typeface="Arial"/>
              </a:rPr>
              <a:t>own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inherent  </a:t>
            </a:r>
            <a:r>
              <a:rPr sz="1634" b="1" spc="-14" dirty="0">
                <a:solidFill>
                  <a:schemeClr val="bg1"/>
                </a:solidFill>
                <a:latin typeface="Arial"/>
                <a:cs typeface="Arial"/>
              </a:rPr>
              <a:t>reliability.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105681" y="3064641"/>
            <a:ext cx="7980637" cy="322341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905984" marR="6060643" indent="-301995">
              <a:spcBef>
                <a:spcPts val="91"/>
              </a:spcBef>
            </a:pPr>
            <a:r>
              <a:rPr sz="1271" b="1" spc="-5" dirty="0">
                <a:latin typeface="Arial"/>
                <a:cs typeface="Arial"/>
              </a:rPr>
              <a:t>Computer</a:t>
            </a:r>
            <a:r>
              <a:rPr sz="1271" b="1" spc="-73" dirty="0">
                <a:latin typeface="Arial"/>
                <a:cs typeface="Arial"/>
              </a:rPr>
              <a:t> </a:t>
            </a:r>
            <a:r>
              <a:rPr sz="1271" b="1" spc="-5" dirty="0">
                <a:latin typeface="Arial"/>
                <a:cs typeface="Arial"/>
              </a:rPr>
              <a:t>Server  R=0.9665</a:t>
            </a:r>
            <a:endParaRPr sz="1271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361" dirty="0">
              <a:latin typeface="Arial"/>
              <a:cs typeface="Arial"/>
            </a:endParaRPr>
          </a:p>
          <a:p>
            <a:pPr>
              <a:spcBef>
                <a:spcPts val="32"/>
              </a:spcBef>
            </a:pPr>
            <a:endParaRPr sz="1588" dirty="0">
              <a:latin typeface="Arial"/>
              <a:cs typeface="Arial"/>
            </a:endParaRPr>
          </a:p>
          <a:p>
            <a:pPr marL="474893" marR="99704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“traditional” reliability program may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include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modeling, evaluation and testing to prove that  the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hardware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meets the reliability target, but software should not be forgotten as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it 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 system</a:t>
            </a:r>
            <a:r>
              <a:rPr sz="1452" spc="18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component.</a:t>
            </a:r>
            <a:endParaRPr sz="1452" dirty="0">
              <a:latin typeface="Arial"/>
              <a:cs typeface="Arial"/>
            </a:endParaRPr>
          </a:p>
          <a:p>
            <a:pPr marL="474893" marR="4611">
              <a:spcBef>
                <a:spcPts val="871"/>
              </a:spcBef>
            </a:pP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Individually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hardware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software may meet the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target…but they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also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have to 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when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they are</a:t>
            </a:r>
            <a:r>
              <a:rPr sz="1452" spc="41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combined.</a:t>
            </a:r>
            <a:endParaRPr sz="1452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634" dirty="0">
              <a:latin typeface="Arial"/>
              <a:cs typeface="Arial"/>
            </a:endParaRPr>
          </a:p>
          <a:p>
            <a:pPr marL="11527" marR="174627" algn="ctr">
              <a:spcBef>
                <a:spcPts val="1035"/>
              </a:spcBef>
            </a:pPr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spc="-5" dirty="0">
                <a:latin typeface="Arial"/>
                <a:cs typeface="Arial"/>
              </a:rPr>
              <a:t>probability </a:t>
            </a:r>
            <a:r>
              <a:rPr sz="1634" b="1" dirty="0">
                <a:latin typeface="Arial"/>
                <a:cs typeface="Arial"/>
              </a:rPr>
              <a:t>of </a:t>
            </a:r>
            <a:r>
              <a:rPr sz="1634" b="1" spc="-5" dirty="0">
                <a:latin typeface="Arial"/>
                <a:cs typeface="Arial"/>
              </a:rPr>
              <a:t>failure </a:t>
            </a:r>
            <a:r>
              <a:rPr sz="1634" b="1" dirty="0">
                <a:latin typeface="Arial"/>
                <a:cs typeface="Arial"/>
              </a:rPr>
              <a:t>= </a:t>
            </a:r>
            <a:r>
              <a:rPr sz="1634" b="1" spc="-5" dirty="0">
                <a:latin typeface="Arial"/>
                <a:cs typeface="Arial"/>
              </a:rPr>
              <a:t>H/W Failure Probability </a:t>
            </a:r>
            <a:r>
              <a:rPr sz="1634" b="1" dirty="0">
                <a:latin typeface="Arial"/>
                <a:cs typeface="Arial"/>
              </a:rPr>
              <a:t>x </a:t>
            </a:r>
            <a:r>
              <a:rPr sz="1634" b="1" spc="-5" dirty="0">
                <a:latin typeface="Arial"/>
                <a:cs typeface="Arial"/>
              </a:rPr>
              <a:t>S/W Failure Probability  I.e., H/W </a:t>
            </a:r>
            <a:r>
              <a:rPr sz="1634" b="1" dirty="0">
                <a:latin typeface="Arial"/>
                <a:cs typeface="Arial"/>
              </a:rPr>
              <a:t>= </a:t>
            </a:r>
            <a:r>
              <a:rPr sz="1634" b="1" spc="-5" dirty="0">
                <a:latin typeface="Arial"/>
                <a:cs typeface="Arial"/>
              </a:rPr>
              <a:t>0.9665, S/W </a:t>
            </a:r>
            <a:r>
              <a:rPr sz="1634" b="1" dirty="0">
                <a:latin typeface="Arial"/>
                <a:cs typeface="Arial"/>
              </a:rPr>
              <a:t>= </a:t>
            </a:r>
            <a:r>
              <a:rPr sz="1634" b="1" spc="-5" dirty="0">
                <a:latin typeface="Arial"/>
                <a:cs typeface="Arial"/>
              </a:rPr>
              <a:t>0.99, </a:t>
            </a:r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dirty="0">
                <a:latin typeface="Arial"/>
                <a:cs typeface="Arial"/>
              </a:rPr>
              <a:t>= </a:t>
            </a:r>
            <a:r>
              <a:rPr sz="1634" b="1" spc="-5" dirty="0">
                <a:latin typeface="Arial"/>
                <a:cs typeface="Arial"/>
              </a:rPr>
              <a:t>0.9665 </a:t>
            </a:r>
            <a:r>
              <a:rPr sz="1634" b="1" dirty="0">
                <a:latin typeface="Arial"/>
                <a:cs typeface="Arial"/>
              </a:rPr>
              <a:t>x </a:t>
            </a:r>
            <a:r>
              <a:rPr sz="1634" b="1" spc="-5" dirty="0">
                <a:latin typeface="Arial"/>
                <a:cs typeface="Arial"/>
              </a:rPr>
              <a:t>0.99 </a:t>
            </a:r>
            <a:r>
              <a:rPr sz="1634" b="1" dirty="0">
                <a:latin typeface="Arial"/>
                <a:cs typeface="Arial"/>
              </a:rPr>
              <a:t>=</a:t>
            </a:r>
            <a:r>
              <a:rPr sz="1634" b="1" spc="64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0.9568</a:t>
            </a:r>
            <a:endParaRPr sz="1634" dirty="0">
              <a:latin typeface="Arial"/>
              <a:cs typeface="Arial"/>
            </a:endParaRPr>
          </a:p>
          <a:p>
            <a:pPr marR="161371" algn="ctr"/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spc="-5" dirty="0">
                <a:latin typeface="Arial"/>
                <a:cs typeface="Arial"/>
              </a:rPr>
              <a:t>Reliability </a:t>
            </a:r>
            <a:r>
              <a:rPr sz="1634" b="1" dirty="0">
                <a:latin typeface="Arial"/>
                <a:cs typeface="Arial"/>
              </a:rPr>
              <a:t>=</a:t>
            </a:r>
            <a:r>
              <a:rPr sz="1634" b="1" spc="9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95.68%</a:t>
            </a:r>
            <a:endParaRPr sz="1634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79465" y="602381"/>
            <a:ext cx="8363404" cy="565636"/>
          </a:xfrm>
          <a:prstGeom prst="rect">
            <a:avLst/>
          </a:prstGeom>
        </p:spPr>
        <p:txBody>
          <a:bodyPr vert="horz" wrap="square" lIns="0" tIns="11526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91"/>
              </a:spcBef>
            </a:pPr>
            <a:r>
              <a:rPr spc="-9" dirty="0"/>
              <a:t>System-Level </a:t>
            </a:r>
            <a:r>
              <a:rPr sz="3449" spc="-5" dirty="0"/>
              <a:t>Reliability Modeling </a:t>
            </a:r>
            <a:r>
              <a:rPr sz="1815" dirty="0">
                <a:latin typeface="Arial"/>
                <a:cs typeface="Arial"/>
              </a:rPr>
              <a:t>(2 of</a:t>
            </a:r>
            <a:r>
              <a:rPr sz="1815" spc="77" dirty="0">
                <a:latin typeface="Arial"/>
                <a:cs typeface="Arial"/>
              </a:rPr>
              <a:t> </a:t>
            </a:r>
            <a:r>
              <a:rPr sz="1815" dirty="0">
                <a:latin typeface="Arial"/>
                <a:cs typeface="Arial"/>
              </a:rPr>
              <a:t>2)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282268" y="2465772"/>
            <a:ext cx="2444099" cy="126903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>
              <a:spcBef>
                <a:spcPts val="91"/>
              </a:spcBef>
            </a:pPr>
            <a:r>
              <a:rPr sz="1634" b="1" spc="-5" dirty="0">
                <a:latin typeface="Arial"/>
                <a:cs typeface="Arial"/>
              </a:rPr>
              <a:t>Therefore </a:t>
            </a:r>
            <a:r>
              <a:rPr sz="1634" b="1" dirty="0">
                <a:latin typeface="Arial"/>
                <a:cs typeface="Arial"/>
              </a:rPr>
              <a:t>the software  </a:t>
            </a:r>
            <a:r>
              <a:rPr sz="1634" b="1" spc="-5" dirty="0">
                <a:latin typeface="Arial"/>
                <a:cs typeface="Arial"/>
              </a:rPr>
              <a:t>reliability should also </a:t>
            </a:r>
            <a:r>
              <a:rPr sz="1634" b="1" dirty="0">
                <a:latin typeface="Arial"/>
                <a:cs typeface="Arial"/>
              </a:rPr>
              <a:t>be  </a:t>
            </a:r>
            <a:r>
              <a:rPr sz="1634" b="1" spc="-5" dirty="0">
                <a:latin typeface="Arial"/>
                <a:cs typeface="Arial"/>
              </a:rPr>
              <a:t>accounted </a:t>
            </a:r>
            <a:r>
              <a:rPr sz="1634" b="1" dirty="0">
                <a:latin typeface="Arial"/>
                <a:cs typeface="Arial"/>
              </a:rPr>
              <a:t>for in the  </a:t>
            </a:r>
            <a:r>
              <a:rPr sz="1634" b="1" spc="-9" dirty="0">
                <a:latin typeface="Arial"/>
                <a:cs typeface="Arial"/>
              </a:rPr>
              <a:t>system-level </a:t>
            </a:r>
            <a:r>
              <a:rPr sz="1634" b="1" spc="-5" dirty="0">
                <a:latin typeface="Arial"/>
                <a:cs typeface="Arial"/>
              </a:rPr>
              <a:t>reliability  model.</a:t>
            </a:r>
            <a:endParaRPr sz="1634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35678" y="4287691"/>
            <a:ext cx="136929" cy="136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35678" y="5060857"/>
            <a:ext cx="136929" cy="13831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435678" y="5615492"/>
            <a:ext cx="136929" cy="136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 txBox="1"/>
          <p:nvPr/>
        </p:nvSpPr>
        <p:spPr>
          <a:xfrm>
            <a:off x="2637158" y="4224988"/>
            <a:ext cx="7206087" cy="1806100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 marR="4611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Software may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consist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of both the operating system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(OS)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configurable (turnkey)  software. It may not be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possible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to influence the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OS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design, but turnkey software can be  focused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on.</a:t>
            </a:r>
            <a:endParaRPr sz="1452">
              <a:latin typeface="Arial"/>
              <a:cs typeface="Arial"/>
            </a:endParaRPr>
          </a:p>
          <a:p>
            <a:pPr marL="11527" marR="367696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This may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consist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of re-used software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such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as library functions and newly developed  software.</a:t>
            </a:r>
            <a:endParaRPr sz="1452">
              <a:latin typeface="Arial"/>
              <a:cs typeface="Arial"/>
            </a:endParaRPr>
          </a:p>
          <a:p>
            <a:pPr marL="11527" marR="102010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If the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of the library functions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already understood then library function re-use 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simplifies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software reliability engineering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process.</a:t>
            </a:r>
            <a:endParaRPr sz="1452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88512" y="1301521"/>
            <a:ext cx="4954473" cy="2913209"/>
            <a:chOff x="4236597" y="1434083"/>
            <a:chExt cx="5459095" cy="3209925"/>
          </a:xfrm>
        </p:grpSpPr>
        <p:sp>
          <p:nvSpPr>
            <p:cNvPr id="10" name="object 10"/>
            <p:cNvSpPr/>
            <p:nvPr/>
          </p:nvSpPr>
          <p:spPr>
            <a:xfrm>
              <a:off x="5253106" y="3601212"/>
              <a:ext cx="327660" cy="129539"/>
            </a:xfrm>
            <a:custGeom>
              <a:avLst/>
              <a:gdLst/>
              <a:ahLst/>
              <a:cxnLst/>
              <a:rect l="l" t="t" r="r" b="b"/>
              <a:pathLst>
                <a:path w="327660" h="129539">
                  <a:moveTo>
                    <a:pt x="163067" y="0"/>
                  </a:moveTo>
                  <a:lnTo>
                    <a:pt x="0" y="0"/>
                  </a:lnTo>
                  <a:lnTo>
                    <a:pt x="163067" y="0"/>
                  </a:lnTo>
                  <a:close/>
                </a:path>
                <a:path w="327660" h="129539">
                  <a:moveTo>
                    <a:pt x="327660" y="44196"/>
                  </a:moveTo>
                  <a:lnTo>
                    <a:pt x="326135" y="43377"/>
                  </a:lnTo>
                  <a:lnTo>
                    <a:pt x="326135" y="45014"/>
                  </a:lnTo>
                  <a:lnTo>
                    <a:pt x="327660" y="44196"/>
                  </a:lnTo>
                  <a:close/>
                </a:path>
                <a:path w="327660" h="129539">
                  <a:moveTo>
                    <a:pt x="324821" y="45720"/>
                  </a:moveTo>
                  <a:lnTo>
                    <a:pt x="323087" y="45720"/>
                  </a:lnTo>
                  <a:lnTo>
                    <a:pt x="313943" y="50292"/>
                  </a:lnTo>
                  <a:lnTo>
                    <a:pt x="312419" y="51816"/>
                  </a:lnTo>
                  <a:lnTo>
                    <a:pt x="294131" y="60960"/>
                  </a:lnTo>
                  <a:lnTo>
                    <a:pt x="292607" y="62484"/>
                  </a:lnTo>
                  <a:lnTo>
                    <a:pt x="277367" y="70104"/>
                  </a:lnTo>
                  <a:lnTo>
                    <a:pt x="275843" y="71628"/>
                  </a:lnTo>
                  <a:lnTo>
                    <a:pt x="260603" y="79248"/>
                  </a:lnTo>
                  <a:lnTo>
                    <a:pt x="259079" y="80772"/>
                  </a:lnTo>
                  <a:lnTo>
                    <a:pt x="240791" y="89916"/>
                  </a:lnTo>
                  <a:lnTo>
                    <a:pt x="239267" y="91440"/>
                  </a:lnTo>
                  <a:lnTo>
                    <a:pt x="224027" y="99060"/>
                  </a:lnTo>
                  <a:lnTo>
                    <a:pt x="222503" y="100584"/>
                  </a:lnTo>
                  <a:lnTo>
                    <a:pt x="207263" y="108204"/>
                  </a:lnTo>
                  <a:lnTo>
                    <a:pt x="205861" y="109606"/>
                  </a:lnTo>
                  <a:lnTo>
                    <a:pt x="324821" y="45720"/>
                  </a:lnTo>
                  <a:close/>
                </a:path>
                <a:path w="327660" h="129539">
                  <a:moveTo>
                    <a:pt x="204210" y="110492"/>
                  </a:moveTo>
                  <a:lnTo>
                    <a:pt x="190499" y="117348"/>
                  </a:lnTo>
                  <a:lnTo>
                    <a:pt x="189402" y="118445"/>
                  </a:lnTo>
                  <a:lnTo>
                    <a:pt x="204210" y="110492"/>
                  </a:lnTo>
                  <a:close/>
                </a:path>
                <a:path w="327660" h="129539">
                  <a:moveTo>
                    <a:pt x="183636" y="121541"/>
                  </a:moveTo>
                  <a:lnTo>
                    <a:pt x="170687" y="128016"/>
                  </a:lnTo>
                  <a:lnTo>
                    <a:pt x="169651" y="129052"/>
                  </a:lnTo>
                  <a:lnTo>
                    <a:pt x="183636" y="12154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11" name="object 11"/>
            <p:cNvSpPr/>
            <p:nvPr/>
          </p:nvSpPr>
          <p:spPr>
            <a:xfrm>
              <a:off x="5247010" y="3546348"/>
              <a:ext cx="346075" cy="187960"/>
            </a:xfrm>
            <a:custGeom>
              <a:avLst/>
              <a:gdLst/>
              <a:ahLst/>
              <a:cxnLst/>
              <a:rect l="l" t="t" r="r" b="b"/>
              <a:pathLst>
                <a:path w="346075" h="187960">
                  <a:moveTo>
                    <a:pt x="163068" y="54864"/>
                  </a:moveTo>
                  <a:lnTo>
                    <a:pt x="163068" y="48768"/>
                  </a:lnTo>
                  <a:lnTo>
                    <a:pt x="0" y="48768"/>
                  </a:lnTo>
                  <a:lnTo>
                    <a:pt x="10521" y="54864"/>
                  </a:lnTo>
                  <a:lnTo>
                    <a:pt x="163068" y="54864"/>
                  </a:lnTo>
                  <a:close/>
                </a:path>
                <a:path w="346075" h="187960">
                  <a:moveTo>
                    <a:pt x="163068" y="143256"/>
                  </a:moveTo>
                  <a:lnTo>
                    <a:pt x="10521" y="54864"/>
                  </a:lnTo>
                  <a:lnTo>
                    <a:pt x="6095" y="54864"/>
                  </a:lnTo>
                  <a:lnTo>
                    <a:pt x="6095" y="143256"/>
                  </a:lnTo>
                  <a:lnTo>
                    <a:pt x="163068" y="143256"/>
                  </a:lnTo>
                  <a:close/>
                </a:path>
                <a:path w="346075" h="187960">
                  <a:moveTo>
                    <a:pt x="182763" y="10668"/>
                  </a:moveTo>
                  <a:lnTo>
                    <a:pt x="163068" y="0"/>
                  </a:lnTo>
                  <a:lnTo>
                    <a:pt x="163068" y="48768"/>
                  </a:lnTo>
                  <a:lnTo>
                    <a:pt x="166116" y="48768"/>
                  </a:lnTo>
                  <a:lnTo>
                    <a:pt x="166116" y="15240"/>
                  </a:lnTo>
                  <a:lnTo>
                    <a:pt x="169163" y="13716"/>
                  </a:lnTo>
                  <a:lnTo>
                    <a:pt x="169163" y="10668"/>
                  </a:lnTo>
                  <a:lnTo>
                    <a:pt x="182763" y="10668"/>
                  </a:lnTo>
                  <a:close/>
                </a:path>
                <a:path w="346075" h="187960">
                  <a:moveTo>
                    <a:pt x="169163" y="54864"/>
                  </a:moveTo>
                  <a:lnTo>
                    <a:pt x="169163" y="48768"/>
                  </a:lnTo>
                  <a:lnTo>
                    <a:pt x="163068" y="54864"/>
                  </a:lnTo>
                  <a:lnTo>
                    <a:pt x="169163" y="54864"/>
                  </a:lnTo>
                  <a:close/>
                </a:path>
                <a:path w="346075" h="187960">
                  <a:moveTo>
                    <a:pt x="169163" y="48768"/>
                  </a:moveTo>
                  <a:lnTo>
                    <a:pt x="169163" y="16904"/>
                  </a:lnTo>
                  <a:lnTo>
                    <a:pt x="166116" y="15240"/>
                  </a:lnTo>
                  <a:lnTo>
                    <a:pt x="166116" y="48768"/>
                  </a:lnTo>
                  <a:lnTo>
                    <a:pt x="169163" y="48768"/>
                  </a:lnTo>
                  <a:close/>
                </a:path>
                <a:path w="346075" h="187960">
                  <a:moveTo>
                    <a:pt x="175260" y="187452"/>
                  </a:moveTo>
                  <a:lnTo>
                    <a:pt x="172211" y="185928"/>
                  </a:lnTo>
                  <a:lnTo>
                    <a:pt x="169163" y="187452"/>
                  </a:lnTo>
                  <a:lnTo>
                    <a:pt x="175260" y="187452"/>
                  </a:lnTo>
                  <a:close/>
                </a:path>
                <a:path w="346075" h="187960">
                  <a:moveTo>
                    <a:pt x="175259" y="10668"/>
                  </a:moveTo>
                  <a:lnTo>
                    <a:pt x="172211" y="10668"/>
                  </a:lnTo>
                  <a:lnTo>
                    <a:pt x="173735" y="11430"/>
                  </a:lnTo>
                  <a:lnTo>
                    <a:pt x="175259" y="10668"/>
                  </a:lnTo>
                  <a:close/>
                </a:path>
                <a:path w="346075" h="187960">
                  <a:moveTo>
                    <a:pt x="330708" y="107315"/>
                  </a:moveTo>
                  <a:lnTo>
                    <a:pt x="330708" y="105156"/>
                  </a:lnTo>
                  <a:lnTo>
                    <a:pt x="325610" y="102371"/>
                  </a:lnTo>
                  <a:lnTo>
                    <a:pt x="320039" y="105156"/>
                  </a:lnTo>
                  <a:lnTo>
                    <a:pt x="318515" y="106680"/>
                  </a:lnTo>
                  <a:lnTo>
                    <a:pt x="300227" y="115824"/>
                  </a:lnTo>
                  <a:lnTo>
                    <a:pt x="298703" y="117348"/>
                  </a:lnTo>
                  <a:lnTo>
                    <a:pt x="283463" y="124968"/>
                  </a:lnTo>
                  <a:lnTo>
                    <a:pt x="281939" y="126492"/>
                  </a:lnTo>
                  <a:lnTo>
                    <a:pt x="266699" y="134112"/>
                  </a:lnTo>
                  <a:lnTo>
                    <a:pt x="265175" y="135636"/>
                  </a:lnTo>
                  <a:lnTo>
                    <a:pt x="246887" y="144780"/>
                  </a:lnTo>
                  <a:lnTo>
                    <a:pt x="245363" y="146304"/>
                  </a:lnTo>
                  <a:lnTo>
                    <a:pt x="230123" y="153924"/>
                  </a:lnTo>
                  <a:lnTo>
                    <a:pt x="228599" y="155448"/>
                  </a:lnTo>
                  <a:lnTo>
                    <a:pt x="213359" y="163068"/>
                  </a:lnTo>
                  <a:lnTo>
                    <a:pt x="211835" y="164592"/>
                  </a:lnTo>
                  <a:lnTo>
                    <a:pt x="196595" y="172212"/>
                  </a:lnTo>
                  <a:lnTo>
                    <a:pt x="195071" y="173736"/>
                  </a:lnTo>
                  <a:lnTo>
                    <a:pt x="176783" y="182880"/>
                  </a:lnTo>
                  <a:lnTo>
                    <a:pt x="175259" y="184404"/>
                  </a:lnTo>
                  <a:lnTo>
                    <a:pt x="172212" y="185928"/>
                  </a:lnTo>
                  <a:lnTo>
                    <a:pt x="175260" y="187452"/>
                  </a:lnTo>
                  <a:lnTo>
                    <a:pt x="182763" y="187451"/>
                  </a:lnTo>
                  <a:lnTo>
                    <a:pt x="330708" y="107315"/>
                  </a:lnTo>
                  <a:close/>
                </a:path>
                <a:path w="346075" h="187960">
                  <a:moveTo>
                    <a:pt x="345948" y="99060"/>
                  </a:moveTo>
                  <a:lnTo>
                    <a:pt x="182763" y="10668"/>
                  </a:lnTo>
                  <a:lnTo>
                    <a:pt x="175259" y="10668"/>
                  </a:lnTo>
                  <a:lnTo>
                    <a:pt x="173735" y="11430"/>
                  </a:lnTo>
                  <a:lnTo>
                    <a:pt x="175260" y="12192"/>
                  </a:lnTo>
                  <a:lnTo>
                    <a:pt x="176783" y="13716"/>
                  </a:lnTo>
                  <a:lnTo>
                    <a:pt x="195071" y="22860"/>
                  </a:lnTo>
                  <a:lnTo>
                    <a:pt x="196595" y="24384"/>
                  </a:lnTo>
                  <a:lnTo>
                    <a:pt x="211835" y="32004"/>
                  </a:lnTo>
                  <a:lnTo>
                    <a:pt x="213359" y="33528"/>
                  </a:lnTo>
                  <a:lnTo>
                    <a:pt x="228599" y="41148"/>
                  </a:lnTo>
                  <a:lnTo>
                    <a:pt x="230123" y="42672"/>
                  </a:lnTo>
                  <a:lnTo>
                    <a:pt x="245363" y="50292"/>
                  </a:lnTo>
                  <a:lnTo>
                    <a:pt x="246887" y="51816"/>
                  </a:lnTo>
                  <a:lnTo>
                    <a:pt x="265175" y="60960"/>
                  </a:lnTo>
                  <a:lnTo>
                    <a:pt x="266699" y="62484"/>
                  </a:lnTo>
                  <a:lnTo>
                    <a:pt x="281939" y="70104"/>
                  </a:lnTo>
                  <a:lnTo>
                    <a:pt x="283463" y="71628"/>
                  </a:lnTo>
                  <a:lnTo>
                    <a:pt x="298703" y="79248"/>
                  </a:lnTo>
                  <a:lnTo>
                    <a:pt x="300227" y="80772"/>
                  </a:lnTo>
                  <a:lnTo>
                    <a:pt x="318515" y="89916"/>
                  </a:lnTo>
                  <a:lnTo>
                    <a:pt x="320039" y="91440"/>
                  </a:lnTo>
                  <a:lnTo>
                    <a:pt x="327066" y="94953"/>
                  </a:lnTo>
                  <a:lnTo>
                    <a:pt x="330708" y="92964"/>
                  </a:lnTo>
                  <a:lnTo>
                    <a:pt x="330708" y="96774"/>
                  </a:lnTo>
                  <a:lnTo>
                    <a:pt x="332231" y="97536"/>
                  </a:lnTo>
                  <a:lnTo>
                    <a:pt x="332231" y="106489"/>
                  </a:lnTo>
                  <a:lnTo>
                    <a:pt x="345948" y="99060"/>
                  </a:lnTo>
                  <a:close/>
                </a:path>
                <a:path w="346075" h="187960">
                  <a:moveTo>
                    <a:pt x="332231" y="106489"/>
                  </a:moveTo>
                  <a:lnTo>
                    <a:pt x="332231" y="100584"/>
                  </a:lnTo>
                  <a:lnTo>
                    <a:pt x="329183" y="100584"/>
                  </a:lnTo>
                  <a:lnTo>
                    <a:pt x="325610" y="102371"/>
                  </a:lnTo>
                  <a:lnTo>
                    <a:pt x="330708" y="105156"/>
                  </a:lnTo>
                  <a:lnTo>
                    <a:pt x="330708" y="107315"/>
                  </a:lnTo>
                  <a:lnTo>
                    <a:pt x="332231" y="106489"/>
                  </a:lnTo>
                  <a:close/>
                </a:path>
                <a:path w="346075" h="187960">
                  <a:moveTo>
                    <a:pt x="330708" y="96774"/>
                  </a:moveTo>
                  <a:lnTo>
                    <a:pt x="330708" y="92964"/>
                  </a:lnTo>
                  <a:lnTo>
                    <a:pt x="327066" y="94953"/>
                  </a:lnTo>
                  <a:lnTo>
                    <a:pt x="330708" y="967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12" name="object 12"/>
            <p:cNvSpPr/>
            <p:nvPr/>
          </p:nvSpPr>
          <p:spPr>
            <a:xfrm>
              <a:off x="5253105" y="3557015"/>
              <a:ext cx="327660" cy="177165"/>
            </a:xfrm>
            <a:custGeom>
              <a:avLst/>
              <a:gdLst/>
              <a:ahLst/>
              <a:cxnLst/>
              <a:rect l="l" t="t" r="r" b="b"/>
              <a:pathLst>
                <a:path w="327660" h="177164">
                  <a:moveTo>
                    <a:pt x="327659" y="88391"/>
                  </a:moveTo>
                  <a:lnTo>
                    <a:pt x="163067" y="0"/>
                  </a:lnTo>
                  <a:lnTo>
                    <a:pt x="163067" y="44195"/>
                  </a:lnTo>
                  <a:lnTo>
                    <a:pt x="0" y="44195"/>
                  </a:lnTo>
                  <a:lnTo>
                    <a:pt x="0" y="132587"/>
                  </a:lnTo>
                  <a:lnTo>
                    <a:pt x="163067" y="132587"/>
                  </a:lnTo>
                  <a:lnTo>
                    <a:pt x="163067" y="176783"/>
                  </a:lnTo>
                  <a:lnTo>
                    <a:pt x="327659" y="8839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13" name="object 13"/>
            <p:cNvSpPr/>
            <p:nvPr/>
          </p:nvSpPr>
          <p:spPr>
            <a:xfrm>
              <a:off x="5247010" y="3546348"/>
              <a:ext cx="346075" cy="198120"/>
            </a:xfrm>
            <a:custGeom>
              <a:avLst/>
              <a:gdLst/>
              <a:ahLst/>
              <a:cxnLst/>
              <a:rect l="l" t="t" r="r" b="b"/>
              <a:pathLst>
                <a:path w="346075" h="198120">
                  <a:moveTo>
                    <a:pt x="169164" y="48768"/>
                  </a:moveTo>
                  <a:lnTo>
                    <a:pt x="0" y="48768"/>
                  </a:lnTo>
                  <a:lnTo>
                    <a:pt x="0" y="149352"/>
                  </a:lnTo>
                  <a:lnTo>
                    <a:pt x="6096" y="149352"/>
                  </a:lnTo>
                  <a:lnTo>
                    <a:pt x="6096" y="60960"/>
                  </a:lnTo>
                  <a:lnTo>
                    <a:pt x="12192" y="54864"/>
                  </a:lnTo>
                  <a:lnTo>
                    <a:pt x="12192" y="60960"/>
                  </a:lnTo>
                  <a:lnTo>
                    <a:pt x="163068" y="60960"/>
                  </a:lnTo>
                  <a:lnTo>
                    <a:pt x="163068" y="54864"/>
                  </a:lnTo>
                  <a:lnTo>
                    <a:pt x="169164" y="48768"/>
                  </a:lnTo>
                  <a:close/>
                </a:path>
                <a:path w="346075" h="198120">
                  <a:moveTo>
                    <a:pt x="12192" y="60960"/>
                  </a:moveTo>
                  <a:lnTo>
                    <a:pt x="12192" y="54864"/>
                  </a:lnTo>
                  <a:lnTo>
                    <a:pt x="6096" y="60960"/>
                  </a:lnTo>
                  <a:lnTo>
                    <a:pt x="12192" y="60960"/>
                  </a:lnTo>
                  <a:close/>
                </a:path>
                <a:path w="346075" h="198120">
                  <a:moveTo>
                    <a:pt x="12192" y="137160"/>
                  </a:moveTo>
                  <a:lnTo>
                    <a:pt x="12192" y="60960"/>
                  </a:lnTo>
                  <a:lnTo>
                    <a:pt x="6096" y="60960"/>
                  </a:lnTo>
                  <a:lnTo>
                    <a:pt x="6096" y="137160"/>
                  </a:lnTo>
                  <a:lnTo>
                    <a:pt x="12192" y="137160"/>
                  </a:lnTo>
                  <a:close/>
                </a:path>
                <a:path w="346075" h="198120">
                  <a:moveTo>
                    <a:pt x="175260" y="177884"/>
                  </a:moveTo>
                  <a:lnTo>
                    <a:pt x="175260" y="137160"/>
                  </a:lnTo>
                  <a:lnTo>
                    <a:pt x="6096" y="137160"/>
                  </a:lnTo>
                  <a:lnTo>
                    <a:pt x="12192" y="143256"/>
                  </a:lnTo>
                  <a:lnTo>
                    <a:pt x="12192" y="149352"/>
                  </a:lnTo>
                  <a:lnTo>
                    <a:pt x="163068" y="149352"/>
                  </a:lnTo>
                  <a:lnTo>
                    <a:pt x="163068" y="143256"/>
                  </a:lnTo>
                  <a:lnTo>
                    <a:pt x="169164" y="149352"/>
                  </a:lnTo>
                  <a:lnTo>
                    <a:pt x="169164" y="181214"/>
                  </a:lnTo>
                  <a:lnTo>
                    <a:pt x="175260" y="177884"/>
                  </a:lnTo>
                  <a:close/>
                </a:path>
                <a:path w="346075" h="198120">
                  <a:moveTo>
                    <a:pt x="12192" y="149352"/>
                  </a:moveTo>
                  <a:lnTo>
                    <a:pt x="12192" y="143256"/>
                  </a:lnTo>
                  <a:lnTo>
                    <a:pt x="6096" y="137160"/>
                  </a:lnTo>
                  <a:lnTo>
                    <a:pt x="6096" y="149352"/>
                  </a:lnTo>
                  <a:lnTo>
                    <a:pt x="12192" y="149352"/>
                  </a:lnTo>
                  <a:close/>
                </a:path>
                <a:path w="346075" h="198120">
                  <a:moveTo>
                    <a:pt x="345948" y="99060"/>
                  </a:moveTo>
                  <a:lnTo>
                    <a:pt x="163068" y="0"/>
                  </a:lnTo>
                  <a:lnTo>
                    <a:pt x="163068" y="48768"/>
                  </a:lnTo>
                  <a:lnTo>
                    <a:pt x="166116" y="48768"/>
                  </a:lnTo>
                  <a:lnTo>
                    <a:pt x="166116" y="15240"/>
                  </a:lnTo>
                  <a:lnTo>
                    <a:pt x="175260" y="10668"/>
                  </a:lnTo>
                  <a:lnTo>
                    <a:pt x="175260" y="20235"/>
                  </a:lnTo>
                  <a:lnTo>
                    <a:pt x="319549" y="99060"/>
                  </a:lnTo>
                  <a:lnTo>
                    <a:pt x="330708" y="92964"/>
                  </a:lnTo>
                  <a:lnTo>
                    <a:pt x="330708" y="107315"/>
                  </a:lnTo>
                  <a:lnTo>
                    <a:pt x="345948" y="99060"/>
                  </a:lnTo>
                  <a:close/>
                </a:path>
                <a:path w="346075" h="198120">
                  <a:moveTo>
                    <a:pt x="169164" y="60960"/>
                  </a:moveTo>
                  <a:lnTo>
                    <a:pt x="169164" y="48768"/>
                  </a:lnTo>
                  <a:lnTo>
                    <a:pt x="163068" y="54864"/>
                  </a:lnTo>
                  <a:lnTo>
                    <a:pt x="163068" y="60960"/>
                  </a:lnTo>
                  <a:lnTo>
                    <a:pt x="169164" y="60960"/>
                  </a:lnTo>
                  <a:close/>
                </a:path>
                <a:path w="346075" h="198120">
                  <a:moveTo>
                    <a:pt x="169164" y="149352"/>
                  </a:moveTo>
                  <a:lnTo>
                    <a:pt x="163068" y="143256"/>
                  </a:lnTo>
                  <a:lnTo>
                    <a:pt x="163068" y="149352"/>
                  </a:lnTo>
                  <a:lnTo>
                    <a:pt x="169164" y="149352"/>
                  </a:lnTo>
                  <a:close/>
                </a:path>
                <a:path w="346075" h="198120">
                  <a:moveTo>
                    <a:pt x="169164" y="181214"/>
                  </a:moveTo>
                  <a:lnTo>
                    <a:pt x="169164" y="149352"/>
                  </a:lnTo>
                  <a:lnTo>
                    <a:pt x="163068" y="149352"/>
                  </a:lnTo>
                  <a:lnTo>
                    <a:pt x="163068" y="198120"/>
                  </a:lnTo>
                  <a:lnTo>
                    <a:pt x="166116" y="196469"/>
                  </a:lnTo>
                  <a:lnTo>
                    <a:pt x="166116" y="182880"/>
                  </a:lnTo>
                  <a:lnTo>
                    <a:pt x="169164" y="181214"/>
                  </a:lnTo>
                  <a:close/>
                </a:path>
                <a:path w="346075" h="198120">
                  <a:moveTo>
                    <a:pt x="175260" y="20235"/>
                  </a:moveTo>
                  <a:lnTo>
                    <a:pt x="175260" y="10668"/>
                  </a:lnTo>
                  <a:lnTo>
                    <a:pt x="166116" y="15240"/>
                  </a:lnTo>
                  <a:lnTo>
                    <a:pt x="175260" y="20235"/>
                  </a:lnTo>
                  <a:close/>
                </a:path>
                <a:path w="346075" h="198120">
                  <a:moveTo>
                    <a:pt x="175260" y="60960"/>
                  </a:moveTo>
                  <a:lnTo>
                    <a:pt x="175260" y="20235"/>
                  </a:lnTo>
                  <a:lnTo>
                    <a:pt x="166116" y="15240"/>
                  </a:lnTo>
                  <a:lnTo>
                    <a:pt x="166116" y="48768"/>
                  </a:lnTo>
                  <a:lnTo>
                    <a:pt x="169164" y="48768"/>
                  </a:lnTo>
                  <a:lnTo>
                    <a:pt x="169164" y="60960"/>
                  </a:lnTo>
                  <a:lnTo>
                    <a:pt x="175260" y="60960"/>
                  </a:lnTo>
                  <a:close/>
                </a:path>
                <a:path w="346075" h="198120">
                  <a:moveTo>
                    <a:pt x="330708" y="107315"/>
                  </a:moveTo>
                  <a:lnTo>
                    <a:pt x="330708" y="105156"/>
                  </a:lnTo>
                  <a:lnTo>
                    <a:pt x="319549" y="99060"/>
                  </a:lnTo>
                  <a:lnTo>
                    <a:pt x="166116" y="182880"/>
                  </a:lnTo>
                  <a:lnTo>
                    <a:pt x="175260" y="187452"/>
                  </a:lnTo>
                  <a:lnTo>
                    <a:pt x="175260" y="191516"/>
                  </a:lnTo>
                  <a:lnTo>
                    <a:pt x="330708" y="107315"/>
                  </a:lnTo>
                  <a:close/>
                </a:path>
                <a:path w="346075" h="198120">
                  <a:moveTo>
                    <a:pt x="175260" y="191516"/>
                  </a:moveTo>
                  <a:lnTo>
                    <a:pt x="175260" y="187452"/>
                  </a:lnTo>
                  <a:lnTo>
                    <a:pt x="166116" y="182880"/>
                  </a:lnTo>
                  <a:lnTo>
                    <a:pt x="166116" y="196469"/>
                  </a:lnTo>
                  <a:lnTo>
                    <a:pt x="175260" y="191516"/>
                  </a:lnTo>
                  <a:close/>
                </a:path>
                <a:path w="346075" h="198120">
                  <a:moveTo>
                    <a:pt x="330708" y="105156"/>
                  </a:moveTo>
                  <a:lnTo>
                    <a:pt x="330708" y="92964"/>
                  </a:lnTo>
                  <a:lnTo>
                    <a:pt x="319549" y="99060"/>
                  </a:lnTo>
                  <a:lnTo>
                    <a:pt x="330708" y="105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14" name="object 14"/>
            <p:cNvSpPr/>
            <p:nvPr/>
          </p:nvSpPr>
          <p:spPr>
            <a:xfrm>
              <a:off x="4236597" y="1434083"/>
              <a:ext cx="5458967" cy="320954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167" y="1181695"/>
            <a:ext cx="10992636" cy="565055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3106973" marR="4611" indent="-3096023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What is </a:t>
            </a:r>
            <a:r>
              <a:rPr spc="-9" dirty="0"/>
              <a:t>Software </a:t>
            </a:r>
            <a:r>
              <a:rPr spc="-5" dirty="0"/>
              <a:t>Reliability Engineering  (SRE)?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126737" y="2109267"/>
            <a:ext cx="7938525" cy="3001984"/>
            <a:chOff x="1539118" y="2324100"/>
            <a:chExt cx="7579359" cy="2044064"/>
          </a:xfrm>
        </p:grpSpPr>
        <p:sp>
          <p:nvSpPr>
            <p:cNvPr id="4" name="object 4"/>
            <p:cNvSpPr/>
            <p:nvPr/>
          </p:nvSpPr>
          <p:spPr>
            <a:xfrm>
              <a:off x="1539118" y="2324100"/>
              <a:ext cx="7569200" cy="203809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" name="object 5"/>
            <p:cNvSpPr/>
            <p:nvPr/>
          </p:nvSpPr>
          <p:spPr>
            <a:xfrm>
              <a:off x="1539118" y="2324100"/>
              <a:ext cx="7579359" cy="2044064"/>
            </a:xfrm>
            <a:custGeom>
              <a:avLst/>
              <a:gdLst/>
              <a:ahLst/>
              <a:cxnLst/>
              <a:rect l="l" t="t" r="r" b="b"/>
              <a:pathLst>
                <a:path w="7579359" h="2044064">
                  <a:moveTo>
                    <a:pt x="7578852" y="1711452"/>
                  </a:moveTo>
                  <a:lnTo>
                    <a:pt x="7578852" y="330708"/>
                  </a:lnTo>
                  <a:lnTo>
                    <a:pt x="7575804" y="295656"/>
                  </a:lnTo>
                  <a:lnTo>
                    <a:pt x="7572756" y="278892"/>
                  </a:lnTo>
                  <a:lnTo>
                    <a:pt x="7559040" y="228600"/>
                  </a:lnTo>
                  <a:lnTo>
                    <a:pt x="7551420" y="213360"/>
                  </a:lnTo>
                  <a:lnTo>
                    <a:pt x="7545324" y="198120"/>
                  </a:lnTo>
                  <a:lnTo>
                    <a:pt x="7510272" y="140208"/>
                  </a:lnTo>
                  <a:lnTo>
                    <a:pt x="7476744" y="102108"/>
                  </a:lnTo>
                  <a:lnTo>
                    <a:pt x="7464552" y="91440"/>
                  </a:lnTo>
                  <a:lnTo>
                    <a:pt x="7452360" y="79248"/>
                  </a:lnTo>
                  <a:lnTo>
                    <a:pt x="7438644" y="70104"/>
                  </a:lnTo>
                  <a:lnTo>
                    <a:pt x="7424928" y="59436"/>
                  </a:lnTo>
                  <a:lnTo>
                    <a:pt x="7411212" y="50292"/>
                  </a:lnTo>
                  <a:lnTo>
                    <a:pt x="7395972" y="42672"/>
                  </a:lnTo>
                  <a:lnTo>
                    <a:pt x="7382256" y="35052"/>
                  </a:lnTo>
                  <a:lnTo>
                    <a:pt x="7365492" y="27432"/>
                  </a:lnTo>
                  <a:lnTo>
                    <a:pt x="7350252" y="21336"/>
                  </a:lnTo>
                  <a:lnTo>
                    <a:pt x="7333488" y="15240"/>
                  </a:lnTo>
                  <a:lnTo>
                    <a:pt x="7318248" y="10668"/>
                  </a:lnTo>
                  <a:lnTo>
                    <a:pt x="7299960" y="7620"/>
                  </a:lnTo>
                  <a:lnTo>
                    <a:pt x="7266432" y="1524"/>
                  </a:lnTo>
                  <a:lnTo>
                    <a:pt x="7248144" y="1524"/>
                  </a:lnTo>
                  <a:lnTo>
                    <a:pt x="7231380" y="0"/>
                  </a:lnTo>
                  <a:lnTo>
                    <a:pt x="347472" y="0"/>
                  </a:lnTo>
                  <a:lnTo>
                    <a:pt x="330708" y="1524"/>
                  </a:lnTo>
                  <a:lnTo>
                    <a:pt x="312420" y="1524"/>
                  </a:lnTo>
                  <a:lnTo>
                    <a:pt x="294132" y="4572"/>
                  </a:lnTo>
                  <a:lnTo>
                    <a:pt x="260604" y="10668"/>
                  </a:lnTo>
                  <a:lnTo>
                    <a:pt x="243840" y="16764"/>
                  </a:lnTo>
                  <a:lnTo>
                    <a:pt x="228600" y="21336"/>
                  </a:lnTo>
                  <a:lnTo>
                    <a:pt x="181356" y="42672"/>
                  </a:lnTo>
                  <a:lnTo>
                    <a:pt x="138684" y="70104"/>
                  </a:lnTo>
                  <a:lnTo>
                    <a:pt x="126492" y="80772"/>
                  </a:lnTo>
                  <a:lnTo>
                    <a:pt x="112776" y="91440"/>
                  </a:lnTo>
                  <a:lnTo>
                    <a:pt x="100584" y="102108"/>
                  </a:lnTo>
                  <a:lnTo>
                    <a:pt x="89916" y="114300"/>
                  </a:lnTo>
                  <a:lnTo>
                    <a:pt x="79248" y="128016"/>
                  </a:lnTo>
                  <a:lnTo>
                    <a:pt x="68580" y="140208"/>
                  </a:lnTo>
                  <a:lnTo>
                    <a:pt x="59436" y="153924"/>
                  </a:lnTo>
                  <a:lnTo>
                    <a:pt x="50292" y="169164"/>
                  </a:lnTo>
                  <a:lnTo>
                    <a:pt x="41148" y="182880"/>
                  </a:lnTo>
                  <a:lnTo>
                    <a:pt x="19812" y="230124"/>
                  </a:lnTo>
                  <a:lnTo>
                    <a:pt x="6096" y="278892"/>
                  </a:lnTo>
                  <a:lnTo>
                    <a:pt x="0" y="332232"/>
                  </a:lnTo>
                  <a:lnTo>
                    <a:pt x="0" y="1712976"/>
                  </a:lnTo>
                  <a:lnTo>
                    <a:pt x="3048" y="1748028"/>
                  </a:lnTo>
                  <a:lnTo>
                    <a:pt x="6096" y="1764792"/>
                  </a:lnTo>
                  <a:lnTo>
                    <a:pt x="19812" y="1815084"/>
                  </a:lnTo>
                  <a:lnTo>
                    <a:pt x="24384" y="1824228"/>
                  </a:lnTo>
                  <a:lnTo>
                    <a:pt x="24384" y="332232"/>
                  </a:lnTo>
                  <a:lnTo>
                    <a:pt x="25908" y="315468"/>
                  </a:lnTo>
                  <a:lnTo>
                    <a:pt x="28956" y="300228"/>
                  </a:lnTo>
                  <a:lnTo>
                    <a:pt x="32004" y="283464"/>
                  </a:lnTo>
                  <a:lnTo>
                    <a:pt x="35052" y="268224"/>
                  </a:lnTo>
                  <a:lnTo>
                    <a:pt x="50292" y="222504"/>
                  </a:lnTo>
                  <a:lnTo>
                    <a:pt x="71628" y="181356"/>
                  </a:lnTo>
                  <a:lnTo>
                    <a:pt x="108204" y="131064"/>
                  </a:lnTo>
                  <a:lnTo>
                    <a:pt x="120396" y="120396"/>
                  </a:lnTo>
                  <a:lnTo>
                    <a:pt x="131064" y="109728"/>
                  </a:lnTo>
                  <a:lnTo>
                    <a:pt x="167640" y="80772"/>
                  </a:lnTo>
                  <a:lnTo>
                    <a:pt x="208788" y="57912"/>
                  </a:lnTo>
                  <a:lnTo>
                    <a:pt x="222504" y="51816"/>
                  </a:lnTo>
                  <a:lnTo>
                    <a:pt x="268224" y="35052"/>
                  </a:lnTo>
                  <a:lnTo>
                    <a:pt x="332232" y="25908"/>
                  </a:lnTo>
                  <a:lnTo>
                    <a:pt x="7248144" y="25908"/>
                  </a:lnTo>
                  <a:lnTo>
                    <a:pt x="7263384" y="27432"/>
                  </a:lnTo>
                  <a:lnTo>
                    <a:pt x="7280148" y="28956"/>
                  </a:lnTo>
                  <a:lnTo>
                    <a:pt x="7296912" y="32004"/>
                  </a:lnTo>
                  <a:lnTo>
                    <a:pt x="7312152" y="36576"/>
                  </a:lnTo>
                  <a:lnTo>
                    <a:pt x="7327392" y="39624"/>
                  </a:lnTo>
                  <a:lnTo>
                    <a:pt x="7342632" y="45720"/>
                  </a:lnTo>
                  <a:lnTo>
                    <a:pt x="7356348" y="51816"/>
                  </a:lnTo>
                  <a:lnTo>
                    <a:pt x="7371588" y="57912"/>
                  </a:lnTo>
                  <a:lnTo>
                    <a:pt x="7411212" y="80772"/>
                  </a:lnTo>
                  <a:lnTo>
                    <a:pt x="7447788" y="109728"/>
                  </a:lnTo>
                  <a:lnTo>
                    <a:pt x="7459980" y="120396"/>
                  </a:lnTo>
                  <a:lnTo>
                    <a:pt x="7470648" y="132588"/>
                  </a:lnTo>
                  <a:lnTo>
                    <a:pt x="7479792" y="143256"/>
                  </a:lnTo>
                  <a:lnTo>
                    <a:pt x="7490460" y="155448"/>
                  </a:lnTo>
                  <a:lnTo>
                    <a:pt x="7499604" y="169164"/>
                  </a:lnTo>
                  <a:lnTo>
                    <a:pt x="7507224" y="181356"/>
                  </a:lnTo>
                  <a:lnTo>
                    <a:pt x="7522464" y="208788"/>
                  </a:lnTo>
                  <a:lnTo>
                    <a:pt x="7528560" y="224028"/>
                  </a:lnTo>
                  <a:lnTo>
                    <a:pt x="7534656" y="237744"/>
                  </a:lnTo>
                  <a:lnTo>
                    <a:pt x="7543800" y="268224"/>
                  </a:lnTo>
                  <a:lnTo>
                    <a:pt x="7548372" y="284988"/>
                  </a:lnTo>
                  <a:lnTo>
                    <a:pt x="7549896" y="300228"/>
                  </a:lnTo>
                  <a:lnTo>
                    <a:pt x="7552944" y="316992"/>
                  </a:lnTo>
                  <a:lnTo>
                    <a:pt x="7554468" y="332232"/>
                  </a:lnTo>
                  <a:lnTo>
                    <a:pt x="7554468" y="1826133"/>
                  </a:lnTo>
                  <a:lnTo>
                    <a:pt x="7559040" y="1813560"/>
                  </a:lnTo>
                  <a:lnTo>
                    <a:pt x="7563612" y="1798320"/>
                  </a:lnTo>
                  <a:lnTo>
                    <a:pt x="7572756" y="1764792"/>
                  </a:lnTo>
                  <a:lnTo>
                    <a:pt x="7575804" y="1748028"/>
                  </a:lnTo>
                  <a:lnTo>
                    <a:pt x="7578852" y="1711452"/>
                  </a:lnTo>
                  <a:close/>
                </a:path>
                <a:path w="7579359" h="2044064">
                  <a:moveTo>
                    <a:pt x="7554468" y="1826133"/>
                  </a:moveTo>
                  <a:lnTo>
                    <a:pt x="7554468" y="1711452"/>
                  </a:lnTo>
                  <a:lnTo>
                    <a:pt x="7552944" y="1728216"/>
                  </a:lnTo>
                  <a:lnTo>
                    <a:pt x="7549896" y="1743456"/>
                  </a:lnTo>
                  <a:lnTo>
                    <a:pt x="7534656" y="1805940"/>
                  </a:lnTo>
                  <a:lnTo>
                    <a:pt x="7507224" y="1862328"/>
                  </a:lnTo>
                  <a:lnTo>
                    <a:pt x="7498080" y="1876044"/>
                  </a:lnTo>
                  <a:lnTo>
                    <a:pt x="7490460" y="1888236"/>
                  </a:lnTo>
                  <a:lnTo>
                    <a:pt x="7479792" y="1900428"/>
                  </a:lnTo>
                  <a:lnTo>
                    <a:pt x="7470648" y="1912620"/>
                  </a:lnTo>
                  <a:lnTo>
                    <a:pt x="7459980" y="1923288"/>
                  </a:lnTo>
                  <a:lnTo>
                    <a:pt x="7411212" y="1962912"/>
                  </a:lnTo>
                  <a:lnTo>
                    <a:pt x="7370064" y="1985772"/>
                  </a:lnTo>
                  <a:lnTo>
                    <a:pt x="7356348" y="1993392"/>
                  </a:lnTo>
                  <a:lnTo>
                    <a:pt x="7341108" y="1997964"/>
                  </a:lnTo>
                  <a:lnTo>
                    <a:pt x="7325868" y="2004060"/>
                  </a:lnTo>
                  <a:lnTo>
                    <a:pt x="7310628" y="2008632"/>
                  </a:lnTo>
                  <a:lnTo>
                    <a:pt x="7280148" y="2014728"/>
                  </a:lnTo>
                  <a:lnTo>
                    <a:pt x="7246620" y="2017776"/>
                  </a:lnTo>
                  <a:lnTo>
                    <a:pt x="330708" y="2017776"/>
                  </a:lnTo>
                  <a:lnTo>
                    <a:pt x="315468" y="2016252"/>
                  </a:lnTo>
                  <a:lnTo>
                    <a:pt x="298704" y="2014728"/>
                  </a:lnTo>
                  <a:lnTo>
                    <a:pt x="281940" y="2011680"/>
                  </a:lnTo>
                  <a:lnTo>
                    <a:pt x="266700" y="2007108"/>
                  </a:lnTo>
                  <a:lnTo>
                    <a:pt x="251460" y="2004060"/>
                  </a:lnTo>
                  <a:lnTo>
                    <a:pt x="236220" y="1997964"/>
                  </a:lnTo>
                  <a:lnTo>
                    <a:pt x="222504" y="1991868"/>
                  </a:lnTo>
                  <a:lnTo>
                    <a:pt x="207264" y="1985772"/>
                  </a:lnTo>
                  <a:lnTo>
                    <a:pt x="167640" y="1962912"/>
                  </a:lnTo>
                  <a:lnTo>
                    <a:pt x="131064" y="1933956"/>
                  </a:lnTo>
                  <a:lnTo>
                    <a:pt x="118872" y="1923288"/>
                  </a:lnTo>
                  <a:lnTo>
                    <a:pt x="108204" y="1911096"/>
                  </a:lnTo>
                  <a:lnTo>
                    <a:pt x="99060" y="1900428"/>
                  </a:lnTo>
                  <a:lnTo>
                    <a:pt x="88392" y="1888236"/>
                  </a:lnTo>
                  <a:lnTo>
                    <a:pt x="79248" y="1874520"/>
                  </a:lnTo>
                  <a:lnTo>
                    <a:pt x="71628" y="1862328"/>
                  </a:lnTo>
                  <a:lnTo>
                    <a:pt x="56388" y="1834896"/>
                  </a:lnTo>
                  <a:lnTo>
                    <a:pt x="50292" y="1819656"/>
                  </a:lnTo>
                  <a:lnTo>
                    <a:pt x="44196" y="1805940"/>
                  </a:lnTo>
                  <a:lnTo>
                    <a:pt x="35052" y="1775460"/>
                  </a:lnTo>
                  <a:lnTo>
                    <a:pt x="30480" y="1758696"/>
                  </a:lnTo>
                  <a:lnTo>
                    <a:pt x="28956" y="1743456"/>
                  </a:lnTo>
                  <a:lnTo>
                    <a:pt x="25908" y="1726692"/>
                  </a:lnTo>
                  <a:lnTo>
                    <a:pt x="24384" y="1711452"/>
                  </a:lnTo>
                  <a:lnTo>
                    <a:pt x="24384" y="1824228"/>
                  </a:lnTo>
                  <a:lnTo>
                    <a:pt x="27432" y="1830324"/>
                  </a:lnTo>
                  <a:lnTo>
                    <a:pt x="33528" y="1845564"/>
                  </a:lnTo>
                  <a:lnTo>
                    <a:pt x="68580" y="1903476"/>
                  </a:lnTo>
                  <a:lnTo>
                    <a:pt x="102108" y="1941576"/>
                  </a:lnTo>
                  <a:lnTo>
                    <a:pt x="114300" y="1952244"/>
                  </a:lnTo>
                  <a:lnTo>
                    <a:pt x="126492" y="1964436"/>
                  </a:lnTo>
                  <a:lnTo>
                    <a:pt x="140208" y="1973580"/>
                  </a:lnTo>
                  <a:lnTo>
                    <a:pt x="153924" y="1984248"/>
                  </a:lnTo>
                  <a:lnTo>
                    <a:pt x="167640" y="1993392"/>
                  </a:lnTo>
                  <a:lnTo>
                    <a:pt x="182880" y="2001012"/>
                  </a:lnTo>
                  <a:lnTo>
                    <a:pt x="196596" y="2008632"/>
                  </a:lnTo>
                  <a:lnTo>
                    <a:pt x="213360" y="2016252"/>
                  </a:lnTo>
                  <a:lnTo>
                    <a:pt x="262128" y="2033016"/>
                  </a:lnTo>
                  <a:lnTo>
                    <a:pt x="312420" y="2042160"/>
                  </a:lnTo>
                  <a:lnTo>
                    <a:pt x="332232" y="2042287"/>
                  </a:lnTo>
                  <a:lnTo>
                    <a:pt x="347472" y="2043557"/>
                  </a:lnTo>
                  <a:lnTo>
                    <a:pt x="7231380" y="2043684"/>
                  </a:lnTo>
                  <a:lnTo>
                    <a:pt x="7248144" y="2042160"/>
                  </a:lnTo>
                  <a:lnTo>
                    <a:pt x="7266432" y="2042160"/>
                  </a:lnTo>
                  <a:lnTo>
                    <a:pt x="7284720" y="2039112"/>
                  </a:lnTo>
                  <a:lnTo>
                    <a:pt x="7318248" y="2033016"/>
                  </a:lnTo>
                  <a:lnTo>
                    <a:pt x="7335012" y="2026920"/>
                  </a:lnTo>
                  <a:lnTo>
                    <a:pt x="7350252" y="2022348"/>
                  </a:lnTo>
                  <a:lnTo>
                    <a:pt x="7397496" y="2001012"/>
                  </a:lnTo>
                  <a:lnTo>
                    <a:pt x="7440168" y="1973580"/>
                  </a:lnTo>
                  <a:lnTo>
                    <a:pt x="7452360" y="1962912"/>
                  </a:lnTo>
                  <a:lnTo>
                    <a:pt x="7466076" y="1952244"/>
                  </a:lnTo>
                  <a:lnTo>
                    <a:pt x="7478268" y="1941576"/>
                  </a:lnTo>
                  <a:lnTo>
                    <a:pt x="7488936" y="1929384"/>
                  </a:lnTo>
                  <a:lnTo>
                    <a:pt x="7499604" y="1915668"/>
                  </a:lnTo>
                  <a:lnTo>
                    <a:pt x="7510272" y="1903476"/>
                  </a:lnTo>
                  <a:lnTo>
                    <a:pt x="7519416" y="1889760"/>
                  </a:lnTo>
                  <a:lnTo>
                    <a:pt x="7528560" y="1874520"/>
                  </a:lnTo>
                  <a:lnTo>
                    <a:pt x="7537704" y="1860804"/>
                  </a:lnTo>
                  <a:lnTo>
                    <a:pt x="7552944" y="1830324"/>
                  </a:lnTo>
                  <a:lnTo>
                    <a:pt x="7554468" y="182613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147531" y="2269247"/>
            <a:ext cx="6054058" cy="1575075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 marR="4611" indent="-2882" algn="ctr">
              <a:spcBef>
                <a:spcPts val="86"/>
              </a:spcBef>
            </a:pPr>
            <a:r>
              <a:rPr sz="2541" b="1" spc="-9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541" b="1" spc="-5" dirty="0">
                <a:solidFill>
                  <a:srgbClr val="FFFFFF"/>
                </a:solidFill>
                <a:latin typeface="Arial"/>
                <a:cs typeface="Arial"/>
              </a:rPr>
              <a:t>quantitative study of the  operational behavior of software-based  </a:t>
            </a:r>
            <a:r>
              <a:rPr sz="2541" b="1" spc="-9" dirty="0">
                <a:solidFill>
                  <a:srgbClr val="FFFFFF"/>
                </a:solidFill>
                <a:latin typeface="Arial"/>
                <a:cs typeface="Arial"/>
              </a:rPr>
              <a:t>systems </a:t>
            </a:r>
            <a:r>
              <a:rPr sz="2541" b="1" spc="-5" dirty="0">
                <a:solidFill>
                  <a:srgbClr val="FFFFFF"/>
                </a:solidFill>
                <a:latin typeface="Arial"/>
                <a:cs typeface="Arial"/>
              </a:rPr>
              <a:t>with </a:t>
            </a:r>
            <a:r>
              <a:rPr sz="2541" b="1" dirty="0">
                <a:solidFill>
                  <a:srgbClr val="FFFFFF"/>
                </a:solidFill>
                <a:latin typeface="Arial"/>
                <a:cs typeface="Arial"/>
              </a:rPr>
              <a:t>respect </a:t>
            </a:r>
            <a:r>
              <a:rPr sz="2541" b="1" spc="-5" dirty="0">
                <a:solidFill>
                  <a:srgbClr val="FFFFFF"/>
                </a:solidFill>
                <a:latin typeface="Arial"/>
                <a:cs typeface="Arial"/>
              </a:rPr>
              <a:t>to user  requirements concerning</a:t>
            </a:r>
            <a:r>
              <a:rPr sz="2541" b="1" spc="5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41" b="1" spc="-23" dirty="0">
                <a:solidFill>
                  <a:srgbClr val="FFFFFF"/>
                </a:solidFill>
                <a:latin typeface="Arial"/>
                <a:cs typeface="Arial"/>
              </a:rPr>
              <a:t>reliability.</a:t>
            </a:r>
            <a:endParaRPr sz="2541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87072" y="706101"/>
            <a:ext cx="5583244" cy="565055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Why is SRE</a:t>
            </a:r>
            <a:r>
              <a:rPr spc="-50" dirty="0"/>
              <a:t> </a:t>
            </a:r>
            <a:r>
              <a:rPr spc="-5" dirty="0"/>
              <a:t>Important?</a:t>
            </a:r>
          </a:p>
        </p:txBody>
      </p:sp>
      <p:sp>
        <p:nvSpPr>
          <p:cNvPr id="3" name="object 3"/>
          <p:cNvSpPr/>
          <p:nvPr/>
        </p:nvSpPr>
        <p:spPr>
          <a:xfrm>
            <a:off x="2439827" y="2481327"/>
            <a:ext cx="136929" cy="136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439827" y="2869987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39827" y="3258645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39827" y="3865837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grpSp>
        <p:nvGrpSpPr>
          <p:cNvPr id="7" name="object 7"/>
          <p:cNvGrpSpPr/>
          <p:nvPr/>
        </p:nvGrpSpPr>
        <p:grpSpPr>
          <a:xfrm>
            <a:off x="2110155" y="4656407"/>
            <a:ext cx="7346732" cy="1227782"/>
            <a:chOff x="1661038" y="5358384"/>
            <a:chExt cx="7731759" cy="1178560"/>
          </a:xfrm>
        </p:grpSpPr>
        <p:sp>
          <p:nvSpPr>
            <p:cNvPr id="8" name="object 8"/>
            <p:cNvSpPr/>
            <p:nvPr/>
          </p:nvSpPr>
          <p:spPr>
            <a:xfrm>
              <a:off x="1661038" y="5358384"/>
              <a:ext cx="7721600" cy="116433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9" name="object 9"/>
            <p:cNvSpPr/>
            <p:nvPr/>
          </p:nvSpPr>
          <p:spPr>
            <a:xfrm>
              <a:off x="1661038" y="5358384"/>
              <a:ext cx="7731759" cy="1178560"/>
            </a:xfrm>
            <a:custGeom>
              <a:avLst/>
              <a:gdLst/>
              <a:ahLst/>
              <a:cxnLst/>
              <a:rect l="l" t="t" r="r" b="b"/>
              <a:pathLst>
                <a:path w="7731759" h="1178560">
                  <a:moveTo>
                    <a:pt x="7731252" y="972312"/>
                  </a:moveTo>
                  <a:lnTo>
                    <a:pt x="7731252" y="204216"/>
                  </a:lnTo>
                  <a:lnTo>
                    <a:pt x="7729728" y="182880"/>
                  </a:lnTo>
                  <a:lnTo>
                    <a:pt x="7722108" y="143256"/>
                  </a:lnTo>
                  <a:lnTo>
                    <a:pt x="7705344" y="106680"/>
                  </a:lnTo>
                  <a:lnTo>
                    <a:pt x="7684008" y="74676"/>
                  </a:lnTo>
                  <a:lnTo>
                    <a:pt x="7656576" y="45720"/>
                  </a:lnTo>
                  <a:lnTo>
                    <a:pt x="7623048" y="24384"/>
                  </a:lnTo>
                  <a:lnTo>
                    <a:pt x="7586472" y="9144"/>
                  </a:lnTo>
                  <a:lnTo>
                    <a:pt x="7546848" y="1524"/>
                  </a:lnTo>
                  <a:lnTo>
                    <a:pt x="204216" y="0"/>
                  </a:lnTo>
                  <a:lnTo>
                    <a:pt x="184404" y="1524"/>
                  </a:lnTo>
                  <a:lnTo>
                    <a:pt x="144780" y="9144"/>
                  </a:lnTo>
                  <a:lnTo>
                    <a:pt x="106680" y="24384"/>
                  </a:lnTo>
                  <a:lnTo>
                    <a:pt x="74676" y="47244"/>
                  </a:lnTo>
                  <a:lnTo>
                    <a:pt x="47244" y="74676"/>
                  </a:lnTo>
                  <a:lnTo>
                    <a:pt x="24384" y="108204"/>
                  </a:lnTo>
                  <a:lnTo>
                    <a:pt x="9144" y="144780"/>
                  </a:lnTo>
                  <a:lnTo>
                    <a:pt x="1524" y="184404"/>
                  </a:lnTo>
                  <a:lnTo>
                    <a:pt x="0" y="204216"/>
                  </a:lnTo>
                  <a:lnTo>
                    <a:pt x="0" y="973836"/>
                  </a:lnTo>
                  <a:lnTo>
                    <a:pt x="4572" y="1014984"/>
                  </a:lnTo>
                  <a:lnTo>
                    <a:pt x="16764" y="1053084"/>
                  </a:lnTo>
                  <a:lnTo>
                    <a:pt x="25908" y="1071372"/>
                  </a:lnTo>
                  <a:lnTo>
                    <a:pt x="25908" y="204216"/>
                  </a:lnTo>
                  <a:lnTo>
                    <a:pt x="27432" y="185928"/>
                  </a:lnTo>
                  <a:lnTo>
                    <a:pt x="39624" y="134112"/>
                  </a:lnTo>
                  <a:lnTo>
                    <a:pt x="67056" y="89916"/>
                  </a:lnTo>
                  <a:lnTo>
                    <a:pt x="105156" y="54864"/>
                  </a:lnTo>
                  <a:lnTo>
                    <a:pt x="152400" y="33528"/>
                  </a:lnTo>
                  <a:lnTo>
                    <a:pt x="7545324" y="25908"/>
                  </a:lnTo>
                  <a:lnTo>
                    <a:pt x="7563612" y="28956"/>
                  </a:lnTo>
                  <a:lnTo>
                    <a:pt x="7612380" y="47244"/>
                  </a:lnTo>
                  <a:lnTo>
                    <a:pt x="7653528" y="77724"/>
                  </a:lnTo>
                  <a:lnTo>
                    <a:pt x="7684008" y="120396"/>
                  </a:lnTo>
                  <a:lnTo>
                    <a:pt x="7702296" y="169164"/>
                  </a:lnTo>
                  <a:lnTo>
                    <a:pt x="7705344" y="187452"/>
                  </a:lnTo>
                  <a:lnTo>
                    <a:pt x="7705344" y="1072242"/>
                  </a:lnTo>
                  <a:lnTo>
                    <a:pt x="7706868" y="1069848"/>
                  </a:lnTo>
                  <a:lnTo>
                    <a:pt x="7722108" y="1033272"/>
                  </a:lnTo>
                  <a:lnTo>
                    <a:pt x="7726680" y="1013460"/>
                  </a:lnTo>
                  <a:lnTo>
                    <a:pt x="7729728" y="993648"/>
                  </a:lnTo>
                  <a:lnTo>
                    <a:pt x="7731252" y="972312"/>
                  </a:lnTo>
                  <a:close/>
                </a:path>
                <a:path w="7731759" h="1178560">
                  <a:moveTo>
                    <a:pt x="7705344" y="1072242"/>
                  </a:moveTo>
                  <a:lnTo>
                    <a:pt x="7705344" y="992124"/>
                  </a:lnTo>
                  <a:lnTo>
                    <a:pt x="7702296" y="1008888"/>
                  </a:lnTo>
                  <a:lnTo>
                    <a:pt x="7697724" y="1027176"/>
                  </a:lnTo>
                  <a:lnTo>
                    <a:pt x="7674864" y="1072896"/>
                  </a:lnTo>
                  <a:lnTo>
                    <a:pt x="7639812" y="1110996"/>
                  </a:lnTo>
                  <a:lnTo>
                    <a:pt x="7595616" y="1138428"/>
                  </a:lnTo>
                  <a:lnTo>
                    <a:pt x="7527036" y="1152017"/>
                  </a:lnTo>
                  <a:lnTo>
                    <a:pt x="204216" y="1152026"/>
                  </a:lnTo>
                  <a:lnTo>
                    <a:pt x="185928" y="1150620"/>
                  </a:lnTo>
                  <a:lnTo>
                    <a:pt x="169164" y="1147572"/>
                  </a:lnTo>
                  <a:lnTo>
                    <a:pt x="150876" y="1144524"/>
                  </a:lnTo>
                  <a:lnTo>
                    <a:pt x="105156" y="1121664"/>
                  </a:lnTo>
                  <a:lnTo>
                    <a:pt x="67056" y="1086612"/>
                  </a:lnTo>
                  <a:lnTo>
                    <a:pt x="39624" y="1042416"/>
                  </a:lnTo>
                  <a:lnTo>
                    <a:pt x="25908" y="972312"/>
                  </a:lnTo>
                  <a:lnTo>
                    <a:pt x="25908" y="1071372"/>
                  </a:lnTo>
                  <a:lnTo>
                    <a:pt x="47244" y="1103376"/>
                  </a:lnTo>
                  <a:lnTo>
                    <a:pt x="91440" y="1143000"/>
                  </a:lnTo>
                  <a:lnTo>
                    <a:pt x="144780" y="1168908"/>
                  </a:lnTo>
                  <a:lnTo>
                    <a:pt x="185928" y="1176528"/>
                  </a:lnTo>
                  <a:lnTo>
                    <a:pt x="7527036" y="1178052"/>
                  </a:lnTo>
                  <a:lnTo>
                    <a:pt x="7548372" y="1176528"/>
                  </a:lnTo>
                  <a:lnTo>
                    <a:pt x="7587996" y="1167384"/>
                  </a:lnTo>
                  <a:lnTo>
                    <a:pt x="7624572" y="1152144"/>
                  </a:lnTo>
                  <a:lnTo>
                    <a:pt x="7656576" y="1130808"/>
                  </a:lnTo>
                  <a:lnTo>
                    <a:pt x="7696200" y="1086612"/>
                  </a:lnTo>
                  <a:lnTo>
                    <a:pt x="7705344" y="107224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195940" y="4966342"/>
            <a:ext cx="5854081" cy="76607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2679" marR="4611" indent="-1729">
              <a:spcBef>
                <a:spcPts val="91"/>
              </a:spcBef>
            </a:pPr>
            <a:r>
              <a:rPr sz="1634" b="1" spc="-9" dirty="0">
                <a:solidFill>
                  <a:srgbClr val="FFFFFF"/>
                </a:solidFill>
                <a:latin typeface="Arial"/>
                <a:cs typeface="Arial"/>
              </a:rPr>
              <a:t>Having </a:t>
            </a:r>
            <a:r>
              <a:rPr sz="1634" b="1" dirty="0">
                <a:solidFill>
                  <a:srgbClr val="FFFFFF"/>
                </a:solidFill>
                <a:latin typeface="Arial"/>
                <a:cs typeface="Arial"/>
              </a:rPr>
              <a:t>a software </a:t>
            </a: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reliability engineering process can make  organizations more </a:t>
            </a:r>
            <a:r>
              <a:rPr sz="1634" b="1" spc="-9" dirty="0">
                <a:solidFill>
                  <a:srgbClr val="FFFFFF"/>
                </a:solidFill>
                <a:latin typeface="Arial"/>
                <a:cs typeface="Arial"/>
              </a:rPr>
              <a:t>competitive </a:t>
            </a: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as customers </a:t>
            </a:r>
            <a:r>
              <a:rPr sz="1634" b="1" spc="9" dirty="0">
                <a:solidFill>
                  <a:srgbClr val="FFFFFF"/>
                </a:solidFill>
                <a:latin typeface="Arial"/>
                <a:cs typeface="Arial"/>
              </a:rPr>
              <a:t>will </a:t>
            </a:r>
            <a:r>
              <a:rPr sz="1634" b="1" dirty="0">
                <a:solidFill>
                  <a:srgbClr val="FFFFFF"/>
                </a:solidFill>
                <a:latin typeface="Arial"/>
                <a:cs typeface="Arial"/>
              </a:rPr>
              <a:t>always  </a:t>
            </a: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expect reliable </a:t>
            </a:r>
            <a:r>
              <a:rPr sz="1634" b="1" dirty="0">
                <a:solidFill>
                  <a:srgbClr val="FFFFFF"/>
                </a:solidFill>
                <a:latin typeface="Arial"/>
                <a:cs typeface="Arial"/>
              </a:rPr>
              <a:t>software </a:t>
            </a: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that </a:t>
            </a:r>
            <a:r>
              <a:rPr sz="1634" b="1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634" b="1" spc="-5" dirty="0">
                <a:solidFill>
                  <a:srgbClr val="FFFFFF"/>
                </a:solidFill>
                <a:latin typeface="Arial"/>
                <a:cs typeface="Arial"/>
              </a:rPr>
              <a:t>better and</a:t>
            </a:r>
            <a:r>
              <a:rPr sz="1634" b="1" spc="-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634" b="1" spc="-18" dirty="0">
                <a:solidFill>
                  <a:srgbClr val="FFFFFF"/>
                </a:solidFill>
                <a:latin typeface="Arial"/>
                <a:cs typeface="Arial"/>
              </a:rPr>
              <a:t>cheaper.</a:t>
            </a:r>
            <a:endParaRPr sz="163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417242" y="1605347"/>
            <a:ext cx="7520172" cy="268371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228801">
              <a:spcBef>
                <a:spcPts val="91"/>
              </a:spcBef>
            </a:pP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There are </a:t>
            </a:r>
            <a:r>
              <a:rPr sz="1634" b="1" spc="-9" dirty="0">
                <a:solidFill>
                  <a:schemeClr val="bg1"/>
                </a:solidFill>
                <a:latin typeface="Arial"/>
                <a:cs typeface="Arial"/>
              </a:rPr>
              <a:t>several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key reasons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a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reliability engineering program should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be 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implemented: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2133" dirty="0">
              <a:latin typeface="Arial"/>
              <a:cs typeface="Arial"/>
            </a:endParaRPr>
          </a:p>
          <a:p>
            <a:pPr marL="235140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So that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can be determined how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satisfactorily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products are</a:t>
            </a:r>
            <a:r>
              <a:rPr sz="1452" spc="82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functioning.</a:t>
            </a:r>
            <a:endParaRPr sz="1452" dirty="0">
              <a:latin typeface="Arial"/>
              <a:cs typeface="Arial"/>
            </a:endParaRPr>
          </a:p>
          <a:p>
            <a:pPr marL="235140">
              <a:spcBef>
                <a:spcPts val="1307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Avoid over-designing – products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could cost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more than necessary and lower</a:t>
            </a:r>
            <a:r>
              <a:rPr sz="1452" spc="7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profit.</a:t>
            </a:r>
            <a:endParaRPr sz="1452" dirty="0">
              <a:latin typeface="Arial"/>
              <a:cs typeface="Arial"/>
            </a:endParaRPr>
          </a:p>
          <a:p>
            <a:pPr marL="235140" marR="4611">
              <a:spcBef>
                <a:spcPts val="1307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If more features are added to meet customer demand then reliability should be monitored  to ensure that defects are not designed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which could impact</a:t>
            </a:r>
            <a:r>
              <a:rPr sz="1452" spc="91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reliability.</a:t>
            </a:r>
            <a:endParaRPr sz="1452" dirty="0">
              <a:latin typeface="Arial"/>
              <a:cs typeface="Arial"/>
            </a:endParaRPr>
          </a:p>
          <a:p>
            <a:pPr marL="235140" marR="99128">
              <a:spcBef>
                <a:spcPts val="1307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If a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customer’s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product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not designed well, with reliability and quality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mind, then they  may well turn to a</a:t>
            </a:r>
            <a:r>
              <a:rPr sz="1452" spc="41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b="1" spc="-9" dirty="0">
                <a:solidFill>
                  <a:srgbClr val="000065"/>
                </a:solidFill>
                <a:latin typeface="Arial"/>
                <a:cs typeface="Arial"/>
              </a:rPr>
              <a:t>COMPETITOR!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1860" y="732686"/>
            <a:ext cx="5470951" cy="565055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Why is SRE</a:t>
            </a:r>
            <a:r>
              <a:rPr spc="-59" dirty="0"/>
              <a:t> </a:t>
            </a:r>
            <a:r>
              <a:rPr spc="-5" dirty="0"/>
              <a:t>Beneficial?</a:t>
            </a:r>
          </a:p>
        </p:txBody>
      </p:sp>
      <p:sp>
        <p:nvSpPr>
          <p:cNvPr id="3" name="object 3"/>
          <p:cNvSpPr/>
          <p:nvPr/>
        </p:nvSpPr>
        <p:spPr>
          <a:xfrm>
            <a:off x="2217144" y="1782849"/>
            <a:ext cx="147994" cy="15629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322262" y="2278008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322262" y="2828492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322262" y="3160443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8785608" y="1351314"/>
            <a:ext cx="1295989" cy="157538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262787" y="4143845"/>
            <a:ext cx="1687413" cy="11922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4076064" y="3940526"/>
            <a:ext cx="149378" cy="1562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/>
          <p:nvPr/>
        </p:nvSpPr>
        <p:spPr>
          <a:xfrm>
            <a:off x="4076064" y="4313969"/>
            <a:ext cx="149378" cy="1562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1" name="object 11"/>
          <p:cNvSpPr/>
          <p:nvPr/>
        </p:nvSpPr>
        <p:spPr>
          <a:xfrm>
            <a:off x="4076064" y="4687413"/>
            <a:ext cx="149378" cy="1562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/>
          <p:nvPr/>
        </p:nvSpPr>
        <p:spPr>
          <a:xfrm>
            <a:off x="4076064" y="5060857"/>
            <a:ext cx="149378" cy="1562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 txBox="1"/>
          <p:nvPr/>
        </p:nvSpPr>
        <p:spPr>
          <a:xfrm>
            <a:off x="2207002" y="1210611"/>
            <a:ext cx="7777779" cy="5029085"/>
          </a:xfrm>
          <a:prstGeom prst="rect">
            <a:avLst/>
          </a:prstGeom>
        </p:spPr>
        <p:txBody>
          <a:bodyPr vert="horz" wrap="square" lIns="0" tIns="131397" rIns="0" bIns="0" rtlCol="0">
            <a:spAutoFit/>
          </a:bodyPr>
          <a:lstStyle/>
          <a:p>
            <a:pPr marL="11527">
              <a:spcBef>
                <a:spcPts val="1035"/>
              </a:spcBef>
            </a:pPr>
            <a:r>
              <a:rPr sz="1815" b="1" spc="-5" dirty="0">
                <a:solidFill>
                  <a:srgbClr val="0000FF"/>
                </a:solidFill>
                <a:latin typeface="Arial"/>
                <a:cs typeface="Arial"/>
              </a:rPr>
              <a:t>For</a:t>
            </a:r>
            <a:r>
              <a:rPr sz="1815" b="1" spc="-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815" b="1" spc="-5" dirty="0">
                <a:solidFill>
                  <a:srgbClr val="0000FF"/>
                </a:solidFill>
                <a:latin typeface="Arial"/>
                <a:cs typeface="Arial"/>
              </a:rPr>
              <a:t>Engineers</a:t>
            </a:r>
            <a:r>
              <a:rPr sz="1815" spc="-5" dirty="0">
                <a:solidFill>
                  <a:srgbClr val="0000FF"/>
                </a:solidFill>
                <a:latin typeface="Arial"/>
                <a:cs typeface="Arial"/>
              </a:rPr>
              <a:t>:</a:t>
            </a:r>
            <a:endParaRPr sz="1815">
              <a:latin typeface="Arial"/>
              <a:cs typeface="Arial"/>
            </a:endParaRPr>
          </a:p>
          <a:p>
            <a:pPr marL="224191">
              <a:spcBef>
                <a:spcPts val="844"/>
              </a:spcBef>
            </a:pPr>
            <a:r>
              <a:rPr sz="1634" b="1" spc="-5" dirty="0">
                <a:latin typeface="Arial"/>
                <a:cs typeface="Arial"/>
              </a:rPr>
              <a:t>Managing customer</a:t>
            </a:r>
            <a:r>
              <a:rPr sz="1634" b="1" spc="-9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demands:</a:t>
            </a:r>
            <a:endParaRPr sz="1634"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1679">
              <a:latin typeface="Arial"/>
              <a:cs typeface="Arial"/>
            </a:endParaRPr>
          </a:p>
          <a:p>
            <a:pPr marL="327929" marR="1771625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Enables software to be produced that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more reliable;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built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faster and 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cheaper.</a:t>
            </a:r>
            <a:endParaRPr sz="1452">
              <a:latin typeface="Arial"/>
              <a:cs typeface="Arial"/>
            </a:endParaRPr>
          </a:p>
          <a:p>
            <a:pPr marL="327929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Makes engineers more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successful in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meeting customer</a:t>
            </a:r>
            <a:r>
              <a:rPr sz="1452" spc="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demands.</a:t>
            </a:r>
            <a:endParaRPr sz="1452">
              <a:latin typeface="Arial"/>
              <a:cs typeface="Arial"/>
            </a:endParaRPr>
          </a:p>
          <a:p>
            <a:pPr marL="327929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In turn this avoids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conflicts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–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risk,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pressure, schedule,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functionality,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cost</a:t>
            </a:r>
            <a:r>
              <a:rPr sz="1452" spc="91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etc.</a:t>
            </a:r>
            <a:endParaRPr sz="1452">
              <a:latin typeface="Arial"/>
              <a:cs typeface="Arial"/>
            </a:endParaRPr>
          </a:p>
          <a:p>
            <a:pPr marL="2083418" marR="3030321" indent="-220157">
              <a:lnSpc>
                <a:spcPct val="132200"/>
              </a:lnSpc>
              <a:spcBef>
                <a:spcPts val="1125"/>
              </a:spcBef>
            </a:pPr>
            <a:r>
              <a:rPr sz="1634" b="1" dirty="0">
                <a:solidFill>
                  <a:srgbClr val="0000FF"/>
                </a:solidFill>
                <a:latin typeface="Arial"/>
                <a:cs typeface="Arial"/>
              </a:rPr>
              <a:t>For the </a:t>
            </a:r>
            <a:r>
              <a:rPr sz="1634" b="1" spc="-5" dirty="0">
                <a:solidFill>
                  <a:srgbClr val="0000FF"/>
                </a:solidFill>
                <a:latin typeface="Arial"/>
                <a:cs typeface="Arial"/>
              </a:rPr>
              <a:t>organization:  </a:t>
            </a:r>
            <a:r>
              <a:rPr sz="1634" b="1" spc="-9" dirty="0">
                <a:latin typeface="Arial"/>
                <a:cs typeface="Arial"/>
              </a:rPr>
              <a:t>Improves</a:t>
            </a:r>
            <a:r>
              <a:rPr sz="1634" b="1" spc="-41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competitiveness.</a:t>
            </a:r>
            <a:endParaRPr sz="1634">
              <a:latin typeface="Arial"/>
              <a:cs typeface="Arial"/>
            </a:endParaRPr>
          </a:p>
          <a:p>
            <a:pPr marL="2083418">
              <a:spcBef>
                <a:spcPts val="980"/>
              </a:spcBef>
            </a:pPr>
            <a:r>
              <a:rPr sz="1634" b="1" spc="-5" dirty="0">
                <a:latin typeface="Arial"/>
                <a:cs typeface="Arial"/>
              </a:rPr>
              <a:t>Reduces </a:t>
            </a:r>
            <a:r>
              <a:rPr sz="1634" b="1" spc="-9" dirty="0">
                <a:latin typeface="Arial"/>
                <a:cs typeface="Arial"/>
              </a:rPr>
              <a:t>development</a:t>
            </a:r>
            <a:r>
              <a:rPr sz="1634" b="1" spc="32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costs.</a:t>
            </a:r>
            <a:endParaRPr sz="1634">
              <a:latin typeface="Arial"/>
              <a:cs typeface="Arial"/>
            </a:endParaRPr>
          </a:p>
          <a:p>
            <a:pPr marL="2083418">
              <a:spcBef>
                <a:spcPts val="980"/>
              </a:spcBef>
            </a:pPr>
            <a:r>
              <a:rPr sz="1634" b="1" spc="-9" dirty="0">
                <a:latin typeface="Arial"/>
                <a:cs typeface="Arial"/>
              </a:rPr>
              <a:t>Provides </a:t>
            </a:r>
            <a:r>
              <a:rPr sz="1634" b="1" spc="-5" dirty="0">
                <a:latin typeface="Arial"/>
                <a:cs typeface="Arial"/>
              </a:rPr>
              <a:t>customers </a:t>
            </a:r>
            <a:r>
              <a:rPr sz="1634" b="1" spc="9" dirty="0">
                <a:latin typeface="Arial"/>
                <a:cs typeface="Arial"/>
              </a:rPr>
              <a:t>with </a:t>
            </a:r>
            <a:r>
              <a:rPr sz="1634" b="1" spc="-5" dirty="0">
                <a:latin typeface="Arial"/>
                <a:cs typeface="Arial"/>
              </a:rPr>
              <a:t>quantitative reliability</a:t>
            </a:r>
            <a:r>
              <a:rPr sz="1634" b="1" spc="9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metrics.</a:t>
            </a:r>
            <a:endParaRPr sz="1634">
              <a:latin typeface="Arial"/>
              <a:cs typeface="Arial"/>
            </a:endParaRPr>
          </a:p>
          <a:p>
            <a:pPr marL="2083418" marR="4611">
              <a:spcBef>
                <a:spcPts val="980"/>
              </a:spcBef>
            </a:pPr>
            <a:r>
              <a:rPr sz="1634" b="1" spc="-5" dirty="0">
                <a:latin typeface="Arial"/>
                <a:cs typeface="Arial"/>
              </a:rPr>
              <a:t>Places less emphasis </a:t>
            </a:r>
            <a:r>
              <a:rPr sz="1634" b="1" dirty="0">
                <a:latin typeface="Arial"/>
                <a:cs typeface="Arial"/>
              </a:rPr>
              <a:t>on tools </a:t>
            </a:r>
            <a:r>
              <a:rPr sz="1634" b="1" spc="-5" dirty="0">
                <a:latin typeface="Arial"/>
                <a:cs typeface="Arial"/>
              </a:rPr>
              <a:t>and </a:t>
            </a: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5" dirty="0">
                <a:latin typeface="Arial"/>
                <a:cs typeface="Arial"/>
              </a:rPr>
              <a:t>greater emphasis </a:t>
            </a:r>
            <a:r>
              <a:rPr sz="1634" b="1" dirty="0">
                <a:latin typeface="Arial"/>
                <a:cs typeface="Arial"/>
              </a:rPr>
              <a:t>on  </a:t>
            </a:r>
            <a:r>
              <a:rPr sz="1634" b="1" spc="-5" dirty="0">
                <a:latin typeface="Arial"/>
                <a:cs typeface="Arial"/>
              </a:rPr>
              <a:t>“designing </a:t>
            </a:r>
            <a:r>
              <a:rPr sz="1634" b="1" dirty="0">
                <a:latin typeface="Arial"/>
                <a:cs typeface="Arial"/>
              </a:rPr>
              <a:t>in</a:t>
            </a:r>
            <a:r>
              <a:rPr sz="1634" b="1" spc="-23" dirty="0">
                <a:latin typeface="Arial"/>
                <a:cs typeface="Arial"/>
              </a:rPr>
              <a:t> </a:t>
            </a:r>
            <a:r>
              <a:rPr sz="1634" b="1" spc="-14" dirty="0">
                <a:latin typeface="Arial"/>
                <a:cs typeface="Arial"/>
              </a:rPr>
              <a:t>reliability.”</a:t>
            </a:r>
            <a:endParaRPr sz="1634">
              <a:latin typeface="Arial"/>
              <a:cs typeface="Arial"/>
            </a:endParaRPr>
          </a:p>
          <a:p>
            <a:pPr>
              <a:spcBef>
                <a:spcPts val="41"/>
              </a:spcBef>
            </a:pPr>
            <a:endParaRPr sz="1543">
              <a:latin typeface="Arial"/>
              <a:cs typeface="Arial"/>
            </a:endParaRPr>
          </a:p>
          <a:p>
            <a:pPr marL="2062671" marR="340032" indent="-1507669">
              <a:spcBef>
                <a:spcPts val="5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Products can be developed that are delivered to the customer at the right time, at an  acceptable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cost,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with satisfactory</a:t>
            </a:r>
            <a:r>
              <a:rPr sz="1452" spc="32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reliability.</a:t>
            </a:r>
            <a:endParaRPr sz="14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24710" y="332577"/>
            <a:ext cx="4831720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Common SRE</a:t>
            </a:r>
            <a:r>
              <a:rPr spc="-54" dirty="0"/>
              <a:t> </a:t>
            </a:r>
            <a:r>
              <a:rPr spc="-5" dirty="0"/>
              <a:t>Challenges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idx="1"/>
          </p:nvPr>
        </p:nvSpPr>
        <p:spPr>
          <a:xfrm>
            <a:off x="602310" y="2290133"/>
            <a:ext cx="11196130" cy="442111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72041" marR="73770">
              <a:lnSpc>
                <a:spcPct val="110000"/>
              </a:lnSpc>
              <a:spcBef>
                <a:spcPts val="91"/>
              </a:spcBef>
            </a:pPr>
            <a:r>
              <a:rPr spc="-5" dirty="0">
                <a:latin typeface="Arial"/>
                <a:cs typeface="Arial"/>
              </a:rPr>
              <a:t>Data is collected during test phases, </a:t>
            </a:r>
            <a:r>
              <a:rPr b="0" dirty="0">
                <a:latin typeface="Arial"/>
                <a:cs typeface="Arial"/>
              </a:rPr>
              <a:t>so </a:t>
            </a:r>
            <a:r>
              <a:rPr spc="-5" dirty="0">
                <a:latin typeface="Arial"/>
                <a:cs typeface="Arial"/>
              </a:rPr>
              <a:t>if problems are discovered it is too late  for fundamental design changes </a:t>
            </a:r>
            <a:r>
              <a:rPr b="0" dirty="0">
                <a:latin typeface="Arial"/>
                <a:cs typeface="Arial"/>
              </a:rPr>
              <a:t>to </a:t>
            </a:r>
            <a:r>
              <a:rPr spc="-5" dirty="0">
                <a:latin typeface="Arial"/>
                <a:cs typeface="Arial"/>
              </a:rPr>
              <a:t>be</a:t>
            </a:r>
            <a:r>
              <a:rPr spc="45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made.</a:t>
            </a:r>
          </a:p>
          <a:p>
            <a:pPr marL="60514">
              <a:lnSpc>
                <a:spcPct val="100000"/>
              </a:lnSpc>
              <a:spcBef>
                <a:spcPts val="5"/>
              </a:spcBef>
            </a:pPr>
            <a:endParaRPr sz="1861" dirty="0">
              <a:latin typeface="Arial"/>
              <a:cs typeface="Arial"/>
            </a:endParaRPr>
          </a:p>
          <a:p>
            <a:pPr marL="73193" marR="1593541">
              <a:lnSpc>
                <a:spcPct val="110000"/>
              </a:lnSpc>
            </a:pPr>
            <a:r>
              <a:rPr spc="-5" dirty="0">
                <a:latin typeface="Arial"/>
                <a:cs typeface="Arial"/>
              </a:rPr>
              <a:t>Failure data collected during in-house testing may be limited,  and may not represent failures that </a:t>
            </a:r>
            <a:r>
              <a:rPr spc="-14" dirty="0">
                <a:latin typeface="Arial"/>
                <a:cs typeface="Arial"/>
              </a:rPr>
              <a:t>would </a:t>
            </a:r>
            <a:r>
              <a:rPr spc="-5" dirty="0">
                <a:latin typeface="Arial"/>
                <a:cs typeface="Arial"/>
              </a:rPr>
              <a:t>be uncovered in the  </a:t>
            </a:r>
            <a:r>
              <a:rPr spc="-9" dirty="0">
                <a:latin typeface="Arial"/>
                <a:cs typeface="Arial"/>
              </a:rPr>
              <a:t>product’s </a:t>
            </a:r>
            <a:r>
              <a:rPr spc="-5" dirty="0">
                <a:latin typeface="Arial"/>
                <a:cs typeface="Arial"/>
              </a:rPr>
              <a:t>actual operational</a:t>
            </a:r>
            <a:r>
              <a:rPr spc="50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environment.</a:t>
            </a:r>
          </a:p>
          <a:p>
            <a:pPr marL="72041" marR="1848854">
              <a:lnSpc>
                <a:spcPct val="110000"/>
              </a:lnSpc>
              <a:spcBef>
                <a:spcPts val="1570"/>
              </a:spcBef>
            </a:pPr>
            <a:r>
              <a:rPr spc="-5" dirty="0">
                <a:latin typeface="Arial"/>
                <a:cs typeface="Arial"/>
              </a:rPr>
              <a:t>Reliability metrics obtained from restricted testing data may  result in reliability metrics being</a:t>
            </a:r>
            <a:r>
              <a:rPr spc="59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inaccurate.</a:t>
            </a:r>
          </a:p>
          <a:p>
            <a:pPr marL="60514">
              <a:lnSpc>
                <a:spcPct val="100000"/>
              </a:lnSpc>
              <a:spcBef>
                <a:spcPts val="18"/>
              </a:spcBef>
            </a:pPr>
            <a:endParaRPr sz="1498" dirty="0">
              <a:latin typeface="Arial"/>
              <a:cs typeface="Arial"/>
            </a:endParaRPr>
          </a:p>
          <a:p>
            <a:pPr marL="72041" marR="1422373">
              <a:lnSpc>
                <a:spcPct val="110000"/>
              </a:lnSpc>
            </a:pPr>
            <a:r>
              <a:rPr b="0" dirty="0">
                <a:latin typeface="Arial"/>
                <a:cs typeface="Arial"/>
              </a:rPr>
              <a:t>There </a:t>
            </a:r>
            <a:r>
              <a:rPr spc="-5" dirty="0">
                <a:latin typeface="Arial"/>
                <a:cs typeface="Arial"/>
              </a:rPr>
              <a:t>are many possible models that can be used </a:t>
            </a:r>
            <a:r>
              <a:rPr b="0" dirty="0">
                <a:latin typeface="Arial"/>
                <a:cs typeface="Arial"/>
              </a:rPr>
              <a:t>to </a:t>
            </a:r>
            <a:r>
              <a:rPr spc="-5" dirty="0">
                <a:latin typeface="Arial"/>
                <a:cs typeface="Arial"/>
              </a:rPr>
              <a:t>predict the  reliability of the </a:t>
            </a:r>
            <a:r>
              <a:rPr spc="-9" dirty="0">
                <a:latin typeface="Arial"/>
                <a:cs typeface="Arial"/>
              </a:rPr>
              <a:t>software, which </a:t>
            </a:r>
            <a:r>
              <a:rPr spc="-5" dirty="0">
                <a:latin typeface="Arial"/>
                <a:cs typeface="Arial"/>
              </a:rPr>
              <a:t>can be very</a:t>
            </a:r>
            <a:r>
              <a:rPr spc="136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confusing.</a:t>
            </a:r>
          </a:p>
          <a:p>
            <a:pPr marL="60514">
              <a:lnSpc>
                <a:spcPct val="100000"/>
              </a:lnSpc>
              <a:spcBef>
                <a:spcPts val="5"/>
              </a:spcBef>
            </a:pPr>
            <a:endParaRPr sz="1815" dirty="0">
              <a:latin typeface="Arial"/>
              <a:cs typeface="Arial"/>
            </a:endParaRPr>
          </a:p>
          <a:p>
            <a:pPr marL="72041" marR="4611">
              <a:lnSpc>
                <a:spcPct val="110000"/>
              </a:lnSpc>
            </a:pPr>
            <a:r>
              <a:rPr spc="-5" dirty="0">
                <a:latin typeface="Arial"/>
                <a:cs typeface="Arial"/>
              </a:rPr>
              <a:t>Even if the correct model is selected there may be no </a:t>
            </a:r>
            <a:r>
              <a:rPr spc="-14" dirty="0">
                <a:latin typeface="Arial"/>
                <a:cs typeface="Arial"/>
              </a:rPr>
              <a:t>way </a:t>
            </a:r>
            <a:r>
              <a:rPr spc="-5" dirty="0">
                <a:latin typeface="Arial"/>
                <a:cs typeface="Arial"/>
              </a:rPr>
              <a:t>of validating it due </a:t>
            </a:r>
            <a:r>
              <a:rPr b="0" dirty="0">
                <a:latin typeface="Arial"/>
                <a:cs typeface="Arial"/>
              </a:rPr>
              <a:t>to  </a:t>
            </a:r>
            <a:r>
              <a:rPr spc="-5" dirty="0">
                <a:latin typeface="Arial"/>
                <a:cs typeface="Arial"/>
              </a:rPr>
              <a:t>having </a:t>
            </a:r>
            <a:r>
              <a:rPr spc="-9" dirty="0">
                <a:latin typeface="Arial"/>
                <a:cs typeface="Arial"/>
              </a:rPr>
              <a:t>insufficient </a:t>
            </a:r>
            <a:r>
              <a:rPr spc="-5" dirty="0">
                <a:latin typeface="Arial"/>
                <a:cs typeface="Arial"/>
              </a:rPr>
              <a:t>field</a:t>
            </a:r>
            <a:r>
              <a:rPr spc="41" dirty="0">
                <a:latin typeface="Arial"/>
                <a:cs typeface="Arial"/>
              </a:rPr>
              <a:t> </a:t>
            </a:r>
            <a:r>
              <a:rPr spc="-5" dirty="0">
                <a:latin typeface="Arial"/>
                <a:cs typeface="Arial"/>
              </a:rPr>
              <a:t>data.</a:t>
            </a:r>
          </a:p>
        </p:txBody>
      </p:sp>
      <p:sp>
        <p:nvSpPr>
          <p:cNvPr id="9" name="object 9"/>
          <p:cNvSpPr/>
          <p:nvPr/>
        </p:nvSpPr>
        <p:spPr>
          <a:xfrm>
            <a:off x="10311954" y="2636237"/>
            <a:ext cx="1528354" cy="22531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5125" y="332577"/>
            <a:ext cx="5030545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Fault Lifecycle</a:t>
            </a:r>
            <a:r>
              <a:rPr spc="-23" dirty="0"/>
              <a:t> </a:t>
            </a:r>
            <a:r>
              <a:rPr spc="-5" dirty="0"/>
              <a:t>Techniques</a:t>
            </a:r>
          </a:p>
        </p:txBody>
      </p:sp>
      <p:sp>
        <p:nvSpPr>
          <p:cNvPr id="4" name="object 4"/>
          <p:cNvSpPr/>
          <p:nvPr/>
        </p:nvSpPr>
        <p:spPr>
          <a:xfrm>
            <a:off x="2228209" y="2941910"/>
            <a:ext cx="145228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228209" y="3899032"/>
            <a:ext cx="145228" cy="156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228209" y="4936376"/>
            <a:ext cx="145228" cy="156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 txBox="1"/>
          <p:nvPr/>
        </p:nvSpPr>
        <p:spPr>
          <a:xfrm>
            <a:off x="2546202" y="2480949"/>
            <a:ext cx="7417589" cy="404447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9595">
              <a:spcBef>
                <a:spcPts val="91"/>
              </a:spcBef>
            </a:pPr>
            <a:r>
              <a:rPr sz="1634" b="1" spc="-9" dirty="0">
                <a:latin typeface="Arial"/>
                <a:cs typeface="Arial"/>
              </a:rPr>
              <a:t>Prevent </a:t>
            </a:r>
            <a:r>
              <a:rPr sz="1634" b="1" spc="-5" dirty="0">
                <a:latin typeface="Arial"/>
                <a:cs typeface="Arial"/>
              </a:rPr>
              <a:t>faults from being</a:t>
            </a:r>
            <a:r>
              <a:rPr sz="1634" b="1" spc="36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inserted.</a:t>
            </a:r>
            <a:endParaRPr sz="1634" dirty="0">
              <a:latin typeface="Arial"/>
              <a:cs typeface="Arial"/>
            </a:endParaRPr>
          </a:p>
          <a:p>
            <a:pPr marL="37461" marR="2303575">
              <a:spcBef>
                <a:spcPts val="1225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Avoids faults being designed into the software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when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it 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being  constructed.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5"/>
              </a:spcBef>
            </a:pPr>
            <a:endParaRPr sz="1951" dirty="0">
              <a:latin typeface="Arial"/>
              <a:cs typeface="Arial"/>
            </a:endParaRPr>
          </a:p>
          <a:p>
            <a:pPr marL="11527"/>
            <a:r>
              <a:rPr sz="1634" b="1" spc="-9" dirty="0">
                <a:latin typeface="Arial"/>
                <a:cs typeface="Arial"/>
              </a:rPr>
              <a:t>Remove </a:t>
            </a:r>
            <a:r>
              <a:rPr sz="1634" b="1" spc="-5" dirty="0">
                <a:latin typeface="Arial"/>
                <a:cs typeface="Arial"/>
              </a:rPr>
              <a:t>faults that </a:t>
            </a:r>
            <a:r>
              <a:rPr sz="1634" b="1" spc="-14" dirty="0">
                <a:latin typeface="Arial"/>
                <a:cs typeface="Arial"/>
              </a:rPr>
              <a:t>have </a:t>
            </a:r>
            <a:r>
              <a:rPr sz="1634" b="1" spc="-5" dirty="0">
                <a:latin typeface="Arial"/>
                <a:cs typeface="Arial"/>
              </a:rPr>
              <a:t>been</a:t>
            </a:r>
            <a:r>
              <a:rPr sz="1634" b="1" spc="91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inserted.</a:t>
            </a:r>
            <a:endParaRPr sz="1634" dirty="0">
              <a:latin typeface="Arial"/>
              <a:cs typeface="Arial"/>
            </a:endParaRPr>
          </a:p>
          <a:p>
            <a:pPr marL="19595">
              <a:spcBef>
                <a:spcPts val="1085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Detect and eliminate faults that have been inserted through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inspection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</a:t>
            </a:r>
            <a:r>
              <a:rPr sz="1452" spc="7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test.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5"/>
              </a:spcBef>
            </a:pPr>
            <a:endParaRPr sz="2405" dirty="0">
              <a:latin typeface="Arial"/>
              <a:cs typeface="Arial"/>
            </a:endParaRPr>
          </a:p>
          <a:p>
            <a:pPr marL="11527"/>
            <a:r>
              <a:rPr sz="1634" b="1" spc="-5" dirty="0">
                <a:latin typeface="Arial"/>
                <a:cs typeface="Arial"/>
              </a:rPr>
              <a:t>Design </a:t>
            </a:r>
            <a:r>
              <a:rPr sz="1634" b="1" dirty="0">
                <a:latin typeface="Arial"/>
                <a:cs typeface="Arial"/>
              </a:rPr>
              <a:t>the software </a:t>
            </a:r>
            <a:r>
              <a:rPr sz="1634" b="1" spc="-5" dirty="0">
                <a:latin typeface="Arial"/>
                <a:cs typeface="Arial"/>
              </a:rPr>
              <a:t>so that </a:t>
            </a:r>
            <a:r>
              <a:rPr sz="1634" b="1" dirty="0">
                <a:latin typeface="Arial"/>
                <a:cs typeface="Arial"/>
              </a:rPr>
              <a:t>it is </a:t>
            </a:r>
            <a:r>
              <a:rPr sz="1634" b="1" spc="-5" dirty="0">
                <a:latin typeface="Arial"/>
                <a:cs typeface="Arial"/>
              </a:rPr>
              <a:t>fault</a:t>
            </a:r>
            <a:r>
              <a:rPr sz="1634" b="1" spc="-50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tolerant.</a:t>
            </a:r>
            <a:endParaRPr sz="1634" dirty="0">
              <a:latin typeface="Arial"/>
              <a:cs typeface="Arial"/>
            </a:endParaRPr>
          </a:p>
          <a:p>
            <a:pPr marL="11527" marR="4611">
              <a:spcBef>
                <a:spcPts val="1162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Provide redundant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services so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that the software continues to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work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even though faults have  occurred or are</a:t>
            </a:r>
            <a:r>
              <a:rPr sz="1452" spc="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occurring.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45"/>
              </a:spcBef>
            </a:pPr>
            <a:endParaRPr sz="1316" dirty="0">
              <a:latin typeface="Arial"/>
              <a:cs typeface="Arial"/>
            </a:endParaRPr>
          </a:p>
          <a:p>
            <a:pPr marL="11527">
              <a:spcBef>
                <a:spcPts val="5"/>
              </a:spcBef>
            </a:pPr>
            <a:r>
              <a:rPr sz="1634" b="1" spc="-5" dirty="0">
                <a:latin typeface="Arial"/>
                <a:cs typeface="Arial"/>
              </a:rPr>
              <a:t>Forecast faults and/or</a:t>
            </a:r>
            <a:r>
              <a:rPr sz="1634" b="1" spc="-9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failures.</a:t>
            </a:r>
            <a:endParaRPr sz="1634" dirty="0">
              <a:latin typeface="Arial"/>
              <a:cs typeface="Arial"/>
            </a:endParaRPr>
          </a:p>
          <a:p>
            <a:pPr marL="19595" marR="354440">
              <a:spcBef>
                <a:spcPts val="1107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Evaluate the code and estimate how many faults are present and the occurrences and  consequences of software</a:t>
            </a:r>
            <a:r>
              <a:rPr sz="1452" spc="2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failures.</a:t>
            </a:r>
            <a:endParaRPr sz="1452" dirty="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930837" y="1526970"/>
            <a:ext cx="2024896" cy="16237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6923" y="332577"/>
            <a:ext cx="7227409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Preventing Faults From Being</a:t>
            </a:r>
            <a:r>
              <a:rPr spc="23" dirty="0"/>
              <a:t> </a:t>
            </a:r>
            <a:r>
              <a:rPr spc="-9" dirty="0"/>
              <a:t>Inserted</a:t>
            </a:r>
          </a:p>
        </p:txBody>
      </p:sp>
      <p:sp>
        <p:nvSpPr>
          <p:cNvPr id="3" name="object 3"/>
          <p:cNvSpPr/>
          <p:nvPr/>
        </p:nvSpPr>
        <p:spPr>
          <a:xfrm>
            <a:off x="2435678" y="2876903"/>
            <a:ext cx="132780" cy="14107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435678" y="3431536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35678" y="3763485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35678" y="4095436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435678" y="4427386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435678" y="4759337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2217144" y="1391425"/>
            <a:ext cx="147994" cy="156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/>
          <p:nvPr/>
        </p:nvSpPr>
        <p:spPr>
          <a:xfrm>
            <a:off x="2208845" y="2446749"/>
            <a:ext cx="149378" cy="156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grpSp>
        <p:nvGrpSpPr>
          <p:cNvPr id="11" name="object 11"/>
          <p:cNvGrpSpPr/>
          <p:nvPr/>
        </p:nvGrpSpPr>
        <p:grpSpPr>
          <a:xfrm>
            <a:off x="2036987" y="5762036"/>
            <a:ext cx="7747235" cy="801061"/>
            <a:chOff x="1017913" y="5789676"/>
            <a:chExt cx="8536305" cy="882650"/>
          </a:xfrm>
        </p:grpSpPr>
        <p:sp>
          <p:nvSpPr>
            <p:cNvPr id="12" name="object 12"/>
            <p:cNvSpPr/>
            <p:nvPr/>
          </p:nvSpPr>
          <p:spPr>
            <a:xfrm>
              <a:off x="1017913" y="5789676"/>
              <a:ext cx="8535921" cy="86868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13" name="object 13"/>
            <p:cNvSpPr/>
            <p:nvPr/>
          </p:nvSpPr>
          <p:spPr>
            <a:xfrm>
              <a:off x="1017913" y="5789676"/>
              <a:ext cx="8536305" cy="882650"/>
            </a:xfrm>
            <a:custGeom>
              <a:avLst/>
              <a:gdLst/>
              <a:ahLst/>
              <a:cxnLst/>
              <a:rect l="l" t="t" r="r" b="b"/>
              <a:pathLst>
                <a:path w="8536305" h="882650">
                  <a:moveTo>
                    <a:pt x="8535921" y="726948"/>
                  </a:moveTo>
                  <a:lnTo>
                    <a:pt x="8535921" y="155448"/>
                  </a:lnTo>
                  <a:lnTo>
                    <a:pt x="8532873" y="123444"/>
                  </a:lnTo>
                  <a:lnTo>
                    <a:pt x="8516109" y="80772"/>
                  </a:lnTo>
                  <a:lnTo>
                    <a:pt x="8490201" y="45720"/>
                  </a:lnTo>
                  <a:lnTo>
                    <a:pt x="8453625" y="18288"/>
                  </a:lnTo>
                  <a:lnTo>
                    <a:pt x="8395713" y="0"/>
                  </a:lnTo>
                  <a:lnTo>
                    <a:pt x="140208" y="0"/>
                  </a:lnTo>
                  <a:lnTo>
                    <a:pt x="94488" y="12192"/>
                  </a:lnTo>
                  <a:lnTo>
                    <a:pt x="56388" y="36576"/>
                  </a:lnTo>
                  <a:lnTo>
                    <a:pt x="27432" y="68580"/>
                  </a:lnTo>
                  <a:lnTo>
                    <a:pt x="7620" y="109728"/>
                  </a:lnTo>
                  <a:lnTo>
                    <a:pt x="0" y="155448"/>
                  </a:lnTo>
                  <a:lnTo>
                    <a:pt x="0" y="726948"/>
                  </a:lnTo>
                  <a:lnTo>
                    <a:pt x="1524" y="743712"/>
                  </a:lnTo>
                  <a:lnTo>
                    <a:pt x="7620" y="774192"/>
                  </a:lnTo>
                  <a:lnTo>
                    <a:pt x="19812" y="801624"/>
                  </a:lnTo>
                  <a:lnTo>
                    <a:pt x="25908" y="811377"/>
                  </a:lnTo>
                  <a:lnTo>
                    <a:pt x="25908" y="155448"/>
                  </a:lnTo>
                  <a:lnTo>
                    <a:pt x="28956" y="128016"/>
                  </a:lnTo>
                  <a:lnTo>
                    <a:pt x="48768" y="82296"/>
                  </a:lnTo>
                  <a:lnTo>
                    <a:pt x="83820" y="47244"/>
                  </a:lnTo>
                  <a:lnTo>
                    <a:pt x="131064" y="27432"/>
                  </a:lnTo>
                  <a:lnTo>
                    <a:pt x="8394189" y="25908"/>
                  </a:lnTo>
                  <a:lnTo>
                    <a:pt x="8407905" y="27432"/>
                  </a:lnTo>
                  <a:lnTo>
                    <a:pt x="8453625" y="47244"/>
                  </a:lnTo>
                  <a:lnTo>
                    <a:pt x="8488677" y="83820"/>
                  </a:lnTo>
                  <a:lnTo>
                    <a:pt x="8508489" y="129540"/>
                  </a:lnTo>
                  <a:lnTo>
                    <a:pt x="8510013" y="143256"/>
                  </a:lnTo>
                  <a:lnTo>
                    <a:pt x="8510013" y="812292"/>
                  </a:lnTo>
                  <a:lnTo>
                    <a:pt x="8517633" y="800100"/>
                  </a:lnTo>
                  <a:lnTo>
                    <a:pt x="8529825" y="772668"/>
                  </a:lnTo>
                  <a:lnTo>
                    <a:pt x="8532873" y="757428"/>
                  </a:lnTo>
                  <a:lnTo>
                    <a:pt x="8535921" y="726948"/>
                  </a:lnTo>
                  <a:close/>
                </a:path>
                <a:path w="8536305" h="882650">
                  <a:moveTo>
                    <a:pt x="8510013" y="812292"/>
                  </a:moveTo>
                  <a:lnTo>
                    <a:pt x="8510013" y="740664"/>
                  </a:lnTo>
                  <a:lnTo>
                    <a:pt x="8508489" y="752856"/>
                  </a:lnTo>
                  <a:lnTo>
                    <a:pt x="8503917" y="766572"/>
                  </a:lnTo>
                  <a:lnTo>
                    <a:pt x="8499345" y="777240"/>
                  </a:lnTo>
                  <a:lnTo>
                    <a:pt x="8494773" y="789432"/>
                  </a:lnTo>
                  <a:lnTo>
                    <a:pt x="8488677" y="800100"/>
                  </a:lnTo>
                  <a:lnTo>
                    <a:pt x="8452101" y="835152"/>
                  </a:lnTo>
                  <a:lnTo>
                    <a:pt x="8418573" y="850392"/>
                  </a:lnTo>
                  <a:lnTo>
                    <a:pt x="8406381" y="854964"/>
                  </a:lnTo>
                  <a:lnTo>
                    <a:pt x="8392665" y="856488"/>
                  </a:lnTo>
                  <a:lnTo>
                    <a:pt x="141732" y="856488"/>
                  </a:lnTo>
                  <a:lnTo>
                    <a:pt x="92964" y="841248"/>
                  </a:lnTo>
                  <a:lnTo>
                    <a:pt x="54864" y="809244"/>
                  </a:lnTo>
                  <a:lnTo>
                    <a:pt x="32004" y="765048"/>
                  </a:lnTo>
                  <a:lnTo>
                    <a:pt x="25908" y="725424"/>
                  </a:lnTo>
                  <a:lnTo>
                    <a:pt x="25908" y="811377"/>
                  </a:lnTo>
                  <a:lnTo>
                    <a:pt x="57912" y="847344"/>
                  </a:lnTo>
                  <a:lnTo>
                    <a:pt x="96012" y="870204"/>
                  </a:lnTo>
                  <a:lnTo>
                    <a:pt x="111252" y="874776"/>
                  </a:lnTo>
                  <a:lnTo>
                    <a:pt x="124968" y="879348"/>
                  </a:lnTo>
                  <a:lnTo>
                    <a:pt x="155448" y="882396"/>
                  </a:lnTo>
                  <a:lnTo>
                    <a:pt x="8380473" y="882396"/>
                  </a:lnTo>
                  <a:lnTo>
                    <a:pt x="8427717" y="874776"/>
                  </a:lnTo>
                  <a:lnTo>
                    <a:pt x="8467341" y="854964"/>
                  </a:lnTo>
                  <a:lnTo>
                    <a:pt x="8500869" y="824484"/>
                  </a:lnTo>
                  <a:lnTo>
                    <a:pt x="8510013" y="8122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283534" y="5815000"/>
            <a:ext cx="7299447" cy="72394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0950" marR="4611" algn="ctr">
              <a:spcBef>
                <a:spcPts val="91"/>
              </a:spcBef>
            </a:pP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Formal software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engineering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processes and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tools, if applied </a:t>
            </a:r>
            <a:r>
              <a:rPr sz="1543" b="1" spc="-14" dirty="0">
                <a:solidFill>
                  <a:srgbClr val="FFFFFF"/>
                </a:solidFill>
                <a:latin typeface="Arial"/>
                <a:cs typeface="Arial"/>
              </a:rPr>
              <a:t>successfully,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can  be </a:t>
            </a:r>
            <a:r>
              <a:rPr sz="1543" b="1" spc="-9" dirty="0">
                <a:solidFill>
                  <a:srgbClr val="FFFFFF"/>
                </a:solidFill>
                <a:latin typeface="Arial"/>
                <a:cs typeface="Arial"/>
              </a:rPr>
              <a:t>very effective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in preventing faults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(but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is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no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guarantee!) </a:t>
            </a:r>
            <a:r>
              <a:rPr sz="1543" b="1" spc="-14" dirty="0">
                <a:solidFill>
                  <a:srgbClr val="FFFFFF"/>
                </a:solidFill>
                <a:latin typeface="Arial"/>
                <a:cs typeface="Arial"/>
              </a:rPr>
              <a:t>However,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software  reuse without proper </a:t>
            </a:r>
            <a:r>
              <a:rPr sz="1543" b="1" spc="-9" dirty="0">
                <a:solidFill>
                  <a:srgbClr val="FFFFFF"/>
                </a:solidFill>
                <a:latin typeface="Arial"/>
                <a:cs typeface="Arial"/>
              </a:rPr>
              <a:t>verification </a:t>
            </a:r>
            <a:r>
              <a:rPr sz="1543" b="1" dirty="0">
                <a:solidFill>
                  <a:srgbClr val="FFFFFF"/>
                </a:solidFill>
                <a:latin typeface="Arial"/>
                <a:cs typeface="Arial"/>
              </a:rPr>
              <a:t>can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result in</a:t>
            </a:r>
            <a:r>
              <a:rPr sz="1543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43" b="1" spc="-5" dirty="0">
                <a:solidFill>
                  <a:srgbClr val="FFFFFF"/>
                </a:solidFill>
                <a:latin typeface="Arial"/>
                <a:cs typeface="Arial"/>
              </a:rPr>
              <a:t>disappointment.</a:t>
            </a:r>
            <a:endParaRPr sz="1543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3200" y="2109104"/>
            <a:ext cx="8292873" cy="3705896"/>
          </a:xfrm>
          <a:prstGeom prst="rect">
            <a:avLst/>
          </a:prstGeom>
        </p:spPr>
        <p:txBody>
          <a:bodyPr vert="horz" wrap="square" lIns="0" tIns="100276" rIns="0" bIns="0" rtlCol="0">
            <a:spAutoFit/>
          </a:bodyPr>
          <a:lstStyle/>
          <a:p>
            <a:pPr marL="19595">
              <a:spcBef>
                <a:spcPts val="789"/>
              </a:spcBef>
            </a:pPr>
            <a:r>
              <a:rPr sz="1634" b="1" spc="-5" dirty="0">
                <a:latin typeface="Arial"/>
                <a:cs typeface="Arial"/>
              </a:rPr>
              <a:t>Initial approach </a:t>
            </a:r>
            <a:r>
              <a:rPr sz="1634" b="1" dirty="0">
                <a:latin typeface="Arial"/>
                <a:cs typeface="Arial"/>
              </a:rPr>
              <a:t>for </a:t>
            </a:r>
            <a:r>
              <a:rPr sz="1634" b="1" spc="-5" dirty="0">
                <a:latin typeface="Arial"/>
                <a:cs typeface="Arial"/>
              </a:rPr>
              <a:t>reliable</a:t>
            </a:r>
            <a:r>
              <a:rPr sz="1634" b="1" spc="-27" dirty="0">
                <a:latin typeface="Arial"/>
                <a:cs typeface="Arial"/>
              </a:rPr>
              <a:t> </a:t>
            </a:r>
            <a:r>
              <a:rPr sz="1634" b="1" dirty="0">
                <a:latin typeface="Arial"/>
                <a:cs typeface="Arial"/>
              </a:rPr>
              <a:t>software</a:t>
            </a:r>
            <a:endParaRPr sz="1634" dirty="0">
              <a:latin typeface="Arial"/>
              <a:cs typeface="Arial"/>
            </a:endParaRPr>
          </a:p>
          <a:p>
            <a:pPr marL="27664" marR="246668">
              <a:spcBef>
                <a:spcPts val="617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fault that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never created does not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cost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anything to fix. This should be the ultimate 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objective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of software</a:t>
            </a:r>
            <a:r>
              <a:rPr sz="1452" spc="18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engineering.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1951" dirty="0">
              <a:latin typeface="Arial"/>
              <a:cs typeface="Arial"/>
            </a:endParaRPr>
          </a:p>
          <a:p>
            <a:pPr marL="11527">
              <a:spcBef>
                <a:spcPts val="5"/>
              </a:spcBef>
            </a:pPr>
            <a:r>
              <a:rPr sz="1634" b="1" dirty="0">
                <a:latin typeface="Arial"/>
                <a:cs typeface="Arial"/>
              </a:rPr>
              <a:t>This</a:t>
            </a:r>
            <a:r>
              <a:rPr sz="1634" b="1" spc="-18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requires:</a:t>
            </a:r>
            <a:endParaRPr sz="1634" dirty="0">
              <a:latin typeface="Arial"/>
              <a:cs typeface="Arial"/>
            </a:endParaRPr>
          </a:p>
          <a:p>
            <a:pPr marL="235140" marR="169440">
              <a:spcBef>
                <a:spcPts val="1475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formal requirement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specification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always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being available that has been thoroughly  reviewed and agreed</a:t>
            </a:r>
            <a:r>
              <a:rPr sz="1452" spc="18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to.</a:t>
            </a:r>
            <a:endParaRPr sz="1452" dirty="0">
              <a:latin typeface="Arial"/>
              <a:cs typeface="Arial"/>
            </a:endParaRPr>
          </a:p>
          <a:p>
            <a:pPr marL="235140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Formal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inspection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test methods being implemented and</a:t>
            </a:r>
            <a:r>
              <a:rPr sz="1452" spc="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used.</a:t>
            </a:r>
            <a:endParaRPr sz="1452" dirty="0">
              <a:latin typeface="Arial"/>
              <a:cs typeface="Arial"/>
            </a:endParaRPr>
          </a:p>
          <a:p>
            <a:pPr marL="235140" marR="4611">
              <a:lnSpc>
                <a:spcPct val="150000"/>
              </a:lnSpc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Early interaction with end-users (field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trials)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requirement refinement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if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necessary. 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correct analysis tools and disciplined tool</a:t>
            </a:r>
            <a:r>
              <a:rPr sz="1452" spc="32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use.</a:t>
            </a:r>
            <a:endParaRPr sz="1452" dirty="0">
              <a:latin typeface="Arial"/>
              <a:cs typeface="Arial"/>
            </a:endParaRPr>
          </a:p>
          <a:p>
            <a:pPr marL="235140" marR="1365316">
              <a:lnSpc>
                <a:spcPct val="150000"/>
              </a:lnSpc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Formal programming principles and environments that are enforced.  Systematic techniques for software</a:t>
            </a:r>
            <a:r>
              <a:rPr sz="1452" spc="5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reuse.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51820" y="332577"/>
            <a:ext cx="3178308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Removing</a:t>
            </a:r>
            <a:r>
              <a:rPr spc="-54" dirty="0"/>
              <a:t> </a:t>
            </a:r>
            <a:r>
              <a:rPr spc="-5" dirty="0"/>
              <a:t>Faults</a:t>
            </a:r>
          </a:p>
        </p:txBody>
      </p:sp>
      <p:sp>
        <p:nvSpPr>
          <p:cNvPr id="3" name="object 3"/>
          <p:cNvSpPr/>
          <p:nvPr/>
        </p:nvSpPr>
        <p:spPr>
          <a:xfrm>
            <a:off x="2217144" y="1546335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208845" y="2326418"/>
            <a:ext cx="149378" cy="152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35678" y="2858921"/>
            <a:ext cx="132780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35678" y="3190871"/>
            <a:ext cx="132780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 txBox="1"/>
          <p:nvPr/>
        </p:nvSpPr>
        <p:spPr>
          <a:xfrm>
            <a:off x="2411709" y="1475334"/>
            <a:ext cx="6962310" cy="2607734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9595" marR="1920895">
              <a:spcBef>
                <a:spcPts val="91"/>
              </a:spcBef>
            </a:pPr>
            <a:r>
              <a:rPr sz="1634" b="1" spc="-5" dirty="0">
                <a:latin typeface="Arial"/>
                <a:cs typeface="Arial"/>
              </a:rPr>
              <a:t>When faults are injected </a:t>
            </a:r>
            <a:r>
              <a:rPr sz="1634" b="1" dirty="0">
                <a:latin typeface="Arial"/>
                <a:cs typeface="Arial"/>
              </a:rPr>
              <a:t>into the software, the </a:t>
            </a:r>
            <a:r>
              <a:rPr sz="1634" b="1" spc="-5" dirty="0">
                <a:latin typeface="Arial"/>
                <a:cs typeface="Arial"/>
              </a:rPr>
              <a:t>next  method that can </a:t>
            </a:r>
            <a:r>
              <a:rPr sz="1634" b="1" dirty="0">
                <a:latin typeface="Arial"/>
                <a:cs typeface="Arial"/>
              </a:rPr>
              <a:t>be </a:t>
            </a:r>
            <a:r>
              <a:rPr sz="1634" b="1" spc="-5" dirty="0">
                <a:latin typeface="Arial"/>
                <a:cs typeface="Arial"/>
              </a:rPr>
              <a:t>used </a:t>
            </a:r>
            <a:r>
              <a:rPr sz="1634" b="1" dirty="0">
                <a:latin typeface="Arial"/>
                <a:cs typeface="Arial"/>
              </a:rPr>
              <a:t>is </a:t>
            </a:r>
            <a:r>
              <a:rPr sz="1634" b="1" spc="-5" dirty="0">
                <a:latin typeface="Arial"/>
                <a:cs typeface="Arial"/>
              </a:rPr>
              <a:t>fault</a:t>
            </a:r>
            <a:r>
              <a:rPr sz="1634" b="1" spc="-9" dirty="0">
                <a:latin typeface="Arial"/>
                <a:cs typeface="Arial"/>
              </a:rPr>
              <a:t> removal.</a:t>
            </a:r>
            <a:endParaRPr sz="1634">
              <a:latin typeface="Arial"/>
              <a:cs typeface="Arial"/>
            </a:endParaRPr>
          </a:p>
          <a:p>
            <a:pPr>
              <a:spcBef>
                <a:spcPts val="41"/>
              </a:spcBef>
            </a:pPr>
            <a:endParaRPr sz="1906">
              <a:latin typeface="Arial"/>
              <a:cs typeface="Arial"/>
            </a:endParaRPr>
          </a:p>
          <a:p>
            <a:pPr marL="11527"/>
            <a:r>
              <a:rPr sz="1634" b="1" spc="-9" dirty="0">
                <a:latin typeface="Arial"/>
                <a:cs typeface="Arial"/>
              </a:rPr>
              <a:t>Approaches:</a:t>
            </a:r>
            <a:endParaRPr sz="1634">
              <a:latin typeface="Arial"/>
              <a:cs typeface="Arial"/>
            </a:endParaRPr>
          </a:p>
          <a:p>
            <a:pPr marL="235140" marR="5056684">
              <a:lnSpc>
                <a:spcPct val="150000"/>
              </a:lnSpc>
              <a:spcBef>
                <a:spcPts val="1420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Software</a:t>
            </a:r>
            <a:r>
              <a:rPr sz="1452" spc="-50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inspection. 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Software</a:t>
            </a:r>
            <a:r>
              <a:rPr sz="1452" spc="23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testing.</a:t>
            </a:r>
            <a:endParaRPr sz="1452">
              <a:latin typeface="Arial"/>
              <a:cs typeface="Arial"/>
            </a:endParaRPr>
          </a:p>
          <a:p>
            <a:pPr>
              <a:spcBef>
                <a:spcPts val="41"/>
              </a:spcBef>
            </a:pPr>
            <a:endParaRPr sz="1634">
              <a:latin typeface="Arial"/>
              <a:cs typeface="Arial"/>
            </a:endParaRPr>
          </a:p>
          <a:p>
            <a:pPr marL="227072" marR="4611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Both have become standard industry practices. This presentation will focus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closely 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on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these.</a:t>
            </a:r>
            <a:endParaRPr sz="1452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60712" y="1502075"/>
            <a:ext cx="2237898" cy="17980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 dirty="0"/>
          </a:p>
        </p:txBody>
      </p:sp>
      <p:sp>
        <p:nvSpPr>
          <p:cNvPr id="9" name="object 9"/>
          <p:cNvSpPr/>
          <p:nvPr/>
        </p:nvSpPr>
        <p:spPr>
          <a:xfrm>
            <a:off x="4562924" y="4099585"/>
            <a:ext cx="2708161" cy="183264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81833" y="332577"/>
            <a:ext cx="2917243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Fault</a:t>
            </a:r>
            <a:r>
              <a:rPr spc="-59" dirty="0"/>
              <a:t> </a:t>
            </a:r>
            <a:r>
              <a:rPr spc="-5" dirty="0"/>
              <a:t>Tolerance</a:t>
            </a:r>
          </a:p>
        </p:txBody>
      </p:sp>
      <p:sp>
        <p:nvSpPr>
          <p:cNvPr id="4" name="object 4"/>
          <p:cNvSpPr/>
          <p:nvPr/>
        </p:nvSpPr>
        <p:spPr>
          <a:xfrm>
            <a:off x="7616866" y="1824343"/>
            <a:ext cx="2316736" cy="197648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217144" y="2662518"/>
            <a:ext cx="147994" cy="15629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24613" y="3114799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435678" y="4080222"/>
            <a:ext cx="132780" cy="1369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443977" y="4796681"/>
            <a:ext cx="136929" cy="13831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 txBox="1"/>
          <p:nvPr/>
        </p:nvSpPr>
        <p:spPr>
          <a:xfrm>
            <a:off x="2449225" y="2740664"/>
            <a:ext cx="7182458" cy="3527153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2483965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This is a </a:t>
            </a:r>
            <a:r>
              <a:rPr sz="1634" b="1" spc="-9" dirty="0">
                <a:latin typeface="Arial"/>
                <a:cs typeface="Arial"/>
              </a:rPr>
              <a:t>survival </a:t>
            </a:r>
            <a:r>
              <a:rPr sz="1634" b="1" spc="-5" dirty="0">
                <a:latin typeface="Arial"/>
                <a:cs typeface="Arial"/>
              </a:rPr>
              <a:t>attribute </a:t>
            </a:r>
            <a:r>
              <a:rPr sz="1634" b="1" dirty="0">
                <a:latin typeface="Arial"/>
                <a:cs typeface="Arial"/>
              </a:rPr>
              <a:t>– the software </a:t>
            </a:r>
            <a:r>
              <a:rPr sz="1634" b="1" spc="-5" dirty="0">
                <a:latin typeface="Arial"/>
                <a:cs typeface="Arial"/>
              </a:rPr>
              <a:t>has </a:t>
            </a:r>
            <a:r>
              <a:rPr sz="1634" b="1" dirty="0">
                <a:latin typeface="Arial"/>
                <a:cs typeface="Arial"/>
              </a:rPr>
              <a:t>to  </a:t>
            </a:r>
            <a:r>
              <a:rPr sz="1634" b="1" spc="-5" dirty="0">
                <a:latin typeface="Arial"/>
                <a:cs typeface="Arial"/>
              </a:rPr>
              <a:t>continue </a:t>
            </a:r>
            <a:r>
              <a:rPr sz="1634" b="1" dirty="0">
                <a:latin typeface="Arial"/>
                <a:cs typeface="Arial"/>
              </a:rPr>
              <a:t>to </a:t>
            </a:r>
            <a:r>
              <a:rPr sz="1634" b="1" spc="5" dirty="0">
                <a:latin typeface="Arial"/>
                <a:cs typeface="Arial"/>
              </a:rPr>
              <a:t>work </a:t>
            </a:r>
            <a:r>
              <a:rPr sz="1634" b="1" spc="-14" dirty="0">
                <a:latin typeface="Arial"/>
                <a:cs typeface="Arial"/>
              </a:rPr>
              <a:t>even </a:t>
            </a:r>
            <a:r>
              <a:rPr sz="1634" b="1" dirty="0">
                <a:latin typeface="Arial"/>
                <a:cs typeface="Arial"/>
              </a:rPr>
              <a:t>though a </a:t>
            </a:r>
            <a:r>
              <a:rPr sz="1634" b="1" spc="-5" dirty="0">
                <a:latin typeface="Arial"/>
                <a:cs typeface="Arial"/>
              </a:rPr>
              <a:t>failure has  occurred.</a:t>
            </a:r>
            <a:endParaRPr sz="1634" dirty="0">
              <a:latin typeface="Arial"/>
              <a:cs typeface="Arial"/>
            </a:endParaRPr>
          </a:p>
          <a:p>
            <a:pPr marL="11527">
              <a:spcBef>
                <a:spcPts val="1035"/>
              </a:spcBef>
            </a:pPr>
            <a:r>
              <a:rPr sz="1634" b="1" spc="-5" dirty="0">
                <a:latin typeface="Arial"/>
                <a:cs typeface="Arial"/>
              </a:rPr>
              <a:t>Fault tolerance techniques enables </a:t>
            </a: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9" dirty="0">
                <a:latin typeface="Arial"/>
                <a:cs typeface="Arial"/>
              </a:rPr>
              <a:t>system</a:t>
            </a:r>
            <a:r>
              <a:rPr sz="1634" b="1" spc="9" dirty="0">
                <a:latin typeface="Arial"/>
                <a:cs typeface="Arial"/>
              </a:rPr>
              <a:t> </a:t>
            </a:r>
            <a:r>
              <a:rPr sz="1634" b="1" dirty="0">
                <a:latin typeface="Arial"/>
                <a:cs typeface="Arial"/>
              </a:rPr>
              <a:t>to:</a:t>
            </a:r>
            <a:endParaRPr sz="1634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1407" dirty="0">
              <a:latin typeface="Arial"/>
              <a:cs typeface="Arial"/>
            </a:endParaRPr>
          </a:p>
          <a:p>
            <a:pPr marL="218428" marR="2134712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Prevent dormant software faults from becoming active (i.e.,  defensive programming to check for input and output  conditions and forbid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illegal</a:t>
            </a:r>
            <a:r>
              <a:rPr sz="1452" spc="5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operations).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14"/>
              </a:spcBef>
            </a:pPr>
            <a:endParaRPr sz="2042" dirty="0">
              <a:latin typeface="Arial"/>
              <a:cs typeface="Arial"/>
            </a:endParaRPr>
          </a:p>
          <a:p>
            <a:pPr marL="227072" marR="4611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Contain software errors within a confined boundary to prevent them from propagating  further (i.e., exception handling routines to treat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unsuccessful</a:t>
            </a:r>
            <a:r>
              <a:rPr sz="1452" spc="103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operations).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41"/>
              </a:spcBef>
            </a:pPr>
            <a:endParaRPr sz="1861" dirty="0">
              <a:latin typeface="Arial"/>
              <a:cs typeface="Arial"/>
            </a:endParaRPr>
          </a:p>
          <a:p>
            <a:pPr marL="235140" marR="40919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Recover software operations from erroneous conditions by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using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techniques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such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as  check pointing and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rollback.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399" y="332577"/>
            <a:ext cx="4681305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Fault/Failure</a:t>
            </a:r>
            <a:r>
              <a:rPr spc="-36" dirty="0"/>
              <a:t> </a:t>
            </a:r>
            <a:r>
              <a:rPr spc="-5" dirty="0"/>
              <a:t>Forecasting</a:t>
            </a:r>
          </a:p>
        </p:txBody>
      </p:sp>
      <p:sp>
        <p:nvSpPr>
          <p:cNvPr id="3" name="object 3"/>
          <p:cNvSpPr/>
          <p:nvPr/>
        </p:nvSpPr>
        <p:spPr>
          <a:xfrm>
            <a:off x="7863064" y="3658368"/>
            <a:ext cx="2298755" cy="251590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217144" y="1448133"/>
            <a:ext cx="147994" cy="152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217144" y="4623791"/>
            <a:ext cx="147994" cy="15629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217144" y="2662518"/>
            <a:ext cx="147994" cy="156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416314" y="3134164"/>
            <a:ext cx="138313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416314" y="3466114"/>
            <a:ext cx="138313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2416314" y="3798063"/>
            <a:ext cx="138313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/>
          <p:nvPr/>
        </p:nvSpPr>
        <p:spPr>
          <a:xfrm>
            <a:off x="2416314" y="4130015"/>
            <a:ext cx="138313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1" name="object 11"/>
          <p:cNvSpPr/>
          <p:nvPr/>
        </p:nvSpPr>
        <p:spPr>
          <a:xfrm>
            <a:off x="2416314" y="5012449"/>
            <a:ext cx="138313" cy="13692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/>
          <p:nvPr/>
        </p:nvSpPr>
        <p:spPr>
          <a:xfrm>
            <a:off x="2416314" y="5785616"/>
            <a:ext cx="138313" cy="141078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 txBox="1"/>
          <p:nvPr/>
        </p:nvSpPr>
        <p:spPr>
          <a:xfrm>
            <a:off x="2476585" y="1600276"/>
            <a:ext cx="7498271" cy="4642650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29392" marR="72617">
              <a:spcBef>
                <a:spcPts val="91"/>
              </a:spcBef>
            </a:pP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If software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failures are likely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to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occur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it is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critical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to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estimate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the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number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of 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failures and predict </a:t>
            </a:r>
            <a:r>
              <a:rPr sz="1634" b="1" spc="5" dirty="0">
                <a:solidFill>
                  <a:schemeClr val="bg1"/>
                </a:solidFill>
                <a:latin typeface="Arial"/>
                <a:cs typeface="Arial"/>
              </a:rPr>
              <a:t>when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each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is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likely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to</a:t>
            </a:r>
            <a:r>
              <a:rPr sz="1634" b="1" spc="-3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634" b="1" spc="-18" dirty="0">
                <a:solidFill>
                  <a:schemeClr val="bg1"/>
                </a:solidFill>
                <a:latin typeface="Arial"/>
                <a:cs typeface="Arial"/>
              </a:rPr>
              <a:t>occur.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  <a:p>
            <a:pPr marL="11527" marR="4611">
              <a:spcBef>
                <a:spcPts val="62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This will help concentrate on failures that have the greatest probability of occurring, provide  reliability improvement opportunities and improve customer</a:t>
            </a:r>
            <a:r>
              <a:rPr sz="1452" spc="45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satisfaction.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36"/>
              </a:spcBef>
            </a:pPr>
            <a:endParaRPr sz="1316" dirty="0">
              <a:latin typeface="Arial"/>
              <a:cs typeface="Arial"/>
            </a:endParaRPr>
          </a:p>
          <a:p>
            <a:pPr marL="29392"/>
            <a:r>
              <a:rPr sz="1634" b="1" spc="-5" dirty="0">
                <a:latin typeface="Arial"/>
                <a:cs typeface="Arial"/>
              </a:rPr>
              <a:t>Fault/failure forecasting requires:</a:t>
            </a:r>
            <a:endParaRPr sz="1634" dirty="0">
              <a:latin typeface="Arial"/>
              <a:cs typeface="Arial"/>
            </a:endParaRPr>
          </a:p>
          <a:p>
            <a:pPr marL="228225" marR="1350332">
              <a:lnSpc>
                <a:spcPct val="150000"/>
              </a:lnSpc>
              <a:spcBef>
                <a:spcPts val="912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Defining a fault/failure relationship –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failure occurs and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its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effect. 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Establishing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software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</a:t>
            </a:r>
            <a:r>
              <a:rPr sz="1452" spc="-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model.</a:t>
            </a:r>
            <a:endParaRPr sz="1452" dirty="0">
              <a:latin typeface="Arial"/>
              <a:cs typeface="Arial"/>
            </a:endParaRPr>
          </a:p>
          <a:p>
            <a:pPr marL="228225" marR="2633810">
              <a:lnSpc>
                <a:spcPct val="150000"/>
              </a:lnSpc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Developing procedures for measuring software 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reliability. 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Analyzing and evaluating the measurement</a:t>
            </a:r>
            <a:r>
              <a:rPr sz="1452" spc="36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results.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18"/>
              </a:spcBef>
            </a:pPr>
            <a:endParaRPr sz="1815" dirty="0">
              <a:latin typeface="Arial"/>
              <a:cs typeface="Arial"/>
            </a:endParaRPr>
          </a:p>
          <a:p>
            <a:pPr marL="29392"/>
            <a:r>
              <a:rPr sz="1634" b="1" spc="-5" dirty="0">
                <a:latin typeface="Arial"/>
                <a:cs typeface="Arial"/>
              </a:rPr>
              <a:t>Measuring </a:t>
            </a:r>
            <a:r>
              <a:rPr sz="1634" b="1" dirty="0">
                <a:latin typeface="Arial"/>
                <a:cs typeface="Arial"/>
              </a:rPr>
              <a:t>software </a:t>
            </a:r>
            <a:r>
              <a:rPr sz="1634" b="1" spc="-5" dirty="0">
                <a:latin typeface="Arial"/>
                <a:cs typeface="Arial"/>
              </a:rPr>
              <a:t>reliability</a:t>
            </a:r>
            <a:r>
              <a:rPr sz="1634" b="1" spc="-32" dirty="0">
                <a:latin typeface="Arial"/>
                <a:cs typeface="Arial"/>
              </a:rPr>
              <a:t> </a:t>
            </a:r>
            <a:r>
              <a:rPr sz="1634" b="1" spc="-9" dirty="0">
                <a:latin typeface="Arial"/>
                <a:cs typeface="Arial"/>
              </a:rPr>
              <a:t>provides:</a:t>
            </a:r>
            <a:endParaRPr sz="1634" dirty="0">
              <a:latin typeface="Arial"/>
              <a:cs typeface="Arial"/>
            </a:endParaRPr>
          </a:p>
          <a:p>
            <a:pPr marL="228225" marR="2531800" algn="just">
              <a:spcBef>
                <a:spcPts val="1153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Useful metrics that can be used to plan further testing and  debug efforts, to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calculate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warranty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costs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and plan further  software</a:t>
            </a:r>
            <a:r>
              <a:rPr sz="1452" spc="2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releases.</a:t>
            </a:r>
            <a:endParaRPr sz="1452" dirty="0">
              <a:latin typeface="Arial"/>
              <a:cs typeface="Arial"/>
            </a:endParaRPr>
          </a:p>
          <a:p>
            <a:pPr marL="228225" algn="just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Determines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when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testing can be</a:t>
            </a:r>
            <a:r>
              <a:rPr sz="1452" spc="45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terminated.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86121" y="332577"/>
            <a:ext cx="4309014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SRE </a:t>
            </a:r>
            <a:r>
              <a:rPr spc="-9" dirty="0"/>
              <a:t>Process</a:t>
            </a:r>
            <a:r>
              <a:rPr spc="-14" dirty="0"/>
              <a:t> </a:t>
            </a:r>
            <a:r>
              <a:rPr spc="-9" dirty="0"/>
              <a:t>Overview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83677" y="2368564"/>
            <a:ext cx="153123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3"/>
              </a:lnSpc>
            </a:pPr>
            <a:r>
              <a:rPr sz="1089" dirty="0">
                <a:latin typeface="Arial"/>
                <a:cs typeface="Arial"/>
              </a:rPr>
              <a:t>Perform </a:t>
            </a:r>
            <a:r>
              <a:rPr sz="1089" spc="-5" dirty="0">
                <a:latin typeface="Arial"/>
                <a:cs typeface="Arial"/>
              </a:rPr>
              <a:t>Code</a:t>
            </a:r>
            <a:r>
              <a:rPr sz="1089" spc="-82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Inspection</a:t>
            </a:r>
            <a:endParaRPr sz="1089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896259" y="1674966"/>
            <a:ext cx="1365261" cy="441447"/>
          </a:xfrm>
          <a:custGeom>
            <a:avLst/>
            <a:gdLst/>
            <a:ahLst/>
            <a:cxnLst/>
            <a:rect l="l" t="t" r="r" b="b"/>
            <a:pathLst>
              <a:path w="1504315" h="486410">
                <a:moveTo>
                  <a:pt x="1504188" y="486156"/>
                </a:moveTo>
                <a:lnTo>
                  <a:pt x="1504188" y="0"/>
                </a:lnTo>
                <a:lnTo>
                  <a:pt x="0" y="0"/>
                </a:lnTo>
                <a:lnTo>
                  <a:pt x="0" y="486156"/>
                </a:lnTo>
                <a:lnTo>
                  <a:pt x="4572" y="486156"/>
                </a:ln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lnTo>
                  <a:pt x="1495044" y="10668"/>
                </a:lnTo>
                <a:lnTo>
                  <a:pt x="1495044" y="6096"/>
                </a:lnTo>
                <a:lnTo>
                  <a:pt x="1499616" y="10668"/>
                </a:lnTo>
                <a:lnTo>
                  <a:pt x="1499616" y="486156"/>
                </a:lnTo>
                <a:lnTo>
                  <a:pt x="1504188" y="486156"/>
                </a:lnTo>
                <a:close/>
              </a:path>
              <a:path w="1504315" h="486410">
                <a:moveTo>
                  <a:pt x="9144" y="10668"/>
                </a:move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1504315" h="486410">
                <a:moveTo>
                  <a:pt x="9144" y="477012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77012"/>
                </a:lnTo>
                <a:lnTo>
                  <a:pt x="9144" y="477012"/>
                </a:lnTo>
                <a:close/>
              </a:path>
              <a:path w="1504315" h="486410">
                <a:moveTo>
                  <a:pt x="1499616" y="477012"/>
                </a:moveTo>
                <a:lnTo>
                  <a:pt x="4572" y="477012"/>
                </a:lnTo>
                <a:lnTo>
                  <a:pt x="9144" y="481584"/>
                </a:lnTo>
                <a:lnTo>
                  <a:pt x="9144" y="486156"/>
                </a:lnTo>
                <a:lnTo>
                  <a:pt x="1495044" y="486156"/>
                </a:lnTo>
                <a:lnTo>
                  <a:pt x="1495044" y="481584"/>
                </a:lnTo>
                <a:lnTo>
                  <a:pt x="1499616" y="477012"/>
                </a:lnTo>
                <a:close/>
              </a:path>
              <a:path w="1504315" h="486410">
                <a:moveTo>
                  <a:pt x="9144" y="486156"/>
                </a:moveTo>
                <a:lnTo>
                  <a:pt x="9144" y="481584"/>
                </a:lnTo>
                <a:lnTo>
                  <a:pt x="4572" y="477012"/>
                </a:lnTo>
                <a:lnTo>
                  <a:pt x="4572" y="486156"/>
                </a:lnTo>
                <a:lnTo>
                  <a:pt x="9144" y="486156"/>
                </a:lnTo>
                <a:close/>
              </a:path>
              <a:path w="1504315" h="486410">
                <a:moveTo>
                  <a:pt x="1499616" y="10668"/>
                </a:moveTo>
                <a:lnTo>
                  <a:pt x="1495044" y="6096"/>
                </a:lnTo>
                <a:lnTo>
                  <a:pt x="1495044" y="10668"/>
                </a:lnTo>
                <a:lnTo>
                  <a:pt x="1499616" y="10668"/>
                </a:lnTo>
                <a:close/>
              </a:path>
              <a:path w="1504315" h="486410">
                <a:moveTo>
                  <a:pt x="1499616" y="477012"/>
                </a:moveTo>
                <a:lnTo>
                  <a:pt x="1499616" y="10668"/>
                </a:lnTo>
                <a:lnTo>
                  <a:pt x="1495044" y="10668"/>
                </a:lnTo>
                <a:lnTo>
                  <a:pt x="1495044" y="477012"/>
                </a:lnTo>
                <a:lnTo>
                  <a:pt x="1499616" y="477012"/>
                </a:lnTo>
                <a:close/>
              </a:path>
              <a:path w="1504315" h="486410">
                <a:moveTo>
                  <a:pt x="1499616" y="486156"/>
                </a:moveTo>
                <a:lnTo>
                  <a:pt x="1499616" y="477012"/>
                </a:lnTo>
                <a:lnTo>
                  <a:pt x="1495044" y="481584"/>
                </a:lnTo>
                <a:lnTo>
                  <a:pt x="1495044" y="486156"/>
                </a:lnTo>
                <a:lnTo>
                  <a:pt x="1499616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 txBox="1"/>
          <p:nvPr/>
        </p:nvSpPr>
        <p:spPr>
          <a:xfrm>
            <a:off x="6928075" y="1748924"/>
            <a:ext cx="1266137" cy="32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3"/>
              </a:lnSpc>
            </a:pPr>
            <a:r>
              <a:rPr sz="1089" spc="-5" dirty="0">
                <a:latin typeface="Arial"/>
                <a:cs typeface="Arial"/>
              </a:rPr>
              <a:t>Determine</a:t>
            </a:r>
            <a:r>
              <a:rPr sz="1089" spc="-77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Reliability</a:t>
            </a:r>
            <a:endParaRPr sz="1089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89" spc="-5" dirty="0">
                <a:latin typeface="Arial"/>
                <a:cs typeface="Arial"/>
              </a:rPr>
              <a:t>Objective</a:t>
            </a:r>
            <a:endParaRPr sz="1089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8495151" y="1666667"/>
            <a:ext cx="1365261" cy="441447"/>
          </a:xfrm>
          <a:custGeom>
            <a:avLst/>
            <a:gdLst/>
            <a:ahLst/>
            <a:cxnLst/>
            <a:rect l="l" t="t" r="r" b="b"/>
            <a:pathLst>
              <a:path w="1504315" h="486410">
                <a:moveTo>
                  <a:pt x="1504188" y="486156"/>
                </a:moveTo>
                <a:lnTo>
                  <a:pt x="1504188" y="0"/>
                </a:lnTo>
                <a:lnTo>
                  <a:pt x="0" y="0"/>
                </a:lnTo>
                <a:lnTo>
                  <a:pt x="0" y="486156"/>
                </a:lnTo>
                <a:lnTo>
                  <a:pt x="4572" y="486156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1495044" y="9144"/>
                </a:lnTo>
                <a:lnTo>
                  <a:pt x="1495044" y="4572"/>
                </a:lnTo>
                <a:lnTo>
                  <a:pt x="1499616" y="9144"/>
                </a:lnTo>
                <a:lnTo>
                  <a:pt x="1499616" y="486156"/>
                </a:lnTo>
                <a:lnTo>
                  <a:pt x="1504188" y="486156"/>
                </a:lnTo>
                <a:close/>
              </a:path>
              <a:path w="1504315" h="48641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1504315" h="486410">
                <a:moveTo>
                  <a:pt x="9144" y="477012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77012"/>
                </a:lnTo>
                <a:lnTo>
                  <a:pt x="9144" y="477012"/>
                </a:lnTo>
                <a:close/>
              </a:path>
              <a:path w="1504315" h="486410">
                <a:moveTo>
                  <a:pt x="1499616" y="477012"/>
                </a:moveTo>
                <a:lnTo>
                  <a:pt x="4572" y="477012"/>
                </a:lnTo>
                <a:lnTo>
                  <a:pt x="9144" y="481584"/>
                </a:lnTo>
                <a:lnTo>
                  <a:pt x="9144" y="486156"/>
                </a:lnTo>
                <a:lnTo>
                  <a:pt x="1495044" y="486156"/>
                </a:lnTo>
                <a:lnTo>
                  <a:pt x="1495044" y="481584"/>
                </a:lnTo>
                <a:lnTo>
                  <a:pt x="1499616" y="477012"/>
                </a:lnTo>
                <a:close/>
              </a:path>
              <a:path w="1504315" h="486410">
                <a:moveTo>
                  <a:pt x="9144" y="486156"/>
                </a:moveTo>
                <a:lnTo>
                  <a:pt x="9144" y="481584"/>
                </a:lnTo>
                <a:lnTo>
                  <a:pt x="4572" y="477012"/>
                </a:lnTo>
                <a:lnTo>
                  <a:pt x="4572" y="486156"/>
                </a:lnTo>
                <a:lnTo>
                  <a:pt x="9144" y="486156"/>
                </a:lnTo>
                <a:close/>
              </a:path>
              <a:path w="1504315" h="486410">
                <a:moveTo>
                  <a:pt x="1499616" y="9144"/>
                </a:moveTo>
                <a:lnTo>
                  <a:pt x="1495044" y="4572"/>
                </a:lnTo>
                <a:lnTo>
                  <a:pt x="1495044" y="9144"/>
                </a:lnTo>
                <a:lnTo>
                  <a:pt x="1499616" y="9144"/>
                </a:lnTo>
                <a:close/>
              </a:path>
              <a:path w="1504315" h="486410">
                <a:moveTo>
                  <a:pt x="1499616" y="477012"/>
                </a:moveTo>
                <a:lnTo>
                  <a:pt x="1499616" y="9144"/>
                </a:lnTo>
                <a:lnTo>
                  <a:pt x="1495044" y="9144"/>
                </a:lnTo>
                <a:lnTo>
                  <a:pt x="1495044" y="477012"/>
                </a:lnTo>
                <a:lnTo>
                  <a:pt x="1499616" y="477012"/>
                </a:lnTo>
                <a:close/>
              </a:path>
              <a:path w="1504315" h="486410">
                <a:moveTo>
                  <a:pt x="1499616" y="486156"/>
                </a:moveTo>
                <a:lnTo>
                  <a:pt x="1499616" y="477012"/>
                </a:lnTo>
                <a:lnTo>
                  <a:pt x="1495044" y="481584"/>
                </a:lnTo>
                <a:lnTo>
                  <a:pt x="1495044" y="486156"/>
                </a:lnTo>
                <a:lnTo>
                  <a:pt x="1499616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 txBox="1"/>
          <p:nvPr/>
        </p:nvSpPr>
        <p:spPr>
          <a:xfrm>
            <a:off x="8583676" y="1739242"/>
            <a:ext cx="1153181" cy="32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3"/>
              </a:lnSpc>
            </a:pPr>
            <a:r>
              <a:rPr sz="1089" dirty="0">
                <a:latin typeface="Arial"/>
                <a:cs typeface="Arial"/>
              </a:rPr>
              <a:t>Define</a:t>
            </a:r>
            <a:r>
              <a:rPr sz="1089" spc="-86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Operational</a:t>
            </a:r>
            <a:endParaRPr sz="1089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089" spc="-5" dirty="0">
                <a:latin typeface="Arial"/>
                <a:cs typeface="Arial"/>
              </a:rPr>
              <a:t>Profile</a:t>
            </a:r>
            <a:endParaRPr sz="1089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484087" y="2738590"/>
            <a:ext cx="1780198" cy="239742"/>
          </a:xfrm>
          <a:custGeom>
            <a:avLst/>
            <a:gdLst/>
            <a:ahLst/>
            <a:cxnLst/>
            <a:rect l="l" t="t" r="r" b="b"/>
            <a:pathLst>
              <a:path w="1961515" h="264160">
                <a:moveTo>
                  <a:pt x="1961388" y="263652"/>
                </a:moveTo>
                <a:lnTo>
                  <a:pt x="1961388" y="0"/>
                </a:lnTo>
                <a:lnTo>
                  <a:pt x="0" y="0"/>
                </a:lnTo>
                <a:lnTo>
                  <a:pt x="0" y="263652"/>
                </a:lnTo>
                <a:lnTo>
                  <a:pt x="4572" y="26365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1952244" y="9144"/>
                </a:lnTo>
                <a:lnTo>
                  <a:pt x="1952244" y="4572"/>
                </a:lnTo>
                <a:lnTo>
                  <a:pt x="1956816" y="9144"/>
                </a:lnTo>
                <a:lnTo>
                  <a:pt x="1956816" y="263652"/>
                </a:lnTo>
                <a:lnTo>
                  <a:pt x="1961388" y="263652"/>
                </a:lnTo>
                <a:close/>
              </a:path>
              <a:path w="1961515" h="26416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1961515" h="264160">
                <a:moveTo>
                  <a:pt x="9144" y="25450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254508"/>
                </a:lnTo>
                <a:lnTo>
                  <a:pt x="9144" y="254508"/>
                </a:lnTo>
                <a:close/>
              </a:path>
              <a:path w="1961515" h="264160">
                <a:moveTo>
                  <a:pt x="1956816" y="254508"/>
                </a:moveTo>
                <a:lnTo>
                  <a:pt x="4572" y="254508"/>
                </a:lnTo>
                <a:lnTo>
                  <a:pt x="9144" y="259080"/>
                </a:lnTo>
                <a:lnTo>
                  <a:pt x="9144" y="263652"/>
                </a:lnTo>
                <a:lnTo>
                  <a:pt x="1952244" y="263652"/>
                </a:lnTo>
                <a:lnTo>
                  <a:pt x="1952244" y="259080"/>
                </a:lnTo>
                <a:lnTo>
                  <a:pt x="1956816" y="254508"/>
                </a:lnTo>
                <a:close/>
              </a:path>
              <a:path w="1961515" h="264160">
                <a:moveTo>
                  <a:pt x="9144" y="263652"/>
                </a:moveTo>
                <a:lnTo>
                  <a:pt x="9144" y="259080"/>
                </a:lnTo>
                <a:lnTo>
                  <a:pt x="4572" y="254508"/>
                </a:lnTo>
                <a:lnTo>
                  <a:pt x="4572" y="263652"/>
                </a:lnTo>
                <a:lnTo>
                  <a:pt x="9144" y="263652"/>
                </a:lnTo>
                <a:close/>
              </a:path>
              <a:path w="1961515" h="264160">
                <a:moveTo>
                  <a:pt x="1956816" y="9144"/>
                </a:moveTo>
                <a:lnTo>
                  <a:pt x="1952244" y="4572"/>
                </a:lnTo>
                <a:lnTo>
                  <a:pt x="1952244" y="9144"/>
                </a:lnTo>
                <a:lnTo>
                  <a:pt x="1956816" y="9144"/>
                </a:lnTo>
                <a:close/>
              </a:path>
              <a:path w="1961515" h="264160">
                <a:moveTo>
                  <a:pt x="1956816" y="254508"/>
                </a:moveTo>
                <a:lnTo>
                  <a:pt x="1956816" y="9144"/>
                </a:lnTo>
                <a:lnTo>
                  <a:pt x="1952244" y="9144"/>
                </a:lnTo>
                <a:lnTo>
                  <a:pt x="1952244" y="254508"/>
                </a:lnTo>
                <a:lnTo>
                  <a:pt x="1956816" y="254508"/>
                </a:lnTo>
                <a:close/>
              </a:path>
              <a:path w="1961515" h="264160">
                <a:moveTo>
                  <a:pt x="1956816" y="263652"/>
                </a:moveTo>
                <a:lnTo>
                  <a:pt x="1956816" y="254508"/>
                </a:lnTo>
                <a:lnTo>
                  <a:pt x="1952244" y="259080"/>
                </a:lnTo>
                <a:lnTo>
                  <a:pt x="1952244" y="263652"/>
                </a:lnTo>
                <a:lnTo>
                  <a:pt x="1956816" y="2636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 txBox="1"/>
          <p:nvPr/>
        </p:nvSpPr>
        <p:spPr>
          <a:xfrm>
            <a:off x="7601657" y="2797333"/>
            <a:ext cx="1551406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3"/>
              </a:lnSpc>
            </a:pPr>
            <a:r>
              <a:rPr sz="1089" dirty="0">
                <a:latin typeface="Arial"/>
                <a:cs typeface="Arial"/>
              </a:rPr>
              <a:t>Perform </a:t>
            </a:r>
            <a:r>
              <a:rPr sz="1089" spc="-5" dirty="0">
                <a:latin typeface="Arial"/>
                <a:cs typeface="Arial"/>
              </a:rPr>
              <a:t>Software</a:t>
            </a:r>
            <a:r>
              <a:rPr sz="1089" spc="-118" dirty="0">
                <a:latin typeface="Arial"/>
                <a:cs typeface="Arial"/>
              </a:rPr>
              <a:t> </a:t>
            </a:r>
            <a:r>
              <a:rPr sz="1089" spc="-18" dirty="0">
                <a:latin typeface="Arial"/>
                <a:cs typeface="Arial"/>
              </a:rPr>
              <a:t>Testing</a:t>
            </a:r>
            <a:endParaRPr sz="1089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758872" y="3208390"/>
            <a:ext cx="1236169" cy="17924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089" spc="-5" dirty="0">
                <a:latin typeface="Arial"/>
                <a:cs typeface="Arial"/>
              </a:rPr>
              <a:t>Collect Failure</a:t>
            </a:r>
            <a:r>
              <a:rPr sz="1089" spc="-59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Data</a:t>
            </a:r>
            <a:endParaRPr sz="1089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484087" y="3608576"/>
            <a:ext cx="1780198" cy="406869"/>
          </a:xfrm>
          <a:custGeom>
            <a:avLst/>
            <a:gdLst/>
            <a:ahLst/>
            <a:cxnLst/>
            <a:rect l="l" t="t" r="r" b="b"/>
            <a:pathLst>
              <a:path w="1961515" h="448310">
                <a:moveTo>
                  <a:pt x="1961388" y="448056"/>
                </a:moveTo>
                <a:lnTo>
                  <a:pt x="1961388" y="0"/>
                </a:lnTo>
                <a:lnTo>
                  <a:pt x="0" y="0"/>
                </a:lnTo>
                <a:lnTo>
                  <a:pt x="0" y="448056"/>
                </a:lnTo>
                <a:lnTo>
                  <a:pt x="4572" y="448056"/>
                </a:lnTo>
                <a:lnTo>
                  <a:pt x="4572" y="10668"/>
                </a:lnTo>
                <a:lnTo>
                  <a:pt x="9144" y="6096"/>
                </a:lnTo>
                <a:lnTo>
                  <a:pt x="9144" y="10668"/>
                </a:lnTo>
                <a:lnTo>
                  <a:pt x="1952244" y="10668"/>
                </a:lnTo>
                <a:lnTo>
                  <a:pt x="1952244" y="6096"/>
                </a:lnTo>
                <a:lnTo>
                  <a:pt x="1956816" y="10668"/>
                </a:lnTo>
                <a:lnTo>
                  <a:pt x="1956816" y="448056"/>
                </a:lnTo>
                <a:lnTo>
                  <a:pt x="1961388" y="448056"/>
                </a:lnTo>
                <a:close/>
              </a:path>
              <a:path w="1961515" h="448310">
                <a:moveTo>
                  <a:pt x="9144" y="10668"/>
                </a:moveTo>
                <a:lnTo>
                  <a:pt x="9144" y="6096"/>
                </a:lnTo>
                <a:lnTo>
                  <a:pt x="4572" y="10668"/>
                </a:lnTo>
                <a:lnTo>
                  <a:pt x="9144" y="10668"/>
                </a:lnTo>
                <a:close/>
              </a:path>
              <a:path w="1961515" h="448310">
                <a:moveTo>
                  <a:pt x="9144" y="438912"/>
                </a:moveTo>
                <a:lnTo>
                  <a:pt x="9144" y="10668"/>
                </a:lnTo>
                <a:lnTo>
                  <a:pt x="4572" y="10668"/>
                </a:lnTo>
                <a:lnTo>
                  <a:pt x="4572" y="438912"/>
                </a:lnTo>
                <a:lnTo>
                  <a:pt x="9144" y="438912"/>
                </a:lnTo>
                <a:close/>
              </a:path>
              <a:path w="1961515" h="448310">
                <a:moveTo>
                  <a:pt x="1956816" y="438912"/>
                </a:moveTo>
                <a:lnTo>
                  <a:pt x="4572" y="438912"/>
                </a:lnTo>
                <a:lnTo>
                  <a:pt x="9144" y="443484"/>
                </a:lnTo>
                <a:lnTo>
                  <a:pt x="9144" y="448056"/>
                </a:lnTo>
                <a:lnTo>
                  <a:pt x="1952244" y="448056"/>
                </a:lnTo>
                <a:lnTo>
                  <a:pt x="1952244" y="443484"/>
                </a:lnTo>
                <a:lnTo>
                  <a:pt x="1956816" y="438912"/>
                </a:lnTo>
                <a:close/>
              </a:path>
              <a:path w="1961515" h="448310">
                <a:moveTo>
                  <a:pt x="9144" y="448056"/>
                </a:moveTo>
                <a:lnTo>
                  <a:pt x="9144" y="443484"/>
                </a:lnTo>
                <a:lnTo>
                  <a:pt x="4572" y="438912"/>
                </a:lnTo>
                <a:lnTo>
                  <a:pt x="4572" y="448056"/>
                </a:lnTo>
                <a:lnTo>
                  <a:pt x="9144" y="448056"/>
                </a:lnTo>
                <a:close/>
              </a:path>
              <a:path w="1961515" h="448310">
                <a:moveTo>
                  <a:pt x="1956816" y="10668"/>
                </a:moveTo>
                <a:lnTo>
                  <a:pt x="1952244" y="6096"/>
                </a:lnTo>
                <a:lnTo>
                  <a:pt x="1952244" y="10668"/>
                </a:lnTo>
                <a:lnTo>
                  <a:pt x="1956816" y="10668"/>
                </a:lnTo>
                <a:close/>
              </a:path>
              <a:path w="1961515" h="448310">
                <a:moveTo>
                  <a:pt x="1956816" y="438912"/>
                </a:moveTo>
                <a:lnTo>
                  <a:pt x="1956816" y="10668"/>
                </a:lnTo>
                <a:lnTo>
                  <a:pt x="1952244" y="10668"/>
                </a:lnTo>
                <a:lnTo>
                  <a:pt x="1952244" y="438912"/>
                </a:lnTo>
                <a:lnTo>
                  <a:pt x="1956816" y="438912"/>
                </a:lnTo>
                <a:close/>
              </a:path>
              <a:path w="1961515" h="448310">
                <a:moveTo>
                  <a:pt x="1956816" y="448056"/>
                </a:moveTo>
                <a:lnTo>
                  <a:pt x="1956816" y="438912"/>
                </a:lnTo>
                <a:lnTo>
                  <a:pt x="1952244" y="443484"/>
                </a:lnTo>
                <a:lnTo>
                  <a:pt x="1952244" y="448056"/>
                </a:lnTo>
                <a:lnTo>
                  <a:pt x="1956816" y="4480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 txBox="1"/>
          <p:nvPr/>
        </p:nvSpPr>
        <p:spPr>
          <a:xfrm>
            <a:off x="7520052" y="3672851"/>
            <a:ext cx="1712195" cy="32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3"/>
              </a:lnSpc>
            </a:pPr>
            <a:r>
              <a:rPr sz="1089" spc="-5" dirty="0">
                <a:latin typeface="Arial"/>
                <a:cs typeface="Arial"/>
              </a:rPr>
              <a:t>Select Appropriate</a:t>
            </a:r>
            <a:r>
              <a:rPr sz="1089" spc="-123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Software</a:t>
            </a:r>
            <a:endParaRPr sz="1089">
              <a:latin typeface="Arial"/>
              <a:cs typeface="Arial"/>
            </a:endParaRPr>
          </a:p>
          <a:p>
            <a:pPr marL="1729" algn="ctr"/>
            <a:r>
              <a:rPr sz="1089" spc="-5" dirty="0">
                <a:latin typeface="Arial"/>
                <a:cs typeface="Arial"/>
              </a:rPr>
              <a:t>Model</a:t>
            </a:r>
            <a:endParaRPr sz="1089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258637" y="4219918"/>
            <a:ext cx="2231443" cy="412632"/>
          </a:xfrm>
          <a:custGeom>
            <a:avLst/>
            <a:gdLst/>
            <a:ahLst/>
            <a:cxnLst/>
            <a:rect l="l" t="t" r="r" b="b"/>
            <a:pathLst>
              <a:path w="2458720" h="454660">
                <a:moveTo>
                  <a:pt x="2458212" y="454152"/>
                </a:moveTo>
                <a:lnTo>
                  <a:pt x="2458212" y="0"/>
                </a:lnTo>
                <a:lnTo>
                  <a:pt x="0" y="0"/>
                </a:lnTo>
                <a:lnTo>
                  <a:pt x="0" y="454152"/>
                </a:lnTo>
                <a:lnTo>
                  <a:pt x="4572" y="454152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2447544" y="9144"/>
                </a:lnTo>
                <a:lnTo>
                  <a:pt x="2447544" y="4572"/>
                </a:lnTo>
                <a:lnTo>
                  <a:pt x="2452116" y="9144"/>
                </a:lnTo>
                <a:lnTo>
                  <a:pt x="2452116" y="454152"/>
                </a:lnTo>
                <a:lnTo>
                  <a:pt x="2458212" y="454152"/>
                </a:lnTo>
                <a:close/>
              </a:path>
              <a:path w="2458720" h="45466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2458720" h="454660">
                <a:moveTo>
                  <a:pt x="9144" y="445008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45008"/>
                </a:lnTo>
                <a:lnTo>
                  <a:pt x="9144" y="445008"/>
                </a:lnTo>
                <a:close/>
              </a:path>
              <a:path w="2458720" h="454660">
                <a:moveTo>
                  <a:pt x="2452116" y="445008"/>
                </a:moveTo>
                <a:lnTo>
                  <a:pt x="4572" y="445008"/>
                </a:lnTo>
                <a:lnTo>
                  <a:pt x="9144" y="449580"/>
                </a:lnTo>
                <a:lnTo>
                  <a:pt x="9144" y="454152"/>
                </a:lnTo>
                <a:lnTo>
                  <a:pt x="2447544" y="454152"/>
                </a:lnTo>
                <a:lnTo>
                  <a:pt x="2447544" y="449580"/>
                </a:lnTo>
                <a:lnTo>
                  <a:pt x="2452116" y="445008"/>
                </a:lnTo>
                <a:close/>
              </a:path>
              <a:path w="2458720" h="454660">
                <a:moveTo>
                  <a:pt x="9144" y="454152"/>
                </a:moveTo>
                <a:lnTo>
                  <a:pt x="9144" y="449580"/>
                </a:lnTo>
                <a:lnTo>
                  <a:pt x="4572" y="445008"/>
                </a:lnTo>
                <a:lnTo>
                  <a:pt x="4572" y="454152"/>
                </a:lnTo>
                <a:lnTo>
                  <a:pt x="9144" y="454152"/>
                </a:lnTo>
                <a:close/>
              </a:path>
              <a:path w="2458720" h="454660">
                <a:moveTo>
                  <a:pt x="2452116" y="9144"/>
                </a:moveTo>
                <a:lnTo>
                  <a:pt x="2447544" y="4572"/>
                </a:lnTo>
                <a:lnTo>
                  <a:pt x="2447544" y="9144"/>
                </a:lnTo>
                <a:lnTo>
                  <a:pt x="2452116" y="9144"/>
                </a:lnTo>
                <a:close/>
              </a:path>
              <a:path w="2458720" h="454660">
                <a:moveTo>
                  <a:pt x="2452116" y="445008"/>
                </a:moveTo>
                <a:lnTo>
                  <a:pt x="2452116" y="9144"/>
                </a:lnTo>
                <a:lnTo>
                  <a:pt x="2447544" y="9144"/>
                </a:lnTo>
                <a:lnTo>
                  <a:pt x="2447544" y="445008"/>
                </a:lnTo>
                <a:lnTo>
                  <a:pt x="2452116" y="445008"/>
                </a:lnTo>
                <a:close/>
              </a:path>
              <a:path w="2458720" h="454660">
                <a:moveTo>
                  <a:pt x="2452116" y="454152"/>
                </a:moveTo>
                <a:lnTo>
                  <a:pt x="2452116" y="445008"/>
                </a:lnTo>
                <a:lnTo>
                  <a:pt x="2447544" y="449580"/>
                </a:lnTo>
                <a:lnTo>
                  <a:pt x="2447544" y="454152"/>
                </a:lnTo>
                <a:lnTo>
                  <a:pt x="2452116" y="45415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4" name="object 14"/>
          <p:cNvSpPr txBox="1"/>
          <p:nvPr/>
        </p:nvSpPr>
        <p:spPr>
          <a:xfrm>
            <a:off x="7376208" y="4318771"/>
            <a:ext cx="2010719" cy="3214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1203"/>
              </a:lnSpc>
            </a:pPr>
            <a:r>
              <a:rPr sz="1089" spc="-5" dirty="0">
                <a:latin typeface="Arial"/>
                <a:cs typeface="Arial"/>
              </a:rPr>
              <a:t>Use software Reliability</a:t>
            </a:r>
            <a:r>
              <a:rPr sz="1089" spc="-45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Model(s)</a:t>
            </a:r>
            <a:endParaRPr sz="1089">
              <a:latin typeface="Arial"/>
              <a:cs typeface="Arial"/>
            </a:endParaRPr>
          </a:p>
          <a:p>
            <a:pPr marL="576" algn="ctr"/>
            <a:r>
              <a:rPr sz="1089" dirty="0">
                <a:latin typeface="Arial"/>
                <a:cs typeface="Arial"/>
              </a:rPr>
              <a:t>to </a:t>
            </a:r>
            <a:r>
              <a:rPr sz="1089" spc="-5" dirty="0">
                <a:latin typeface="Arial"/>
                <a:cs typeface="Arial"/>
              </a:rPr>
              <a:t>Calculate Current</a:t>
            </a:r>
            <a:r>
              <a:rPr sz="1089" spc="-59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Reliability</a:t>
            </a:r>
            <a:endParaRPr sz="1089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141072" y="3147994"/>
            <a:ext cx="760719" cy="441447"/>
          </a:xfrm>
          <a:custGeom>
            <a:avLst/>
            <a:gdLst/>
            <a:ahLst/>
            <a:cxnLst/>
            <a:rect l="l" t="t" r="r" b="b"/>
            <a:pathLst>
              <a:path w="838200" h="486410">
                <a:moveTo>
                  <a:pt x="838200" y="486156"/>
                </a:moveTo>
                <a:lnTo>
                  <a:pt x="838200" y="0"/>
                </a:lnTo>
                <a:lnTo>
                  <a:pt x="0" y="0"/>
                </a:lnTo>
                <a:lnTo>
                  <a:pt x="0" y="486156"/>
                </a:lnTo>
                <a:lnTo>
                  <a:pt x="4572" y="486156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829056" y="9144"/>
                </a:lnTo>
                <a:lnTo>
                  <a:pt x="829056" y="4572"/>
                </a:lnTo>
                <a:lnTo>
                  <a:pt x="833628" y="9144"/>
                </a:lnTo>
                <a:lnTo>
                  <a:pt x="833628" y="486156"/>
                </a:lnTo>
                <a:lnTo>
                  <a:pt x="838200" y="486156"/>
                </a:lnTo>
                <a:close/>
              </a:path>
              <a:path w="838200" h="486410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838200" h="486410">
                <a:moveTo>
                  <a:pt x="9144" y="477012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77012"/>
                </a:lnTo>
                <a:lnTo>
                  <a:pt x="9144" y="477012"/>
                </a:lnTo>
                <a:close/>
              </a:path>
              <a:path w="838200" h="486410">
                <a:moveTo>
                  <a:pt x="833628" y="477012"/>
                </a:moveTo>
                <a:lnTo>
                  <a:pt x="4572" y="477012"/>
                </a:lnTo>
                <a:lnTo>
                  <a:pt x="9144" y="481584"/>
                </a:lnTo>
                <a:lnTo>
                  <a:pt x="9144" y="486156"/>
                </a:lnTo>
                <a:lnTo>
                  <a:pt x="829056" y="486156"/>
                </a:lnTo>
                <a:lnTo>
                  <a:pt x="829056" y="481584"/>
                </a:lnTo>
                <a:lnTo>
                  <a:pt x="833628" y="477012"/>
                </a:lnTo>
                <a:close/>
              </a:path>
              <a:path w="838200" h="486410">
                <a:moveTo>
                  <a:pt x="9144" y="486156"/>
                </a:moveTo>
                <a:lnTo>
                  <a:pt x="9144" y="481584"/>
                </a:lnTo>
                <a:lnTo>
                  <a:pt x="4572" y="477012"/>
                </a:lnTo>
                <a:lnTo>
                  <a:pt x="4572" y="486156"/>
                </a:lnTo>
                <a:lnTo>
                  <a:pt x="9144" y="486156"/>
                </a:lnTo>
                <a:close/>
              </a:path>
              <a:path w="838200" h="486410">
                <a:moveTo>
                  <a:pt x="833628" y="9144"/>
                </a:moveTo>
                <a:lnTo>
                  <a:pt x="829056" y="4572"/>
                </a:lnTo>
                <a:lnTo>
                  <a:pt x="829056" y="9144"/>
                </a:lnTo>
                <a:lnTo>
                  <a:pt x="833628" y="9144"/>
                </a:lnTo>
                <a:close/>
              </a:path>
              <a:path w="838200" h="486410">
                <a:moveTo>
                  <a:pt x="833628" y="477012"/>
                </a:moveTo>
                <a:lnTo>
                  <a:pt x="833628" y="9144"/>
                </a:lnTo>
                <a:lnTo>
                  <a:pt x="829056" y="9144"/>
                </a:lnTo>
                <a:lnTo>
                  <a:pt x="829056" y="477012"/>
                </a:lnTo>
                <a:lnTo>
                  <a:pt x="833628" y="477012"/>
                </a:lnTo>
                <a:close/>
              </a:path>
              <a:path w="838200" h="486410">
                <a:moveTo>
                  <a:pt x="833628" y="486156"/>
                </a:moveTo>
                <a:lnTo>
                  <a:pt x="833628" y="477012"/>
                </a:lnTo>
                <a:lnTo>
                  <a:pt x="829056" y="481584"/>
                </a:lnTo>
                <a:lnTo>
                  <a:pt x="829056" y="486156"/>
                </a:lnTo>
                <a:lnTo>
                  <a:pt x="833628" y="4861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6" name="object 16"/>
          <p:cNvSpPr txBox="1"/>
          <p:nvPr/>
        </p:nvSpPr>
        <p:spPr>
          <a:xfrm>
            <a:off x="6240200" y="3205623"/>
            <a:ext cx="579184" cy="34685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68006" marR="4611" indent="-57056">
              <a:spcBef>
                <a:spcPts val="91"/>
              </a:spcBef>
            </a:pPr>
            <a:r>
              <a:rPr sz="1089" spc="-5" dirty="0">
                <a:latin typeface="Arial"/>
                <a:cs typeface="Arial"/>
              </a:rPr>
              <a:t>C</a:t>
            </a:r>
            <a:r>
              <a:rPr sz="1089" dirty="0">
                <a:latin typeface="Arial"/>
                <a:cs typeface="Arial"/>
              </a:rPr>
              <a:t>ont</a:t>
            </a:r>
            <a:r>
              <a:rPr sz="1089" spc="-5" dirty="0">
                <a:latin typeface="Arial"/>
                <a:cs typeface="Arial"/>
              </a:rPr>
              <a:t>i</a:t>
            </a:r>
            <a:r>
              <a:rPr sz="1089" dirty="0">
                <a:latin typeface="Arial"/>
                <a:cs typeface="Arial"/>
              </a:rPr>
              <a:t>nue  </a:t>
            </a:r>
            <a:r>
              <a:rPr sz="1089" spc="-18" dirty="0">
                <a:latin typeface="Arial"/>
                <a:cs typeface="Arial"/>
              </a:rPr>
              <a:t>Testing</a:t>
            </a:r>
            <a:endParaRPr sz="1089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959883" y="4210235"/>
            <a:ext cx="1115145" cy="1113416"/>
          </a:xfrm>
          <a:custGeom>
            <a:avLst/>
            <a:gdLst/>
            <a:ahLst/>
            <a:cxnLst/>
            <a:rect l="l" t="t" r="r" b="b"/>
            <a:pathLst>
              <a:path w="1228725" h="1226820">
                <a:moveTo>
                  <a:pt x="1228344" y="612648"/>
                </a:moveTo>
                <a:lnTo>
                  <a:pt x="614172" y="0"/>
                </a:lnTo>
                <a:lnTo>
                  <a:pt x="0" y="612648"/>
                </a:lnTo>
                <a:lnTo>
                  <a:pt x="10668" y="623316"/>
                </a:lnTo>
                <a:lnTo>
                  <a:pt x="10668" y="609600"/>
                </a:lnTo>
                <a:lnTo>
                  <a:pt x="14468" y="613410"/>
                </a:lnTo>
                <a:lnTo>
                  <a:pt x="611124" y="15255"/>
                </a:lnTo>
                <a:lnTo>
                  <a:pt x="611124" y="9144"/>
                </a:lnTo>
                <a:lnTo>
                  <a:pt x="617220" y="9144"/>
                </a:lnTo>
                <a:lnTo>
                  <a:pt x="617220" y="15255"/>
                </a:lnTo>
                <a:lnTo>
                  <a:pt x="1213875" y="613410"/>
                </a:lnTo>
                <a:lnTo>
                  <a:pt x="1217676" y="609600"/>
                </a:lnTo>
                <a:lnTo>
                  <a:pt x="1217676" y="623316"/>
                </a:lnTo>
                <a:lnTo>
                  <a:pt x="1228344" y="612648"/>
                </a:lnTo>
                <a:close/>
              </a:path>
              <a:path w="1228725" h="1226820">
                <a:moveTo>
                  <a:pt x="14468" y="613410"/>
                </a:moveTo>
                <a:lnTo>
                  <a:pt x="10668" y="609600"/>
                </a:lnTo>
                <a:lnTo>
                  <a:pt x="10668" y="617220"/>
                </a:lnTo>
                <a:lnTo>
                  <a:pt x="14468" y="613410"/>
                </a:lnTo>
                <a:close/>
              </a:path>
              <a:path w="1228725" h="1226820">
                <a:moveTo>
                  <a:pt x="614172" y="1214620"/>
                </a:moveTo>
                <a:lnTo>
                  <a:pt x="14468" y="613410"/>
                </a:lnTo>
                <a:lnTo>
                  <a:pt x="10668" y="617220"/>
                </a:lnTo>
                <a:lnTo>
                  <a:pt x="10668" y="623316"/>
                </a:lnTo>
                <a:lnTo>
                  <a:pt x="611124" y="1223772"/>
                </a:lnTo>
                <a:lnTo>
                  <a:pt x="611124" y="1217676"/>
                </a:lnTo>
                <a:lnTo>
                  <a:pt x="614172" y="1214620"/>
                </a:lnTo>
                <a:close/>
              </a:path>
              <a:path w="1228725" h="1226820">
                <a:moveTo>
                  <a:pt x="617220" y="9144"/>
                </a:moveTo>
                <a:lnTo>
                  <a:pt x="611124" y="9144"/>
                </a:lnTo>
                <a:lnTo>
                  <a:pt x="614172" y="12199"/>
                </a:lnTo>
                <a:lnTo>
                  <a:pt x="617220" y="9144"/>
                </a:lnTo>
                <a:close/>
              </a:path>
              <a:path w="1228725" h="1226820">
                <a:moveTo>
                  <a:pt x="614172" y="12199"/>
                </a:moveTo>
                <a:lnTo>
                  <a:pt x="611124" y="9144"/>
                </a:lnTo>
                <a:lnTo>
                  <a:pt x="611124" y="15255"/>
                </a:lnTo>
                <a:lnTo>
                  <a:pt x="614172" y="12199"/>
                </a:lnTo>
                <a:close/>
              </a:path>
              <a:path w="1228725" h="1226820">
                <a:moveTo>
                  <a:pt x="617220" y="1217676"/>
                </a:moveTo>
                <a:lnTo>
                  <a:pt x="614172" y="1214620"/>
                </a:lnTo>
                <a:lnTo>
                  <a:pt x="611124" y="1217676"/>
                </a:lnTo>
                <a:lnTo>
                  <a:pt x="617220" y="1217676"/>
                </a:lnTo>
                <a:close/>
              </a:path>
              <a:path w="1228725" h="1226820">
                <a:moveTo>
                  <a:pt x="617220" y="1223772"/>
                </a:moveTo>
                <a:lnTo>
                  <a:pt x="617220" y="1217676"/>
                </a:lnTo>
                <a:lnTo>
                  <a:pt x="611124" y="1217676"/>
                </a:lnTo>
                <a:lnTo>
                  <a:pt x="611124" y="1223772"/>
                </a:lnTo>
                <a:lnTo>
                  <a:pt x="614172" y="1226820"/>
                </a:lnTo>
                <a:lnTo>
                  <a:pt x="617220" y="1223772"/>
                </a:lnTo>
                <a:close/>
              </a:path>
              <a:path w="1228725" h="1226820">
                <a:moveTo>
                  <a:pt x="617220" y="15255"/>
                </a:moveTo>
                <a:lnTo>
                  <a:pt x="617220" y="9144"/>
                </a:lnTo>
                <a:lnTo>
                  <a:pt x="614172" y="12199"/>
                </a:lnTo>
                <a:lnTo>
                  <a:pt x="617220" y="15255"/>
                </a:lnTo>
                <a:close/>
              </a:path>
              <a:path w="1228725" h="1226820">
                <a:moveTo>
                  <a:pt x="1217676" y="623316"/>
                </a:moveTo>
                <a:lnTo>
                  <a:pt x="1217676" y="617220"/>
                </a:lnTo>
                <a:lnTo>
                  <a:pt x="1213875" y="613410"/>
                </a:lnTo>
                <a:lnTo>
                  <a:pt x="614172" y="1214620"/>
                </a:lnTo>
                <a:lnTo>
                  <a:pt x="617220" y="1217676"/>
                </a:lnTo>
                <a:lnTo>
                  <a:pt x="617220" y="1223772"/>
                </a:lnTo>
                <a:lnTo>
                  <a:pt x="1217676" y="623316"/>
                </a:lnTo>
                <a:close/>
              </a:path>
              <a:path w="1228725" h="1226820">
                <a:moveTo>
                  <a:pt x="1217676" y="617220"/>
                </a:moveTo>
                <a:lnTo>
                  <a:pt x="1217676" y="609600"/>
                </a:lnTo>
                <a:lnTo>
                  <a:pt x="1213875" y="613410"/>
                </a:lnTo>
                <a:lnTo>
                  <a:pt x="1217676" y="6172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8" name="object 18"/>
          <p:cNvSpPr txBox="1"/>
          <p:nvPr/>
        </p:nvSpPr>
        <p:spPr>
          <a:xfrm>
            <a:off x="6183492" y="4536190"/>
            <a:ext cx="669087" cy="51446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 indent="1153" algn="ctr">
              <a:spcBef>
                <a:spcPts val="91"/>
              </a:spcBef>
            </a:pPr>
            <a:r>
              <a:rPr sz="1089" spc="-5" dirty="0">
                <a:latin typeface="Arial"/>
                <a:cs typeface="Arial"/>
              </a:rPr>
              <a:t>Reliability  </a:t>
            </a:r>
            <a:r>
              <a:rPr sz="1089" dirty="0">
                <a:latin typeface="Arial"/>
                <a:cs typeface="Arial"/>
              </a:rPr>
              <a:t>Ob</a:t>
            </a:r>
            <a:r>
              <a:rPr sz="1089" spc="-5" dirty="0">
                <a:latin typeface="Arial"/>
                <a:cs typeface="Arial"/>
              </a:rPr>
              <a:t>j</a:t>
            </a:r>
            <a:r>
              <a:rPr sz="1089" dirty="0">
                <a:latin typeface="Arial"/>
                <a:cs typeface="Arial"/>
              </a:rPr>
              <a:t>ect</a:t>
            </a:r>
            <a:r>
              <a:rPr sz="1089" spc="-5" dirty="0">
                <a:latin typeface="Arial"/>
                <a:cs typeface="Arial"/>
              </a:rPr>
              <a:t>i</a:t>
            </a:r>
            <a:r>
              <a:rPr sz="1089" spc="-14" dirty="0">
                <a:latin typeface="Arial"/>
                <a:cs typeface="Arial"/>
              </a:rPr>
              <a:t>v</a:t>
            </a:r>
            <a:r>
              <a:rPr sz="1089" dirty="0">
                <a:latin typeface="Arial"/>
                <a:cs typeface="Arial"/>
              </a:rPr>
              <a:t>es  met?</a:t>
            </a:r>
            <a:endParaRPr sz="1089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354073" y="5246197"/>
            <a:ext cx="2048755" cy="431651"/>
          </a:xfrm>
          <a:custGeom>
            <a:avLst/>
            <a:gdLst/>
            <a:ahLst/>
            <a:cxnLst/>
            <a:rect l="l" t="t" r="r" b="b"/>
            <a:pathLst>
              <a:path w="2257425" h="475614">
                <a:moveTo>
                  <a:pt x="2257044" y="475488"/>
                </a:moveTo>
                <a:lnTo>
                  <a:pt x="2257044" y="0"/>
                </a:lnTo>
                <a:lnTo>
                  <a:pt x="0" y="0"/>
                </a:lnTo>
                <a:lnTo>
                  <a:pt x="0" y="475488"/>
                </a:lnTo>
                <a:lnTo>
                  <a:pt x="4572" y="475488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2247900" y="9144"/>
                </a:lnTo>
                <a:lnTo>
                  <a:pt x="2247900" y="4572"/>
                </a:lnTo>
                <a:lnTo>
                  <a:pt x="2252472" y="9144"/>
                </a:lnTo>
                <a:lnTo>
                  <a:pt x="2252472" y="475488"/>
                </a:lnTo>
                <a:lnTo>
                  <a:pt x="2257044" y="475488"/>
                </a:lnTo>
                <a:close/>
              </a:path>
              <a:path w="2257425" h="475614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2257425" h="475614">
                <a:moveTo>
                  <a:pt x="9144" y="466344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466344"/>
                </a:lnTo>
                <a:lnTo>
                  <a:pt x="9144" y="466344"/>
                </a:lnTo>
                <a:close/>
              </a:path>
              <a:path w="2257425" h="475614">
                <a:moveTo>
                  <a:pt x="2252472" y="466344"/>
                </a:moveTo>
                <a:lnTo>
                  <a:pt x="4572" y="466344"/>
                </a:lnTo>
                <a:lnTo>
                  <a:pt x="9144" y="470916"/>
                </a:lnTo>
                <a:lnTo>
                  <a:pt x="9144" y="475488"/>
                </a:lnTo>
                <a:lnTo>
                  <a:pt x="2247900" y="475488"/>
                </a:lnTo>
                <a:lnTo>
                  <a:pt x="2247900" y="470916"/>
                </a:lnTo>
                <a:lnTo>
                  <a:pt x="2252472" y="466344"/>
                </a:lnTo>
                <a:close/>
              </a:path>
              <a:path w="2257425" h="475614">
                <a:moveTo>
                  <a:pt x="9144" y="475488"/>
                </a:moveTo>
                <a:lnTo>
                  <a:pt x="9144" y="470916"/>
                </a:lnTo>
                <a:lnTo>
                  <a:pt x="4572" y="466344"/>
                </a:lnTo>
                <a:lnTo>
                  <a:pt x="4572" y="475488"/>
                </a:lnTo>
                <a:lnTo>
                  <a:pt x="9144" y="475488"/>
                </a:lnTo>
                <a:close/>
              </a:path>
              <a:path w="2257425" h="475614">
                <a:moveTo>
                  <a:pt x="2252472" y="9144"/>
                </a:moveTo>
                <a:lnTo>
                  <a:pt x="2247900" y="4572"/>
                </a:lnTo>
                <a:lnTo>
                  <a:pt x="2247900" y="9144"/>
                </a:lnTo>
                <a:lnTo>
                  <a:pt x="2252472" y="9144"/>
                </a:lnTo>
                <a:close/>
              </a:path>
              <a:path w="2257425" h="475614">
                <a:moveTo>
                  <a:pt x="2252472" y="466344"/>
                </a:moveTo>
                <a:lnTo>
                  <a:pt x="2252472" y="9144"/>
                </a:lnTo>
                <a:lnTo>
                  <a:pt x="2247900" y="9144"/>
                </a:lnTo>
                <a:lnTo>
                  <a:pt x="2247900" y="466344"/>
                </a:lnTo>
                <a:lnTo>
                  <a:pt x="2252472" y="466344"/>
                </a:lnTo>
                <a:close/>
              </a:path>
              <a:path w="2257425" h="475614">
                <a:moveTo>
                  <a:pt x="2252472" y="475488"/>
                </a:moveTo>
                <a:lnTo>
                  <a:pt x="2252472" y="466344"/>
                </a:lnTo>
                <a:lnTo>
                  <a:pt x="2247900" y="470916"/>
                </a:lnTo>
                <a:lnTo>
                  <a:pt x="2247900" y="475488"/>
                </a:lnTo>
                <a:lnTo>
                  <a:pt x="2252472" y="47548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20" name="object 20"/>
          <p:cNvSpPr txBox="1"/>
          <p:nvPr/>
        </p:nvSpPr>
        <p:spPr>
          <a:xfrm>
            <a:off x="7462883" y="5302441"/>
            <a:ext cx="1829183" cy="346859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80109" marR="4611" indent="-69159">
              <a:spcBef>
                <a:spcPts val="91"/>
              </a:spcBef>
            </a:pPr>
            <a:r>
              <a:rPr sz="1089" spc="-5" dirty="0">
                <a:latin typeface="Arial"/>
                <a:cs typeface="Arial"/>
              </a:rPr>
              <a:t>Software Release</a:t>
            </a:r>
            <a:r>
              <a:rPr sz="1089" spc="-109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Acceptable  </a:t>
            </a:r>
            <a:r>
              <a:rPr sz="1089" dirty="0">
                <a:latin typeface="Arial"/>
                <a:cs typeface="Arial"/>
              </a:rPr>
              <a:t>from </a:t>
            </a:r>
            <a:r>
              <a:rPr sz="1089" spc="-5" dirty="0">
                <a:latin typeface="Arial"/>
                <a:cs typeface="Arial"/>
              </a:rPr>
              <a:t>Reliability</a:t>
            </a:r>
            <a:r>
              <a:rPr sz="1089" spc="-64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Perspective</a:t>
            </a:r>
            <a:endParaRPr sz="1089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7354073" y="5876903"/>
            <a:ext cx="2048755" cy="236860"/>
          </a:xfrm>
          <a:custGeom>
            <a:avLst/>
            <a:gdLst/>
            <a:ahLst/>
            <a:cxnLst/>
            <a:rect l="l" t="t" r="r" b="b"/>
            <a:pathLst>
              <a:path w="2257425" h="260984">
                <a:moveTo>
                  <a:pt x="2257044" y="260604"/>
                </a:moveTo>
                <a:lnTo>
                  <a:pt x="2257044" y="0"/>
                </a:lnTo>
                <a:lnTo>
                  <a:pt x="0" y="0"/>
                </a:lnTo>
                <a:lnTo>
                  <a:pt x="0" y="260604"/>
                </a:lnTo>
                <a:lnTo>
                  <a:pt x="4572" y="260604"/>
                </a:lnTo>
                <a:lnTo>
                  <a:pt x="4572" y="9144"/>
                </a:lnTo>
                <a:lnTo>
                  <a:pt x="9144" y="4572"/>
                </a:lnTo>
                <a:lnTo>
                  <a:pt x="9144" y="9144"/>
                </a:lnTo>
                <a:lnTo>
                  <a:pt x="2247900" y="9144"/>
                </a:lnTo>
                <a:lnTo>
                  <a:pt x="2247900" y="4572"/>
                </a:lnTo>
                <a:lnTo>
                  <a:pt x="2252472" y="9144"/>
                </a:lnTo>
                <a:lnTo>
                  <a:pt x="2252472" y="260604"/>
                </a:lnTo>
                <a:lnTo>
                  <a:pt x="2257044" y="260604"/>
                </a:lnTo>
                <a:close/>
              </a:path>
              <a:path w="2257425" h="260984">
                <a:moveTo>
                  <a:pt x="9144" y="9144"/>
                </a:moveTo>
                <a:lnTo>
                  <a:pt x="9144" y="4572"/>
                </a:lnTo>
                <a:lnTo>
                  <a:pt x="4572" y="9144"/>
                </a:lnTo>
                <a:lnTo>
                  <a:pt x="9144" y="9144"/>
                </a:lnTo>
                <a:close/>
              </a:path>
              <a:path w="2257425" h="260984">
                <a:moveTo>
                  <a:pt x="9144" y="251460"/>
                </a:moveTo>
                <a:lnTo>
                  <a:pt x="9144" y="9144"/>
                </a:lnTo>
                <a:lnTo>
                  <a:pt x="4572" y="9144"/>
                </a:lnTo>
                <a:lnTo>
                  <a:pt x="4572" y="251460"/>
                </a:lnTo>
                <a:lnTo>
                  <a:pt x="9144" y="251460"/>
                </a:lnTo>
                <a:close/>
              </a:path>
              <a:path w="2257425" h="260984">
                <a:moveTo>
                  <a:pt x="2252472" y="251460"/>
                </a:moveTo>
                <a:lnTo>
                  <a:pt x="4572" y="251460"/>
                </a:lnTo>
                <a:lnTo>
                  <a:pt x="9144" y="256032"/>
                </a:lnTo>
                <a:lnTo>
                  <a:pt x="9144" y="260604"/>
                </a:lnTo>
                <a:lnTo>
                  <a:pt x="2247900" y="260604"/>
                </a:lnTo>
                <a:lnTo>
                  <a:pt x="2247900" y="256032"/>
                </a:lnTo>
                <a:lnTo>
                  <a:pt x="2252472" y="251460"/>
                </a:lnTo>
                <a:close/>
              </a:path>
              <a:path w="2257425" h="260984">
                <a:moveTo>
                  <a:pt x="9144" y="260604"/>
                </a:moveTo>
                <a:lnTo>
                  <a:pt x="9144" y="256032"/>
                </a:lnTo>
                <a:lnTo>
                  <a:pt x="4572" y="251460"/>
                </a:lnTo>
                <a:lnTo>
                  <a:pt x="4572" y="260604"/>
                </a:lnTo>
                <a:lnTo>
                  <a:pt x="9144" y="260604"/>
                </a:lnTo>
                <a:close/>
              </a:path>
              <a:path w="2257425" h="260984">
                <a:moveTo>
                  <a:pt x="2252472" y="9144"/>
                </a:moveTo>
                <a:lnTo>
                  <a:pt x="2247900" y="4572"/>
                </a:lnTo>
                <a:lnTo>
                  <a:pt x="2247900" y="9144"/>
                </a:lnTo>
                <a:lnTo>
                  <a:pt x="2252472" y="9144"/>
                </a:lnTo>
                <a:close/>
              </a:path>
              <a:path w="2257425" h="260984">
                <a:moveTo>
                  <a:pt x="2252472" y="251460"/>
                </a:moveTo>
                <a:lnTo>
                  <a:pt x="2252472" y="9144"/>
                </a:lnTo>
                <a:lnTo>
                  <a:pt x="2247900" y="9144"/>
                </a:lnTo>
                <a:lnTo>
                  <a:pt x="2247900" y="251460"/>
                </a:lnTo>
                <a:lnTo>
                  <a:pt x="2252472" y="251460"/>
                </a:lnTo>
                <a:close/>
              </a:path>
              <a:path w="2257425" h="260984">
                <a:moveTo>
                  <a:pt x="2252472" y="260604"/>
                </a:moveTo>
                <a:lnTo>
                  <a:pt x="2252472" y="251460"/>
                </a:lnTo>
                <a:lnTo>
                  <a:pt x="2247900" y="256032"/>
                </a:lnTo>
                <a:lnTo>
                  <a:pt x="2247900" y="260604"/>
                </a:lnTo>
                <a:lnTo>
                  <a:pt x="2252472" y="26060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22" name="object 22"/>
          <p:cNvSpPr txBox="1"/>
          <p:nvPr/>
        </p:nvSpPr>
        <p:spPr>
          <a:xfrm>
            <a:off x="7650066" y="5957775"/>
            <a:ext cx="1455740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203"/>
              </a:lnSpc>
            </a:pPr>
            <a:r>
              <a:rPr sz="1089" spc="-14" dirty="0">
                <a:latin typeface="Arial"/>
                <a:cs typeface="Arial"/>
              </a:rPr>
              <a:t>Validate </a:t>
            </a:r>
            <a:r>
              <a:rPr sz="1089" spc="-5" dirty="0">
                <a:latin typeface="Arial"/>
                <a:cs typeface="Arial"/>
              </a:rPr>
              <a:t>Field</a:t>
            </a:r>
            <a:r>
              <a:rPr sz="1089" spc="-68" dirty="0">
                <a:latin typeface="Arial"/>
                <a:cs typeface="Arial"/>
              </a:rPr>
              <a:t> </a:t>
            </a:r>
            <a:r>
              <a:rPr sz="1089" spc="-5" dirty="0">
                <a:latin typeface="Arial"/>
                <a:cs typeface="Arial"/>
              </a:rPr>
              <a:t>Reliability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6513133" y="1674966"/>
            <a:ext cx="1896612" cy="3826072"/>
            <a:chOff x="5806318" y="1845564"/>
            <a:chExt cx="2089785" cy="4215765"/>
          </a:xfrm>
        </p:grpSpPr>
        <p:sp>
          <p:nvSpPr>
            <p:cNvPr id="24" name="object 24"/>
            <p:cNvSpPr/>
            <p:nvPr/>
          </p:nvSpPr>
          <p:spPr>
            <a:xfrm>
              <a:off x="7400422" y="2333244"/>
              <a:ext cx="76200" cy="22555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25" name="object 25"/>
            <p:cNvSpPr/>
            <p:nvPr/>
          </p:nvSpPr>
          <p:spPr>
            <a:xfrm>
              <a:off x="6233038" y="1851659"/>
              <a:ext cx="1495425" cy="475615"/>
            </a:xfrm>
            <a:custGeom>
              <a:avLst/>
              <a:gdLst/>
              <a:ahLst/>
              <a:cxnLst/>
              <a:rect l="l" t="t" r="r" b="b"/>
              <a:pathLst>
                <a:path w="1495425" h="475614">
                  <a:moveTo>
                    <a:pt x="1495043" y="475487"/>
                  </a:moveTo>
                  <a:lnTo>
                    <a:pt x="1495043" y="0"/>
                  </a:lnTo>
                  <a:lnTo>
                    <a:pt x="0" y="0"/>
                  </a:lnTo>
                  <a:lnTo>
                    <a:pt x="0" y="475487"/>
                  </a:lnTo>
                  <a:lnTo>
                    <a:pt x="1495043" y="47548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26" name="object 26"/>
            <p:cNvSpPr/>
            <p:nvPr/>
          </p:nvSpPr>
          <p:spPr>
            <a:xfrm>
              <a:off x="5806313" y="1845576"/>
              <a:ext cx="2089785" cy="4215765"/>
            </a:xfrm>
            <a:custGeom>
              <a:avLst/>
              <a:gdLst/>
              <a:ahLst/>
              <a:cxnLst/>
              <a:rect l="l" t="t" r="r" b="b"/>
              <a:pathLst>
                <a:path w="2089784" h="4215765">
                  <a:moveTo>
                    <a:pt x="931164" y="4177284"/>
                  </a:moveTo>
                  <a:lnTo>
                    <a:pt x="854964" y="4139184"/>
                  </a:lnTo>
                  <a:lnTo>
                    <a:pt x="854964" y="4172712"/>
                  </a:lnTo>
                  <a:lnTo>
                    <a:pt x="9144" y="4172712"/>
                  </a:lnTo>
                  <a:lnTo>
                    <a:pt x="9144" y="4015727"/>
                  </a:lnTo>
                  <a:lnTo>
                    <a:pt x="0" y="4015727"/>
                  </a:lnTo>
                  <a:lnTo>
                    <a:pt x="0" y="4177271"/>
                  </a:lnTo>
                  <a:lnTo>
                    <a:pt x="7620" y="4177271"/>
                  </a:lnTo>
                  <a:lnTo>
                    <a:pt x="7620" y="4181856"/>
                  </a:lnTo>
                  <a:lnTo>
                    <a:pt x="854964" y="4181856"/>
                  </a:lnTo>
                  <a:lnTo>
                    <a:pt x="854964" y="4215384"/>
                  </a:lnTo>
                  <a:lnTo>
                    <a:pt x="867156" y="4209288"/>
                  </a:lnTo>
                  <a:lnTo>
                    <a:pt x="931164" y="4177284"/>
                  </a:lnTo>
                  <a:close/>
                </a:path>
                <a:path w="2089784" h="4215765">
                  <a:moveTo>
                    <a:pt x="1074420" y="1293876"/>
                  </a:moveTo>
                  <a:lnTo>
                    <a:pt x="998220" y="1255776"/>
                  </a:lnTo>
                  <a:lnTo>
                    <a:pt x="998220" y="1289304"/>
                  </a:lnTo>
                  <a:lnTo>
                    <a:pt x="16764" y="1289304"/>
                  </a:lnTo>
                  <a:lnTo>
                    <a:pt x="16764" y="1293863"/>
                  </a:lnTo>
                  <a:lnTo>
                    <a:pt x="12192" y="1293863"/>
                  </a:lnTo>
                  <a:lnTo>
                    <a:pt x="12192" y="1618475"/>
                  </a:lnTo>
                  <a:lnTo>
                    <a:pt x="21336" y="1618475"/>
                  </a:lnTo>
                  <a:lnTo>
                    <a:pt x="21336" y="1299972"/>
                  </a:lnTo>
                  <a:lnTo>
                    <a:pt x="998220" y="1299972"/>
                  </a:lnTo>
                  <a:lnTo>
                    <a:pt x="998220" y="1331976"/>
                  </a:lnTo>
                  <a:lnTo>
                    <a:pt x="1010412" y="1325880"/>
                  </a:lnTo>
                  <a:lnTo>
                    <a:pt x="1074420" y="1293876"/>
                  </a:lnTo>
                  <a:close/>
                </a:path>
                <a:path w="2089784" h="4215765">
                  <a:moveTo>
                    <a:pt x="1926336" y="0"/>
                  </a:moveTo>
                  <a:lnTo>
                    <a:pt x="1917192" y="0"/>
                  </a:lnTo>
                  <a:lnTo>
                    <a:pt x="1917192" y="10668"/>
                  </a:lnTo>
                  <a:lnTo>
                    <a:pt x="1917192" y="477012"/>
                  </a:lnTo>
                  <a:lnTo>
                    <a:pt x="431292" y="477012"/>
                  </a:lnTo>
                  <a:lnTo>
                    <a:pt x="431292" y="10668"/>
                  </a:lnTo>
                  <a:lnTo>
                    <a:pt x="1917192" y="10668"/>
                  </a:lnTo>
                  <a:lnTo>
                    <a:pt x="1917192" y="0"/>
                  </a:lnTo>
                  <a:lnTo>
                    <a:pt x="422148" y="0"/>
                  </a:lnTo>
                  <a:lnTo>
                    <a:pt x="422148" y="486156"/>
                  </a:lnTo>
                  <a:lnTo>
                    <a:pt x="426720" y="486156"/>
                  </a:lnTo>
                  <a:lnTo>
                    <a:pt x="431292" y="486156"/>
                  </a:lnTo>
                  <a:lnTo>
                    <a:pt x="1917192" y="486156"/>
                  </a:lnTo>
                  <a:lnTo>
                    <a:pt x="1921764" y="486156"/>
                  </a:lnTo>
                  <a:lnTo>
                    <a:pt x="1926336" y="486156"/>
                  </a:lnTo>
                  <a:lnTo>
                    <a:pt x="1926336" y="0"/>
                  </a:lnTo>
                  <a:close/>
                </a:path>
                <a:path w="2089784" h="4215765">
                  <a:moveTo>
                    <a:pt x="2089404" y="3857244"/>
                  </a:moveTo>
                  <a:lnTo>
                    <a:pt x="2057400" y="3857244"/>
                  </a:lnTo>
                  <a:lnTo>
                    <a:pt x="2057400" y="3256788"/>
                  </a:lnTo>
                  <a:lnTo>
                    <a:pt x="2046732" y="3256788"/>
                  </a:lnTo>
                  <a:lnTo>
                    <a:pt x="2046732" y="3404616"/>
                  </a:lnTo>
                  <a:lnTo>
                    <a:pt x="676656" y="3404616"/>
                  </a:lnTo>
                  <a:lnTo>
                    <a:pt x="676656" y="3371088"/>
                  </a:lnTo>
                  <a:lnTo>
                    <a:pt x="600456" y="3409188"/>
                  </a:lnTo>
                  <a:lnTo>
                    <a:pt x="664464" y="3441192"/>
                  </a:lnTo>
                  <a:lnTo>
                    <a:pt x="676656" y="3447288"/>
                  </a:lnTo>
                  <a:lnTo>
                    <a:pt x="676656" y="3413760"/>
                  </a:lnTo>
                  <a:lnTo>
                    <a:pt x="2046732" y="3413760"/>
                  </a:lnTo>
                  <a:lnTo>
                    <a:pt x="2046732" y="3857244"/>
                  </a:lnTo>
                  <a:lnTo>
                    <a:pt x="2013204" y="3857244"/>
                  </a:lnTo>
                  <a:lnTo>
                    <a:pt x="2046732" y="3924300"/>
                  </a:lnTo>
                  <a:lnTo>
                    <a:pt x="2051304" y="3933444"/>
                  </a:lnTo>
                  <a:lnTo>
                    <a:pt x="2057400" y="3921252"/>
                  </a:lnTo>
                  <a:lnTo>
                    <a:pt x="2089404" y="385724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2263710" y="1587367"/>
            <a:ext cx="3135086" cy="76607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 algn="just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This </a:t>
            </a:r>
            <a:r>
              <a:rPr sz="1634" b="1" spc="-5" dirty="0">
                <a:latin typeface="Arial"/>
                <a:cs typeface="Arial"/>
              </a:rPr>
              <a:t>slide </a:t>
            </a:r>
            <a:r>
              <a:rPr sz="1634" b="1" spc="5" dirty="0">
                <a:latin typeface="Arial"/>
                <a:cs typeface="Arial"/>
              </a:rPr>
              <a:t>shows </a:t>
            </a: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5" dirty="0">
                <a:latin typeface="Arial"/>
                <a:cs typeface="Arial"/>
              </a:rPr>
              <a:t>general</a:t>
            </a:r>
            <a:r>
              <a:rPr sz="1634" b="1" spc="-113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SRE  process flow that has six major  components:</a:t>
            </a:r>
            <a:endParaRPr sz="1634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00407" y="1680499"/>
            <a:ext cx="1357192" cy="385266"/>
          </a:xfrm>
          <a:prstGeom prst="rect">
            <a:avLst/>
          </a:prstGeom>
        </p:spPr>
        <p:txBody>
          <a:bodyPr vert="horz" wrap="square" lIns="0" tIns="49562" rIns="0" bIns="0" rtlCol="0">
            <a:spAutoFit/>
          </a:bodyPr>
          <a:lstStyle/>
          <a:p>
            <a:pPr marL="388444" marR="39766" indent="-344643">
              <a:spcBef>
                <a:spcPts val="390"/>
              </a:spcBef>
            </a:pP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Determine</a:t>
            </a:r>
            <a:r>
              <a:rPr sz="1089" spc="-7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Reliability  Objective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8495151" y="1666667"/>
            <a:ext cx="1365261" cy="441447"/>
            <a:chOff x="7990209" y="1836420"/>
            <a:chExt cx="1504315" cy="486409"/>
          </a:xfrm>
        </p:grpSpPr>
        <p:sp>
          <p:nvSpPr>
            <p:cNvPr id="30" name="object 30"/>
            <p:cNvSpPr/>
            <p:nvPr/>
          </p:nvSpPr>
          <p:spPr>
            <a:xfrm>
              <a:off x="7994781" y="1840991"/>
              <a:ext cx="1495425" cy="477520"/>
            </a:xfrm>
            <a:custGeom>
              <a:avLst/>
              <a:gdLst/>
              <a:ahLst/>
              <a:cxnLst/>
              <a:rect l="l" t="t" r="r" b="b"/>
              <a:pathLst>
                <a:path w="1495425" h="477519">
                  <a:moveTo>
                    <a:pt x="1495043" y="477011"/>
                  </a:moveTo>
                  <a:lnTo>
                    <a:pt x="1495043" y="0"/>
                  </a:lnTo>
                  <a:lnTo>
                    <a:pt x="0" y="0"/>
                  </a:lnTo>
                  <a:lnTo>
                    <a:pt x="0" y="477011"/>
                  </a:lnTo>
                  <a:lnTo>
                    <a:pt x="1495043" y="47701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31" name="object 31"/>
            <p:cNvSpPr/>
            <p:nvPr/>
          </p:nvSpPr>
          <p:spPr>
            <a:xfrm>
              <a:off x="7990209" y="1836420"/>
              <a:ext cx="1504315" cy="486409"/>
            </a:xfrm>
            <a:custGeom>
              <a:avLst/>
              <a:gdLst/>
              <a:ahLst/>
              <a:cxnLst/>
              <a:rect l="l" t="t" r="r" b="b"/>
              <a:pathLst>
                <a:path w="1504315" h="486410">
                  <a:moveTo>
                    <a:pt x="1504188" y="486156"/>
                  </a:moveTo>
                  <a:lnTo>
                    <a:pt x="1504188" y="0"/>
                  </a:lnTo>
                  <a:lnTo>
                    <a:pt x="0" y="0"/>
                  </a:lnTo>
                  <a:lnTo>
                    <a:pt x="0" y="486156"/>
                  </a:lnTo>
                  <a:lnTo>
                    <a:pt x="4572" y="486156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495044" y="9144"/>
                  </a:lnTo>
                  <a:lnTo>
                    <a:pt x="1495044" y="4572"/>
                  </a:lnTo>
                  <a:lnTo>
                    <a:pt x="1499616" y="9144"/>
                  </a:lnTo>
                  <a:lnTo>
                    <a:pt x="1499616" y="486156"/>
                  </a:lnTo>
                  <a:lnTo>
                    <a:pt x="1504188" y="486156"/>
                  </a:lnTo>
                  <a:close/>
                </a:path>
                <a:path w="1504315" h="48641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504315" h="486410">
                  <a:moveTo>
                    <a:pt x="9144" y="477012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477012"/>
                  </a:lnTo>
                  <a:lnTo>
                    <a:pt x="9144" y="477012"/>
                  </a:lnTo>
                  <a:close/>
                </a:path>
                <a:path w="1504315" h="486410">
                  <a:moveTo>
                    <a:pt x="1499616" y="477012"/>
                  </a:moveTo>
                  <a:lnTo>
                    <a:pt x="4572" y="477012"/>
                  </a:lnTo>
                  <a:lnTo>
                    <a:pt x="9144" y="481584"/>
                  </a:lnTo>
                  <a:lnTo>
                    <a:pt x="9144" y="486156"/>
                  </a:lnTo>
                  <a:lnTo>
                    <a:pt x="1495044" y="486156"/>
                  </a:lnTo>
                  <a:lnTo>
                    <a:pt x="1495044" y="481584"/>
                  </a:lnTo>
                  <a:lnTo>
                    <a:pt x="1499616" y="477012"/>
                  </a:lnTo>
                  <a:close/>
                </a:path>
                <a:path w="1504315" h="486410">
                  <a:moveTo>
                    <a:pt x="9144" y="486156"/>
                  </a:moveTo>
                  <a:lnTo>
                    <a:pt x="9144" y="481584"/>
                  </a:lnTo>
                  <a:lnTo>
                    <a:pt x="4572" y="477012"/>
                  </a:lnTo>
                  <a:lnTo>
                    <a:pt x="4572" y="486156"/>
                  </a:lnTo>
                  <a:lnTo>
                    <a:pt x="9144" y="486156"/>
                  </a:lnTo>
                  <a:close/>
                </a:path>
                <a:path w="1504315" h="486410">
                  <a:moveTo>
                    <a:pt x="1499616" y="9144"/>
                  </a:moveTo>
                  <a:lnTo>
                    <a:pt x="1495044" y="4572"/>
                  </a:lnTo>
                  <a:lnTo>
                    <a:pt x="1495044" y="9144"/>
                  </a:lnTo>
                  <a:lnTo>
                    <a:pt x="1499616" y="9144"/>
                  </a:lnTo>
                  <a:close/>
                </a:path>
                <a:path w="1504315" h="486410">
                  <a:moveTo>
                    <a:pt x="1499616" y="477012"/>
                  </a:moveTo>
                  <a:lnTo>
                    <a:pt x="1499616" y="9144"/>
                  </a:lnTo>
                  <a:lnTo>
                    <a:pt x="1495044" y="9144"/>
                  </a:lnTo>
                  <a:lnTo>
                    <a:pt x="1495044" y="477012"/>
                  </a:lnTo>
                  <a:lnTo>
                    <a:pt x="1499616" y="477012"/>
                  </a:lnTo>
                  <a:close/>
                </a:path>
                <a:path w="1504315" h="486410">
                  <a:moveTo>
                    <a:pt x="1499616" y="486156"/>
                  </a:moveTo>
                  <a:lnTo>
                    <a:pt x="1499616" y="477012"/>
                  </a:lnTo>
                  <a:lnTo>
                    <a:pt x="1495044" y="481584"/>
                  </a:lnTo>
                  <a:lnTo>
                    <a:pt x="1495044" y="486156"/>
                  </a:lnTo>
                  <a:lnTo>
                    <a:pt x="1499616" y="4861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99301" y="1670815"/>
            <a:ext cx="1357192" cy="398069"/>
          </a:xfrm>
          <a:prstGeom prst="rect">
            <a:avLst/>
          </a:prstGeom>
        </p:spPr>
        <p:txBody>
          <a:bodyPr vert="horz" wrap="square" lIns="0" tIns="62241" rIns="0" bIns="0" rtlCol="0">
            <a:spAutoFit/>
          </a:bodyPr>
          <a:lstStyle/>
          <a:p>
            <a:pPr marL="479503" marR="96246" indent="-379223">
              <a:spcBef>
                <a:spcPts val="490"/>
              </a:spcBef>
            </a:pPr>
            <a:r>
              <a:rPr sz="1089" dirty="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sz="1089" spc="-77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Operational  Profile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7484087" y="3608576"/>
            <a:ext cx="1780198" cy="406869"/>
            <a:chOff x="6876166" y="3976116"/>
            <a:chExt cx="1961514" cy="448309"/>
          </a:xfrm>
        </p:grpSpPr>
        <p:sp>
          <p:nvSpPr>
            <p:cNvPr id="34" name="object 34"/>
            <p:cNvSpPr/>
            <p:nvPr/>
          </p:nvSpPr>
          <p:spPr>
            <a:xfrm>
              <a:off x="6880737" y="3982212"/>
              <a:ext cx="1952625" cy="437515"/>
            </a:xfrm>
            <a:custGeom>
              <a:avLst/>
              <a:gdLst/>
              <a:ahLst/>
              <a:cxnLst/>
              <a:rect l="l" t="t" r="r" b="b"/>
              <a:pathLst>
                <a:path w="1952625" h="437514">
                  <a:moveTo>
                    <a:pt x="1952243" y="437387"/>
                  </a:moveTo>
                  <a:lnTo>
                    <a:pt x="1952243" y="0"/>
                  </a:lnTo>
                  <a:lnTo>
                    <a:pt x="0" y="0"/>
                  </a:lnTo>
                  <a:lnTo>
                    <a:pt x="0" y="437387"/>
                  </a:lnTo>
                  <a:lnTo>
                    <a:pt x="1952243" y="43738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35" name="object 35"/>
            <p:cNvSpPr/>
            <p:nvPr/>
          </p:nvSpPr>
          <p:spPr>
            <a:xfrm>
              <a:off x="6876166" y="3976116"/>
              <a:ext cx="1961514" cy="448309"/>
            </a:xfrm>
            <a:custGeom>
              <a:avLst/>
              <a:gdLst/>
              <a:ahLst/>
              <a:cxnLst/>
              <a:rect l="l" t="t" r="r" b="b"/>
              <a:pathLst>
                <a:path w="1961515" h="448310">
                  <a:moveTo>
                    <a:pt x="1961388" y="448056"/>
                  </a:moveTo>
                  <a:lnTo>
                    <a:pt x="1961388" y="0"/>
                  </a:lnTo>
                  <a:lnTo>
                    <a:pt x="0" y="0"/>
                  </a:lnTo>
                  <a:lnTo>
                    <a:pt x="0" y="448056"/>
                  </a:lnTo>
                  <a:lnTo>
                    <a:pt x="4572" y="448056"/>
                  </a:lnTo>
                  <a:lnTo>
                    <a:pt x="4572" y="10668"/>
                  </a:lnTo>
                  <a:lnTo>
                    <a:pt x="9144" y="6096"/>
                  </a:lnTo>
                  <a:lnTo>
                    <a:pt x="9144" y="10668"/>
                  </a:lnTo>
                  <a:lnTo>
                    <a:pt x="1952244" y="10668"/>
                  </a:lnTo>
                  <a:lnTo>
                    <a:pt x="1952244" y="6096"/>
                  </a:lnTo>
                  <a:lnTo>
                    <a:pt x="1956816" y="10668"/>
                  </a:lnTo>
                  <a:lnTo>
                    <a:pt x="1956816" y="448056"/>
                  </a:lnTo>
                  <a:lnTo>
                    <a:pt x="1961388" y="448056"/>
                  </a:lnTo>
                  <a:close/>
                </a:path>
                <a:path w="1961515" h="448310">
                  <a:moveTo>
                    <a:pt x="9144" y="10668"/>
                  </a:moveTo>
                  <a:lnTo>
                    <a:pt x="9144" y="6096"/>
                  </a:lnTo>
                  <a:lnTo>
                    <a:pt x="4572" y="10668"/>
                  </a:lnTo>
                  <a:lnTo>
                    <a:pt x="9144" y="10668"/>
                  </a:lnTo>
                  <a:close/>
                </a:path>
                <a:path w="1961515" h="448310">
                  <a:moveTo>
                    <a:pt x="9144" y="438912"/>
                  </a:moveTo>
                  <a:lnTo>
                    <a:pt x="9144" y="10668"/>
                  </a:lnTo>
                  <a:lnTo>
                    <a:pt x="4572" y="10668"/>
                  </a:lnTo>
                  <a:lnTo>
                    <a:pt x="4572" y="438912"/>
                  </a:lnTo>
                  <a:lnTo>
                    <a:pt x="9144" y="438912"/>
                  </a:lnTo>
                  <a:close/>
                </a:path>
                <a:path w="1961515" h="448310">
                  <a:moveTo>
                    <a:pt x="1956816" y="438912"/>
                  </a:moveTo>
                  <a:lnTo>
                    <a:pt x="4572" y="438912"/>
                  </a:lnTo>
                  <a:lnTo>
                    <a:pt x="9144" y="443484"/>
                  </a:lnTo>
                  <a:lnTo>
                    <a:pt x="9144" y="448056"/>
                  </a:lnTo>
                  <a:lnTo>
                    <a:pt x="1952244" y="448056"/>
                  </a:lnTo>
                  <a:lnTo>
                    <a:pt x="1952244" y="443484"/>
                  </a:lnTo>
                  <a:lnTo>
                    <a:pt x="1956816" y="438912"/>
                  </a:lnTo>
                  <a:close/>
                </a:path>
                <a:path w="1961515" h="448310">
                  <a:moveTo>
                    <a:pt x="9144" y="448056"/>
                  </a:moveTo>
                  <a:lnTo>
                    <a:pt x="9144" y="443484"/>
                  </a:lnTo>
                  <a:lnTo>
                    <a:pt x="4572" y="438912"/>
                  </a:lnTo>
                  <a:lnTo>
                    <a:pt x="4572" y="448056"/>
                  </a:lnTo>
                  <a:lnTo>
                    <a:pt x="9144" y="448056"/>
                  </a:lnTo>
                  <a:close/>
                </a:path>
                <a:path w="1961515" h="448310">
                  <a:moveTo>
                    <a:pt x="1956816" y="10668"/>
                  </a:moveTo>
                  <a:lnTo>
                    <a:pt x="1952244" y="6096"/>
                  </a:lnTo>
                  <a:lnTo>
                    <a:pt x="1952244" y="10668"/>
                  </a:lnTo>
                  <a:lnTo>
                    <a:pt x="1956816" y="10668"/>
                  </a:lnTo>
                  <a:close/>
                </a:path>
                <a:path w="1961515" h="448310">
                  <a:moveTo>
                    <a:pt x="1956816" y="438912"/>
                  </a:moveTo>
                  <a:lnTo>
                    <a:pt x="1956816" y="10668"/>
                  </a:lnTo>
                  <a:lnTo>
                    <a:pt x="1952244" y="10668"/>
                  </a:lnTo>
                  <a:lnTo>
                    <a:pt x="1952244" y="438912"/>
                  </a:lnTo>
                  <a:lnTo>
                    <a:pt x="1956816" y="438912"/>
                  </a:lnTo>
                  <a:close/>
                </a:path>
                <a:path w="1961515" h="448310">
                  <a:moveTo>
                    <a:pt x="1956816" y="448056"/>
                  </a:moveTo>
                  <a:lnTo>
                    <a:pt x="1956816" y="438912"/>
                  </a:lnTo>
                  <a:lnTo>
                    <a:pt x="1952244" y="443484"/>
                  </a:lnTo>
                  <a:lnTo>
                    <a:pt x="1952244" y="448056"/>
                  </a:lnTo>
                  <a:lnTo>
                    <a:pt x="1956816" y="44805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7488237" y="3614108"/>
            <a:ext cx="1772130" cy="381193"/>
          </a:xfrm>
          <a:prstGeom prst="rect">
            <a:avLst/>
          </a:prstGeom>
        </p:spPr>
        <p:txBody>
          <a:bodyPr vert="horz" wrap="square" lIns="0" tIns="45528" rIns="0" bIns="0" rtlCol="0">
            <a:spAutoFit/>
          </a:bodyPr>
          <a:lstStyle/>
          <a:p>
            <a:pPr marL="688710" marR="31698" indent="-668538">
              <a:spcBef>
                <a:spcPts val="359"/>
              </a:spcBef>
            </a:pP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Select Appropriate</a:t>
            </a:r>
            <a:r>
              <a:rPr sz="1089" spc="-1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Software  Model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7258637" y="4219918"/>
            <a:ext cx="2231443" cy="412632"/>
            <a:chOff x="6627754" y="4649724"/>
            <a:chExt cx="2458720" cy="454659"/>
          </a:xfrm>
        </p:grpSpPr>
        <p:sp>
          <p:nvSpPr>
            <p:cNvPr id="38" name="object 38"/>
            <p:cNvSpPr/>
            <p:nvPr/>
          </p:nvSpPr>
          <p:spPr>
            <a:xfrm>
              <a:off x="6632326" y="4654296"/>
              <a:ext cx="2447925" cy="445134"/>
            </a:xfrm>
            <a:custGeom>
              <a:avLst/>
              <a:gdLst/>
              <a:ahLst/>
              <a:cxnLst/>
              <a:rect l="l" t="t" r="r" b="b"/>
              <a:pathLst>
                <a:path w="2447925" h="445135">
                  <a:moveTo>
                    <a:pt x="2447543" y="445007"/>
                  </a:moveTo>
                  <a:lnTo>
                    <a:pt x="2447543" y="0"/>
                  </a:lnTo>
                  <a:lnTo>
                    <a:pt x="0" y="0"/>
                  </a:lnTo>
                  <a:lnTo>
                    <a:pt x="0" y="445007"/>
                  </a:lnTo>
                  <a:lnTo>
                    <a:pt x="2447543" y="44500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39" name="object 39"/>
            <p:cNvSpPr/>
            <p:nvPr/>
          </p:nvSpPr>
          <p:spPr>
            <a:xfrm>
              <a:off x="6627754" y="4649724"/>
              <a:ext cx="2458720" cy="454659"/>
            </a:xfrm>
            <a:custGeom>
              <a:avLst/>
              <a:gdLst/>
              <a:ahLst/>
              <a:cxnLst/>
              <a:rect l="l" t="t" r="r" b="b"/>
              <a:pathLst>
                <a:path w="2458720" h="454660">
                  <a:moveTo>
                    <a:pt x="2458212" y="454152"/>
                  </a:moveTo>
                  <a:lnTo>
                    <a:pt x="2458212" y="0"/>
                  </a:lnTo>
                  <a:lnTo>
                    <a:pt x="0" y="0"/>
                  </a:lnTo>
                  <a:lnTo>
                    <a:pt x="0" y="454152"/>
                  </a:lnTo>
                  <a:lnTo>
                    <a:pt x="4572" y="45415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2447544" y="9144"/>
                  </a:lnTo>
                  <a:lnTo>
                    <a:pt x="2447544" y="4572"/>
                  </a:lnTo>
                  <a:lnTo>
                    <a:pt x="2452116" y="9144"/>
                  </a:lnTo>
                  <a:lnTo>
                    <a:pt x="2452116" y="454152"/>
                  </a:lnTo>
                  <a:lnTo>
                    <a:pt x="2458212" y="454152"/>
                  </a:lnTo>
                  <a:close/>
                </a:path>
                <a:path w="2458720" h="45466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2458720" h="454660">
                  <a:moveTo>
                    <a:pt x="9144" y="44500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445008"/>
                  </a:lnTo>
                  <a:lnTo>
                    <a:pt x="9144" y="445008"/>
                  </a:lnTo>
                  <a:close/>
                </a:path>
                <a:path w="2458720" h="454660">
                  <a:moveTo>
                    <a:pt x="2452116" y="445008"/>
                  </a:moveTo>
                  <a:lnTo>
                    <a:pt x="4572" y="445008"/>
                  </a:lnTo>
                  <a:lnTo>
                    <a:pt x="9144" y="449580"/>
                  </a:lnTo>
                  <a:lnTo>
                    <a:pt x="9144" y="454152"/>
                  </a:lnTo>
                  <a:lnTo>
                    <a:pt x="2447544" y="454152"/>
                  </a:lnTo>
                  <a:lnTo>
                    <a:pt x="2447544" y="449580"/>
                  </a:lnTo>
                  <a:lnTo>
                    <a:pt x="2452116" y="445008"/>
                  </a:lnTo>
                  <a:close/>
                </a:path>
                <a:path w="2458720" h="454660">
                  <a:moveTo>
                    <a:pt x="9144" y="454152"/>
                  </a:moveTo>
                  <a:lnTo>
                    <a:pt x="9144" y="449580"/>
                  </a:lnTo>
                  <a:lnTo>
                    <a:pt x="4572" y="445008"/>
                  </a:lnTo>
                  <a:lnTo>
                    <a:pt x="4572" y="454152"/>
                  </a:lnTo>
                  <a:lnTo>
                    <a:pt x="9144" y="454152"/>
                  </a:lnTo>
                  <a:close/>
                </a:path>
                <a:path w="2458720" h="454660">
                  <a:moveTo>
                    <a:pt x="2452116" y="9144"/>
                  </a:moveTo>
                  <a:lnTo>
                    <a:pt x="2447544" y="4572"/>
                  </a:lnTo>
                  <a:lnTo>
                    <a:pt x="2447544" y="9144"/>
                  </a:lnTo>
                  <a:lnTo>
                    <a:pt x="2452116" y="9144"/>
                  </a:lnTo>
                  <a:close/>
                </a:path>
                <a:path w="2458720" h="454660">
                  <a:moveTo>
                    <a:pt x="2452116" y="445008"/>
                  </a:moveTo>
                  <a:lnTo>
                    <a:pt x="2452116" y="9144"/>
                  </a:lnTo>
                  <a:lnTo>
                    <a:pt x="2447544" y="9144"/>
                  </a:lnTo>
                  <a:lnTo>
                    <a:pt x="2447544" y="445008"/>
                  </a:lnTo>
                  <a:lnTo>
                    <a:pt x="2452116" y="445008"/>
                  </a:lnTo>
                  <a:close/>
                </a:path>
                <a:path w="2458720" h="454660">
                  <a:moveTo>
                    <a:pt x="2452116" y="454152"/>
                  </a:moveTo>
                  <a:lnTo>
                    <a:pt x="2452116" y="445008"/>
                  </a:lnTo>
                  <a:lnTo>
                    <a:pt x="2447544" y="449580"/>
                  </a:lnTo>
                  <a:lnTo>
                    <a:pt x="2447544" y="454152"/>
                  </a:lnTo>
                  <a:lnTo>
                    <a:pt x="2452116" y="4541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7262787" y="4224066"/>
            <a:ext cx="2221646" cy="377118"/>
          </a:xfrm>
          <a:prstGeom prst="rect">
            <a:avLst/>
          </a:prstGeom>
        </p:spPr>
        <p:txBody>
          <a:bodyPr vert="horz" wrap="square" lIns="0" tIns="41493" rIns="0" bIns="0" rtlCol="0">
            <a:spAutoFit/>
          </a:bodyPr>
          <a:lstStyle/>
          <a:p>
            <a:pPr marL="185001" marR="95670" indent="-77804">
              <a:spcBef>
                <a:spcPts val="326"/>
              </a:spcBef>
            </a:pP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Use software Reliability Model(s)  </a:t>
            </a:r>
            <a:r>
              <a:rPr sz="1089" dirty="0">
                <a:solidFill>
                  <a:srgbClr val="FFFFFF"/>
                </a:solidFill>
                <a:latin typeface="Arial"/>
                <a:cs typeface="Arial"/>
              </a:rPr>
              <a:t>to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Calculate Current</a:t>
            </a:r>
            <a:r>
              <a:rPr sz="1089" spc="-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Reliability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354073" y="5876903"/>
            <a:ext cx="2048755" cy="236860"/>
            <a:chOff x="6732909" y="6475476"/>
            <a:chExt cx="2257425" cy="260985"/>
          </a:xfrm>
        </p:grpSpPr>
        <p:sp>
          <p:nvSpPr>
            <p:cNvPr id="42" name="object 42"/>
            <p:cNvSpPr/>
            <p:nvPr/>
          </p:nvSpPr>
          <p:spPr>
            <a:xfrm>
              <a:off x="6737481" y="6480047"/>
              <a:ext cx="2247900" cy="251460"/>
            </a:xfrm>
            <a:custGeom>
              <a:avLst/>
              <a:gdLst/>
              <a:ahLst/>
              <a:cxnLst/>
              <a:rect l="l" t="t" r="r" b="b"/>
              <a:pathLst>
                <a:path w="2247900" h="251459">
                  <a:moveTo>
                    <a:pt x="2247899" y="251459"/>
                  </a:moveTo>
                  <a:lnTo>
                    <a:pt x="2247899" y="0"/>
                  </a:lnTo>
                  <a:lnTo>
                    <a:pt x="0" y="0"/>
                  </a:lnTo>
                  <a:lnTo>
                    <a:pt x="0" y="251459"/>
                  </a:lnTo>
                  <a:lnTo>
                    <a:pt x="2247899" y="25145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43" name="object 43"/>
            <p:cNvSpPr/>
            <p:nvPr/>
          </p:nvSpPr>
          <p:spPr>
            <a:xfrm>
              <a:off x="6732909" y="6475476"/>
              <a:ext cx="2257425" cy="260985"/>
            </a:xfrm>
            <a:custGeom>
              <a:avLst/>
              <a:gdLst/>
              <a:ahLst/>
              <a:cxnLst/>
              <a:rect l="l" t="t" r="r" b="b"/>
              <a:pathLst>
                <a:path w="2257425" h="260984">
                  <a:moveTo>
                    <a:pt x="2257044" y="260604"/>
                  </a:moveTo>
                  <a:lnTo>
                    <a:pt x="2257044" y="0"/>
                  </a:lnTo>
                  <a:lnTo>
                    <a:pt x="0" y="0"/>
                  </a:lnTo>
                  <a:lnTo>
                    <a:pt x="0" y="260604"/>
                  </a:lnTo>
                  <a:lnTo>
                    <a:pt x="4572" y="260604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2247900" y="9144"/>
                  </a:lnTo>
                  <a:lnTo>
                    <a:pt x="2247900" y="4572"/>
                  </a:lnTo>
                  <a:lnTo>
                    <a:pt x="2252472" y="9144"/>
                  </a:lnTo>
                  <a:lnTo>
                    <a:pt x="2252472" y="260604"/>
                  </a:lnTo>
                  <a:lnTo>
                    <a:pt x="2257044" y="260604"/>
                  </a:lnTo>
                  <a:close/>
                </a:path>
                <a:path w="2257425" h="260984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2257425" h="260984">
                  <a:moveTo>
                    <a:pt x="9144" y="251460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251460"/>
                  </a:lnTo>
                  <a:lnTo>
                    <a:pt x="9144" y="251460"/>
                  </a:lnTo>
                  <a:close/>
                </a:path>
                <a:path w="2257425" h="260984">
                  <a:moveTo>
                    <a:pt x="2252472" y="251460"/>
                  </a:moveTo>
                  <a:lnTo>
                    <a:pt x="4572" y="251460"/>
                  </a:lnTo>
                  <a:lnTo>
                    <a:pt x="9144" y="256032"/>
                  </a:lnTo>
                  <a:lnTo>
                    <a:pt x="9144" y="260604"/>
                  </a:lnTo>
                  <a:lnTo>
                    <a:pt x="2247900" y="260604"/>
                  </a:lnTo>
                  <a:lnTo>
                    <a:pt x="2247900" y="256032"/>
                  </a:lnTo>
                  <a:lnTo>
                    <a:pt x="2252472" y="251460"/>
                  </a:lnTo>
                  <a:close/>
                </a:path>
                <a:path w="2257425" h="260984">
                  <a:moveTo>
                    <a:pt x="9144" y="260604"/>
                  </a:moveTo>
                  <a:lnTo>
                    <a:pt x="9144" y="256032"/>
                  </a:lnTo>
                  <a:lnTo>
                    <a:pt x="4572" y="251460"/>
                  </a:lnTo>
                  <a:lnTo>
                    <a:pt x="4572" y="260604"/>
                  </a:lnTo>
                  <a:lnTo>
                    <a:pt x="9144" y="260604"/>
                  </a:lnTo>
                  <a:close/>
                </a:path>
                <a:path w="2257425" h="260984">
                  <a:moveTo>
                    <a:pt x="2252472" y="9144"/>
                  </a:moveTo>
                  <a:lnTo>
                    <a:pt x="2247900" y="4572"/>
                  </a:lnTo>
                  <a:lnTo>
                    <a:pt x="2247900" y="9144"/>
                  </a:lnTo>
                  <a:lnTo>
                    <a:pt x="2252472" y="9144"/>
                  </a:lnTo>
                  <a:close/>
                </a:path>
                <a:path w="2257425" h="260984">
                  <a:moveTo>
                    <a:pt x="2252472" y="251460"/>
                  </a:moveTo>
                  <a:lnTo>
                    <a:pt x="2252472" y="9144"/>
                  </a:lnTo>
                  <a:lnTo>
                    <a:pt x="2247900" y="9144"/>
                  </a:lnTo>
                  <a:lnTo>
                    <a:pt x="2247900" y="251460"/>
                  </a:lnTo>
                  <a:lnTo>
                    <a:pt x="2252472" y="251460"/>
                  </a:lnTo>
                  <a:close/>
                </a:path>
                <a:path w="2257425" h="260984">
                  <a:moveTo>
                    <a:pt x="2252472" y="260604"/>
                  </a:moveTo>
                  <a:lnTo>
                    <a:pt x="2252472" y="251460"/>
                  </a:lnTo>
                  <a:lnTo>
                    <a:pt x="2247900" y="256032"/>
                  </a:lnTo>
                  <a:lnTo>
                    <a:pt x="2247900" y="260604"/>
                  </a:lnTo>
                  <a:lnTo>
                    <a:pt x="2252472" y="26060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7358221" y="5881052"/>
            <a:ext cx="2040111" cy="209508"/>
          </a:xfrm>
          <a:prstGeom prst="rect">
            <a:avLst/>
          </a:prstGeom>
        </p:spPr>
        <p:txBody>
          <a:bodyPr vert="horz" wrap="square" lIns="0" tIns="41493" rIns="0" bIns="0" rtlCol="0">
            <a:spAutoFit/>
          </a:bodyPr>
          <a:lstStyle/>
          <a:p>
            <a:pPr marL="269721">
              <a:spcBef>
                <a:spcPts val="326"/>
              </a:spcBef>
            </a:pPr>
            <a:r>
              <a:rPr sz="1089" spc="-14" dirty="0">
                <a:solidFill>
                  <a:srgbClr val="FFFFFF"/>
                </a:solidFill>
                <a:latin typeface="Arial"/>
                <a:cs typeface="Arial"/>
              </a:rPr>
              <a:t>Validate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Field</a:t>
            </a:r>
            <a:r>
              <a:rPr sz="1089" spc="-4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Reliability</a:t>
            </a:r>
            <a:endParaRPr sz="1089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2470256" y="2688796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6" name="object 46"/>
          <p:cNvSpPr txBox="1"/>
          <p:nvPr/>
        </p:nvSpPr>
        <p:spPr>
          <a:xfrm>
            <a:off x="2670354" y="2627477"/>
            <a:ext cx="2558783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Determine the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</a:t>
            </a:r>
            <a:r>
              <a:rPr sz="1452" spc="-73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27" dirty="0">
                <a:solidFill>
                  <a:srgbClr val="000065"/>
                </a:solidFill>
                <a:latin typeface="Arial"/>
                <a:cs typeface="Arial"/>
              </a:rPr>
              <a:t>Target.</a:t>
            </a:r>
            <a:endParaRPr sz="1452">
              <a:latin typeface="Arial"/>
              <a:cs typeface="Arial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470256" y="3224067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8" name="object 48"/>
          <p:cNvSpPr txBox="1"/>
          <p:nvPr/>
        </p:nvSpPr>
        <p:spPr>
          <a:xfrm>
            <a:off x="2670354" y="3162746"/>
            <a:ext cx="3046911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Define a software operational</a:t>
            </a:r>
            <a:r>
              <a:rPr sz="1452" spc="32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Profile.</a:t>
            </a:r>
            <a:endParaRPr sz="1452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2470256" y="4604426"/>
            <a:ext cx="136929" cy="13831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0" name="object 50"/>
          <p:cNvSpPr txBox="1"/>
          <p:nvPr/>
        </p:nvSpPr>
        <p:spPr>
          <a:xfrm>
            <a:off x="2670354" y="4541722"/>
            <a:ext cx="3289534" cy="904891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 marR="4611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Conduct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modelling to measure  the software reliability – continuously  improve the software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until the  target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</a:t>
            </a:r>
            <a:r>
              <a:rPr sz="1452" spc="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reached.</a:t>
            </a:r>
            <a:endParaRPr sz="1452">
              <a:latin typeface="Arial"/>
              <a:cs typeface="Aria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484087" y="3760719"/>
            <a:ext cx="138313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grpSp>
        <p:nvGrpSpPr>
          <p:cNvPr id="52" name="object 52"/>
          <p:cNvGrpSpPr/>
          <p:nvPr/>
        </p:nvGrpSpPr>
        <p:grpSpPr>
          <a:xfrm>
            <a:off x="6484087" y="2106501"/>
            <a:ext cx="2844053" cy="3771900"/>
            <a:chOff x="5774314" y="2321052"/>
            <a:chExt cx="3133725" cy="4156075"/>
          </a:xfrm>
        </p:grpSpPr>
        <p:sp>
          <p:nvSpPr>
            <p:cNvPr id="53" name="object 53"/>
            <p:cNvSpPr/>
            <p:nvPr/>
          </p:nvSpPr>
          <p:spPr>
            <a:xfrm>
              <a:off x="6792346" y="2549652"/>
              <a:ext cx="2115820" cy="251460"/>
            </a:xfrm>
            <a:custGeom>
              <a:avLst/>
              <a:gdLst/>
              <a:ahLst/>
              <a:cxnLst/>
              <a:rect l="l" t="t" r="r" b="b"/>
              <a:pathLst>
                <a:path w="2115820" h="251460">
                  <a:moveTo>
                    <a:pt x="2115312" y="251460"/>
                  </a:moveTo>
                  <a:lnTo>
                    <a:pt x="2115312" y="0"/>
                  </a:lnTo>
                  <a:lnTo>
                    <a:pt x="0" y="0"/>
                  </a:lnTo>
                  <a:lnTo>
                    <a:pt x="0" y="251460"/>
                  </a:lnTo>
                  <a:lnTo>
                    <a:pt x="6096" y="251460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2106168" y="9144"/>
                  </a:lnTo>
                  <a:lnTo>
                    <a:pt x="2106168" y="4572"/>
                  </a:lnTo>
                  <a:lnTo>
                    <a:pt x="2110740" y="9144"/>
                  </a:lnTo>
                  <a:lnTo>
                    <a:pt x="2110740" y="251460"/>
                  </a:lnTo>
                  <a:lnTo>
                    <a:pt x="2115312" y="251460"/>
                  </a:lnTo>
                  <a:close/>
                </a:path>
                <a:path w="2115820" h="251460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2115820" h="251460">
                  <a:moveTo>
                    <a:pt x="10668" y="240792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240792"/>
                  </a:lnTo>
                  <a:lnTo>
                    <a:pt x="10668" y="240792"/>
                  </a:lnTo>
                  <a:close/>
                </a:path>
                <a:path w="2115820" h="251460">
                  <a:moveTo>
                    <a:pt x="2110740" y="240792"/>
                  </a:moveTo>
                  <a:lnTo>
                    <a:pt x="6096" y="240792"/>
                  </a:lnTo>
                  <a:lnTo>
                    <a:pt x="10668" y="245364"/>
                  </a:lnTo>
                  <a:lnTo>
                    <a:pt x="10668" y="251460"/>
                  </a:lnTo>
                  <a:lnTo>
                    <a:pt x="2106168" y="251460"/>
                  </a:lnTo>
                  <a:lnTo>
                    <a:pt x="2106168" y="245364"/>
                  </a:lnTo>
                  <a:lnTo>
                    <a:pt x="2110740" y="240792"/>
                  </a:lnTo>
                  <a:close/>
                </a:path>
                <a:path w="2115820" h="251460">
                  <a:moveTo>
                    <a:pt x="10668" y="251460"/>
                  </a:moveTo>
                  <a:lnTo>
                    <a:pt x="10668" y="245364"/>
                  </a:lnTo>
                  <a:lnTo>
                    <a:pt x="6096" y="240792"/>
                  </a:lnTo>
                  <a:lnTo>
                    <a:pt x="6096" y="251460"/>
                  </a:lnTo>
                  <a:lnTo>
                    <a:pt x="10668" y="251460"/>
                  </a:lnTo>
                  <a:close/>
                </a:path>
                <a:path w="2115820" h="251460">
                  <a:moveTo>
                    <a:pt x="2110740" y="9144"/>
                  </a:moveTo>
                  <a:lnTo>
                    <a:pt x="2106168" y="4572"/>
                  </a:lnTo>
                  <a:lnTo>
                    <a:pt x="2106168" y="9144"/>
                  </a:lnTo>
                  <a:lnTo>
                    <a:pt x="2110740" y="9144"/>
                  </a:lnTo>
                  <a:close/>
                </a:path>
                <a:path w="2115820" h="251460">
                  <a:moveTo>
                    <a:pt x="2110740" y="240792"/>
                  </a:moveTo>
                  <a:lnTo>
                    <a:pt x="2110740" y="9144"/>
                  </a:lnTo>
                  <a:lnTo>
                    <a:pt x="2106168" y="9144"/>
                  </a:lnTo>
                  <a:lnTo>
                    <a:pt x="2106168" y="240792"/>
                  </a:lnTo>
                  <a:lnTo>
                    <a:pt x="2110740" y="240792"/>
                  </a:lnTo>
                  <a:close/>
                </a:path>
                <a:path w="2115820" h="251460">
                  <a:moveTo>
                    <a:pt x="2110740" y="251460"/>
                  </a:moveTo>
                  <a:lnTo>
                    <a:pt x="2110740" y="240792"/>
                  </a:lnTo>
                  <a:lnTo>
                    <a:pt x="2106168" y="245364"/>
                  </a:lnTo>
                  <a:lnTo>
                    <a:pt x="2106168" y="251460"/>
                  </a:lnTo>
                  <a:lnTo>
                    <a:pt x="2110740" y="251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4" name="object 54"/>
            <p:cNvSpPr/>
            <p:nvPr/>
          </p:nvSpPr>
          <p:spPr>
            <a:xfrm>
              <a:off x="8224906" y="2321052"/>
              <a:ext cx="76200" cy="225552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5" name="object 55"/>
            <p:cNvSpPr/>
            <p:nvPr/>
          </p:nvSpPr>
          <p:spPr>
            <a:xfrm>
              <a:off x="5774309" y="3500640"/>
              <a:ext cx="2860675" cy="1138555"/>
            </a:xfrm>
            <a:custGeom>
              <a:avLst/>
              <a:gdLst/>
              <a:ahLst/>
              <a:cxnLst/>
              <a:rect l="l" t="t" r="r" b="b"/>
              <a:pathLst>
                <a:path w="2860675" h="1138554">
                  <a:moveTo>
                    <a:pt x="76200" y="528828"/>
                  </a:moveTo>
                  <a:lnTo>
                    <a:pt x="39624" y="452628"/>
                  </a:lnTo>
                  <a:lnTo>
                    <a:pt x="0" y="528828"/>
                  </a:lnTo>
                  <a:lnTo>
                    <a:pt x="33388" y="528828"/>
                  </a:lnTo>
                  <a:lnTo>
                    <a:pt x="27432" y="1138428"/>
                  </a:lnTo>
                  <a:lnTo>
                    <a:pt x="38100" y="1138428"/>
                  </a:lnTo>
                  <a:lnTo>
                    <a:pt x="42570" y="528828"/>
                  </a:lnTo>
                  <a:lnTo>
                    <a:pt x="76200" y="528828"/>
                  </a:lnTo>
                  <a:close/>
                </a:path>
                <a:path w="2860675" h="1138554">
                  <a:moveTo>
                    <a:pt x="2860548" y="0"/>
                  </a:moveTo>
                  <a:lnTo>
                    <a:pt x="2851404" y="0"/>
                  </a:lnTo>
                  <a:lnTo>
                    <a:pt x="2851404" y="9144"/>
                  </a:lnTo>
                  <a:lnTo>
                    <a:pt x="2851404" y="254508"/>
                  </a:lnTo>
                  <a:lnTo>
                    <a:pt x="1319784" y="254508"/>
                  </a:lnTo>
                  <a:lnTo>
                    <a:pt x="1319784" y="9144"/>
                  </a:lnTo>
                  <a:lnTo>
                    <a:pt x="2851404" y="9144"/>
                  </a:lnTo>
                  <a:lnTo>
                    <a:pt x="2851404" y="0"/>
                  </a:lnTo>
                  <a:lnTo>
                    <a:pt x="1310640" y="0"/>
                  </a:lnTo>
                  <a:lnTo>
                    <a:pt x="1310640" y="263652"/>
                  </a:lnTo>
                  <a:lnTo>
                    <a:pt x="1315212" y="263652"/>
                  </a:lnTo>
                  <a:lnTo>
                    <a:pt x="1319784" y="263652"/>
                  </a:lnTo>
                  <a:lnTo>
                    <a:pt x="2851404" y="263652"/>
                  </a:lnTo>
                  <a:lnTo>
                    <a:pt x="2855976" y="263652"/>
                  </a:lnTo>
                  <a:lnTo>
                    <a:pt x="2860548" y="263652"/>
                  </a:lnTo>
                  <a:lnTo>
                    <a:pt x="286054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6" name="object 56"/>
            <p:cNvSpPr/>
            <p:nvPr/>
          </p:nvSpPr>
          <p:spPr>
            <a:xfrm>
              <a:off x="7813426" y="2804160"/>
              <a:ext cx="76200" cy="2255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7" name="object 57"/>
            <p:cNvSpPr/>
            <p:nvPr/>
          </p:nvSpPr>
          <p:spPr>
            <a:xfrm>
              <a:off x="7813426" y="3279648"/>
              <a:ext cx="76200" cy="225552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8" name="object 58"/>
            <p:cNvSpPr/>
            <p:nvPr/>
          </p:nvSpPr>
          <p:spPr>
            <a:xfrm>
              <a:off x="7813426" y="3756660"/>
              <a:ext cx="76200" cy="2255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59" name="object 59"/>
            <p:cNvSpPr/>
            <p:nvPr/>
          </p:nvSpPr>
          <p:spPr>
            <a:xfrm>
              <a:off x="7819522" y="6251448"/>
              <a:ext cx="76200" cy="225552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0" name="object 60"/>
            <p:cNvSpPr/>
            <p:nvPr/>
          </p:nvSpPr>
          <p:spPr>
            <a:xfrm>
              <a:off x="7819522" y="4416552"/>
              <a:ext cx="76200" cy="24384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1" name="object 61"/>
            <p:cNvSpPr/>
            <p:nvPr/>
          </p:nvSpPr>
          <p:spPr>
            <a:xfrm>
              <a:off x="6798441" y="2554223"/>
              <a:ext cx="2105025" cy="241300"/>
            </a:xfrm>
            <a:custGeom>
              <a:avLst/>
              <a:gdLst/>
              <a:ahLst/>
              <a:cxnLst/>
              <a:rect l="l" t="t" r="r" b="b"/>
              <a:pathLst>
                <a:path w="2105025" h="241300">
                  <a:moveTo>
                    <a:pt x="2104643" y="240791"/>
                  </a:moveTo>
                  <a:lnTo>
                    <a:pt x="2104643" y="0"/>
                  </a:lnTo>
                  <a:lnTo>
                    <a:pt x="0" y="0"/>
                  </a:lnTo>
                  <a:lnTo>
                    <a:pt x="0" y="240791"/>
                  </a:lnTo>
                  <a:lnTo>
                    <a:pt x="2104643" y="240791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2" name="object 62"/>
            <p:cNvSpPr/>
            <p:nvPr/>
          </p:nvSpPr>
          <p:spPr>
            <a:xfrm>
              <a:off x="6792346" y="2549652"/>
              <a:ext cx="2115820" cy="251460"/>
            </a:xfrm>
            <a:custGeom>
              <a:avLst/>
              <a:gdLst/>
              <a:ahLst/>
              <a:cxnLst/>
              <a:rect l="l" t="t" r="r" b="b"/>
              <a:pathLst>
                <a:path w="2115820" h="251460">
                  <a:moveTo>
                    <a:pt x="2115312" y="251460"/>
                  </a:moveTo>
                  <a:lnTo>
                    <a:pt x="2115312" y="0"/>
                  </a:lnTo>
                  <a:lnTo>
                    <a:pt x="0" y="0"/>
                  </a:lnTo>
                  <a:lnTo>
                    <a:pt x="0" y="251460"/>
                  </a:lnTo>
                  <a:lnTo>
                    <a:pt x="6096" y="251460"/>
                  </a:lnTo>
                  <a:lnTo>
                    <a:pt x="6096" y="9144"/>
                  </a:lnTo>
                  <a:lnTo>
                    <a:pt x="10668" y="4572"/>
                  </a:lnTo>
                  <a:lnTo>
                    <a:pt x="10668" y="9144"/>
                  </a:lnTo>
                  <a:lnTo>
                    <a:pt x="2106168" y="9144"/>
                  </a:lnTo>
                  <a:lnTo>
                    <a:pt x="2106168" y="4572"/>
                  </a:lnTo>
                  <a:lnTo>
                    <a:pt x="2110740" y="9144"/>
                  </a:lnTo>
                  <a:lnTo>
                    <a:pt x="2110740" y="251460"/>
                  </a:lnTo>
                  <a:lnTo>
                    <a:pt x="2115312" y="251460"/>
                  </a:lnTo>
                  <a:close/>
                </a:path>
                <a:path w="2115820" h="251460">
                  <a:moveTo>
                    <a:pt x="10668" y="9144"/>
                  </a:moveTo>
                  <a:lnTo>
                    <a:pt x="10668" y="4572"/>
                  </a:lnTo>
                  <a:lnTo>
                    <a:pt x="6096" y="9144"/>
                  </a:lnTo>
                  <a:lnTo>
                    <a:pt x="10668" y="9144"/>
                  </a:lnTo>
                  <a:close/>
                </a:path>
                <a:path w="2115820" h="251460">
                  <a:moveTo>
                    <a:pt x="10668" y="240792"/>
                  </a:moveTo>
                  <a:lnTo>
                    <a:pt x="10668" y="9144"/>
                  </a:lnTo>
                  <a:lnTo>
                    <a:pt x="6096" y="9144"/>
                  </a:lnTo>
                  <a:lnTo>
                    <a:pt x="6096" y="240792"/>
                  </a:lnTo>
                  <a:lnTo>
                    <a:pt x="10668" y="240792"/>
                  </a:lnTo>
                  <a:close/>
                </a:path>
                <a:path w="2115820" h="251460">
                  <a:moveTo>
                    <a:pt x="2110740" y="240792"/>
                  </a:moveTo>
                  <a:lnTo>
                    <a:pt x="6096" y="240792"/>
                  </a:lnTo>
                  <a:lnTo>
                    <a:pt x="10668" y="245364"/>
                  </a:lnTo>
                  <a:lnTo>
                    <a:pt x="10668" y="251460"/>
                  </a:lnTo>
                  <a:lnTo>
                    <a:pt x="2106168" y="251460"/>
                  </a:lnTo>
                  <a:lnTo>
                    <a:pt x="2106168" y="245364"/>
                  </a:lnTo>
                  <a:lnTo>
                    <a:pt x="2110740" y="240792"/>
                  </a:lnTo>
                  <a:close/>
                </a:path>
                <a:path w="2115820" h="251460">
                  <a:moveTo>
                    <a:pt x="10668" y="251460"/>
                  </a:moveTo>
                  <a:lnTo>
                    <a:pt x="10668" y="245364"/>
                  </a:lnTo>
                  <a:lnTo>
                    <a:pt x="6096" y="240792"/>
                  </a:lnTo>
                  <a:lnTo>
                    <a:pt x="6096" y="251460"/>
                  </a:lnTo>
                  <a:lnTo>
                    <a:pt x="10668" y="251460"/>
                  </a:lnTo>
                  <a:close/>
                </a:path>
                <a:path w="2115820" h="251460">
                  <a:moveTo>
                    <a:pt x="2110740" y="9144"/>
                  </a:moveTo>
                  <a:lnTo>
                    <a:pt x="2106168" y="4572"/>
                  </a:lnTo>
                  <a:lnTo>
                    <a:pt x="2106168" y="9144"/>
                  </a:lnTo>
                  <a:lnTo>
                    <a:pt x="2110740" y="9144"/>
                  </a:lnTo>
                  <a:close/>
                </a:path>
                <a:path w="2115820" h="251460">
                  <a:moveTo>
                    <a:pt x="2110740" y="240792"/>
                  </a:moveTo>
                  <a:lnTo>
                    <a:pt x="2110740" y="9144"/>
                  </a:lnTo>
                  <a:lnTo>
                    <a:pt x="2106168" y="9144"/>
                  </a:lnTo>
                  <a:lnTo>
                    <a:pt x="2106168" y="240792"/>
                  </a:lnTo>
                  <a:lnTo>
                    <a:pt x="2110740" y="240792"/>
                  </a:lnTo>
                  <a:close/>
                </a:path>
                <a:path w="2115820" h="251460">
                  <a:moveTo>
                    <a:pt x="2110740" y="251460"/>
                  </a:moveTo>
                  <a:lnTo>
                    <a:pt x="2110740" y="240792"/>
                  </a:lnTo>
                  <a:lnTo>
                    <a:pt x="2106168" y="245364"/>
                  </a:lnTo>
                  <a:lnTo>
                    <a:pt x="2106168" y="251460"/>
                  </a:lnTo>
                  <a:lnTo>
                    <a:pt x="2110740" y="2514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63" name="object 63"/>
          <p:cNvSpPr txBox="1"/>
          <p:nvPr/>
        </p:nvSpPr>
        <p:spPr>
          <a:xfrm>
            <a:off x="2688334" y="3696633"/>
            <a:ext cx="2094283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Conduct code</a:t>
            </a:r>
            <a:r>
              <a:rPr sz="1452" spc="-5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inspection.</a:t>
            </a:r>
            <a:endParaRPr sz="1452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7413547" y="2318118"/>
            <a:ext cx="1910443" cy="186814"/>
          </a:xfrm>
          <a:prstGeom prst="rect">
            <a:avLst/>
          </a:prstGeom>
        </p:spPr>
        <p:txBody>
          <a:bodyPr vert="horz" wrap="square" lIns="0" tIns="19018" rIns="0" bIns="0" rtlCol="0">
            <a:spAutoFit/>
          </a:bodyPr>
          <a:lstStyle/>
          <a:p>
            <a:pPr marL="149268">
              <a:spcBef>
                <a:spcPts val="150"/>
              </a:spcBef>
            </a:pPr>
            <a:r>
              <a:rPr sz="1089" dirty="0">
                <a:solidFill>
                  <a:srgbClr val="FFFFFF"/>
                </a:solidFill>
                <a:latin typeface="Arial"/>
                <a:cs typeface="Arial"/>
              </a:rPr>
              <a:t>Perform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Code</a:t>
            </a:r>
            <a:r>
              <a:rPr sz="1089" spc="-5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Inspection</a:t>
            </a:r>
            <a:endParaRPr sz="1089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7484087" y="2738590"/>
            <a:ext cx="1780198" cy="239742"/>
            <a:chOff x="6876166" y="3017520"/>
            <a:chExt cx="1961514" cy="264160"/>
          </a:xfrm>
        </p:grpSpPr>
        <p:sp>
          <p:nvSpPr>
            <p:cNvPr id="66" name="object 66"/>
            <p:cNvSpPr/>
            <p:nvPr/>
          </p:nvSpPr>
          <p:spPr>
            <a:xfrm>
              <a:off x="6880737" y="3022091"/>
              <a:ext cx="1952625" cy="254635"/>
            </a:xfrm>
            <a:custGeom>
              <a:avLst/>
              <a:gdLst/>
              <a:ahLst/>
              <a:cxnLst/>
              <a:rect l="l" t="t" r="r" b="b"/>
              <a:pathLst>
                <a:path w="1952625" h="254635">
                  <a:moveTo>
                    <a:pt x="1952243" y="254507"/>
                  </a:moveTo>
                  <a:lnTo>
                    <a:pt x="1952243" y="0"/>
                  </a:lnTo>
                  <a:lnTo>
                    <a:pt x="0" y="0"/>
                  </a:lnTo>
                  <a:lnTo>
                    <a:pt x="0" y="254507"/>
                  </a:lnTo>
                  <a:lnTo>
                    <a:pt x="1952243" y="254507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  <p:sp>
          <p:nvSpPr>
            <p:cNvPr id="67" name="object 67"/>
            <p:cNvSpPr/>
            <p:nvPr/>
          </p:nvSpPr>
          <p:spPr>
            <a:xfrm>
              <a:off x="6876166" y="3017520"/>
              <a:ext cx="1961514" cy="264160"/>
            </a:xfrm>
            <a:custGeom>
              <a:avLst/>
              <a:gdLst/>
              <a:ahLst/>
              <a:cxnLst/>
              <a:rect l="l" t="t" r="r" b="b"/>
              <a:pathLst>
                <a:path w="1961515" h="264160">
                  <a:moveTo>
                    <a:pt x="1961388" y="263652"/>
                  </a:moveTo>
                  <a:lnTo>
                    <a:pt x="1961388" y="0"/>
                  </a:lnTo>
                  <a:lnTo>
                    <a:pt x="0" y="0"/>
                  </a:lnTo>
                  <a:lnTo>
                    <a:pt x="0" y="263652"/>
                  </a:lnTo>
                  <a:lnTo>
                    <a:pt x="4572" y="263652"/>
                  </a:lnTo>
                  <a:lnTo>
                    <a:pt x="4572" y="9144"/>
                  </a:lnTo>
                  <a:lnTo>
                    <a:pt x="9144" y="4572"/>
                  </a:lnTo>
                  <a:lnTo>
                    <a:pt x="9144" y="9144"/>
                  </a:lnTo>
                  <a:lnTo>
                    <a:pt x="1952244" y="9144"/>
                  </a:lnTo>
                  <a:lnTo>
                    <a:pt x="1952244" y="4572"/>
                  </a:lnTo>
                  <a:lnTo>
                    <a:pt x="1956816" y="9144"/>
                  </a:lnTo>
                  <a:lnTo>
                    <a:pt x="1956816" y="263652"/>
                  </a:lnTo>
                  <a:lnTo>
                    <a:pt x="1961388" y="263652"/>
                  </a:lnTo>
                  <a:close/>
                </a:path>
                <a:path w="1961515" h="264160">
                  <a:moveTo>
                    <a:pt x="9144" y="9144"/>
                  </a:moveTo>
                  <a:lnTo>
                    <a:pt x="9144" y="4572"/>
                  </a:lnTo>
                  <a:lnTo>
                    <a:pt x="4572" y="9144"/>
                  </a:lnTo>
                  <a:lnTo>
                    <a:pt x="9144" y="9144"/>
                  </a:lnTo>
                  <a:close/>
                </a:path>
                <a:path w="1961515" h="264160">
                  <a:moveTo>
                    <a:pt x="9144" y="254508"/>
                  </a:moveTo>
                  <a:lnTo>
                    <a:pt x="9144" y="9144"/>
                  </a:lnTo>
                  <a:lnTo>
                    <a:pt x="4572" y="9144"/>
                  </a:lnTo>
                  <a:lnTo>
                    <a:pt x="4572" y="254508"/>
                  </a:lnTo>
                  <a:lnTo>
                    <a:pt x="9144" y="254508"/>
                  </a:lnTo>
                  <a:close/>
                </a:path>
                <a:path w="1961515" h="264160">
                  <a:moveTo>
                    <a:pt x="1956816" y="254508"/>
                  </a:moveTo>
                  <a:lnTo>
                    <a:pt x="4572" y="254508"/>
                  </a:lnTo>
                  <a:lnTo>
                    <a:pt x="9144" y="259080"/>
                  </a:lnTo>
                  <a:lnTo>
                    <a:pt x="9144" y="263652"/>
                  </a:lnTo>
                  <a:lnTo>
                    <a:pt x="1952244" y="263652"/>
                  </a:lnTo>
                  <a:lnTo>
                    <a:pt x="1952244" y="259080"/>
                  </a:lnTo>
                  <a:lnTo>
                    <a:pt x="1956816" y="254508"/>
                  </a:lnTo>
                  <a:close/>
                </a:path>
                <a:path w="1961515" h="264160">
                  <a:moveTo>
                    <a:pt x="9144" y="263652"/>
                  </a:moveTo>
                  <a:lnTo>
                    <a:pt x="9144" y="259080"/>
                  </a:lnTo>
                  <a:lnTo>
                    <a:pt x="4572" y="254508"/>
                  </a:lnTo>
                  <a:lnTo>
                    <a:pt x="4572" y="263652"/>
                  </a:lnTo>
                  <a:lnTo>
                    <a:pt x="9144" y="263652"/>
                  </a:lnTo>
                  <a:close/>
                </a:path>
                <a:path w="1961515" h="264160">
                  <a:moveTo>
                    <a:pt x="1956816" y="9144"/>
                  </a:moveTo>
                  <a:lnTo>
                    <a:pt x="1952244" y="4572"/>
                  </a:lnTo>
                  <a:lnTo>
                    <a:pt x="1952244" y="9144"/>
                  </a:lnTo>
                  <a:lnTo>
                    <a:pt x="1956816" y="9144"/>
                  </a:lnTo>
                  <a:close/>
                </a:path>
                <a:path w="1961515" h="264160">
                  <a:moveTo>
                    <a:pt x="1956816" y="254508"/>
                  </a:moveTo>
                  <a:lnTo>
                    <a:pt x="1956816" y="9144"/>
                  </a:lnTo>
                  <a:lnTo>
                    <a:pt x="1952244" y="9144"/>
                  </a:lnTo>
                  <a:lnTo>
                    <a:pt x="1952244" y="254508"/>
                  </a:lnTo>
                  <a:lnTo>
                    <a:pt x="1956816" y="254508"/>
                  </a:lnTo>
                  <a:close/>
                </a:path>
                <a:path w="1961515" h="264160">
                  <a:moveTo>
                    <a:pt x="1956816" y="263652"/>
                  </a:moveTo>
                  <a:lnTo>
                    <a:pt x="1956816" y="254508"/>
                  </a:lnTo>
                  <a:lnTo>
                    <a:pt x="1952244" y="259080"/>
                  </a:lnTo>
                  <a:lnTo>
                    <a:pt x="1952244" y="263652"/>
                  </a:lnTo>
                  <a:lnTo>
                    <a:pt x="1956816" y="26365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34"/>
            </a:p>
          </p:txBody>
        </p:sp>
      </p:grpSp>
      <p:sp>
        <p:nvSpPr>
          <p:cNvPr id="68" name="object 68"/>
          <p:cNvSpPr txBox="1"/>
          <p:nvPr/>
        </p:nvSpPr>
        <p:spPr>
          <a:xfrm>
            <a:off x="7488237" y="2742738"/>
            <a:ext cx="1772130" cy="203690"/>
          </a:xfrm>
          <a:prstGeom prst="rect">
            <a:avLst/>
          </a:prstGeom>
        </p:spPr>
        <p:txBody>
          <a:bodyPr vert="horz" wrap="square" lIns="0" tIns="35731" rIns="0" bIns="0" rtlCol="0">
            <a:spAutoFit/>
          </a:bodyPr>
          <a:lstStyle/>
          <a:p>
            <a:pPr marL="102010">
              <a:spcBef>
                <a:spcPts val="281"/>
              </a:spcBef>
            </a:pPr>
            <a:r>
              <a:rPr sz="1089" dirty="0">
                <a:solidFill>
                  <a:srgbClr val="FFFFFF"/>
                </a:solidFill>
                <a:latin typeface="Arial"/>
                <a:cs typeface="Arial"/>
              </a:rPr>
              <a:t>Perform </a:t>
            </a:r>
            <a:r>
              <a:rPr sz="1089" spc="-5" dirty="0">
                <a:solidFill>
                  <a:srgbClr val="FFFFFF"/>
                </a:solidFill>
                <a:latin typeface="Arial"/>
                <a:cs typeface="Arial"/>
              </a:rPr>
              <a:t>Software</a:t>
            </a:r>
            <a:r>
              <a:rPr sz="1089" spc="-9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89" spc="-18" dirty="0">
                <a:solidFill>
                  <a:srgbClr val="FFFFFF"/>
                </a:solidFill>
                <a:latin typeface="Arial"/>
                <a:cs typeface="Arial"/>
              </a:rPr>
              <a:t>Testing</a:t>
            </a:r>
            <a:endParaRPr sz="1089">
              <a:latin typeface="Arial"/>
              <a:cs typeface="Arial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2484087" y="4163210"/>
            <a:ext cx="138313" cy="13692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0" name="object 70"/>
          <p:cNvSpPr txBox="1"/>
          <p:nvPr/>
        </p:nvSpPr>
        <p:spPr>
          <a:xfrm>
            <a:off x="2688334" y="4100506"/>
            <a:ext cx="2075842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Perform software</a:t>
            </a:r>
            <a:r>
              <a:rPr sz="1452" spc="23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testing.</a:t>
            </a:r>
            <a:endParaRPr sz="1452">
              <a:latin typeface="Arial"/>
              <a:cs typeface="Arial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2457807" y="5668050"/>
            <a:ext cx="138313" cy="1383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2" name="object 72"/>
          <p:cNvSpPr txBox="1"/>
          <p:nvPr/>
        </p:nvSpPr>
        <p:spPr>
          <a:xfrm>
            <a:off x="2660672" y="5606729"/>
            <a:ext cx="2070655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Field reliability</a:t>
            </a:r>
            <a:r>
              <a:rPr sz="1452" spc="-5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validation.</a:t>
            </a:r>
            <a:endParaRPr sz="1452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985706" y="332578"/>
            <a:ext cx="2110996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SRE</a:t>
            </a:r>
            <a:r>
              <a:rPr spc="-86" dirty="0"/>
              <a:t> </a:t>
            </a:r>
            <a:r>
              <a:rPr spc="-5" dirty="0"/>
              <a:t>Terms</a:t>
            </a:r>
          </a:p>
        </p:txBody>
      </p:sp>
      <p:sp>
        <p:nvSpPr>
          <p:cNvPr id="3" name="object 3"/>
          <p:cNvSpPr/>
          <p:nvPr/>
        </p:nvSpPr>
        <p:spPr>
          <a:xfrm>
            <a:off x="2110643" y="1300139"/>
            <a:ext cx="149378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110643" y="1712310"/>
            <a:ext cx="149378" cy="152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24613" y="4329185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24613" y="4661134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424613" y="4993085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424613" y="5325036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2103728" y="2896265"/>
            <a:ext cx="147994" cy="152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/>
          <p:nvPr/>
        </p:nvSpPr>
        <p:spPr>
          <a:xfrm>
            <a:off x="2110643" y="5804981"/>
            <a:ext cx="149378" cy="1549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1" name="object 11"/>
          <p:cNvSpPr txBox="1"/>
          <p:nvPr/>
        </p:nvSpPr>
        <p:spPr>
          <a:xfrm>
            <a:off x="2306587" y="1230521"/>
            <a:ext cx="7692486" cy="505032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9595">
              <a:spcBef>
                <a:spcPts val="91"/>
              </a:spcBef>
            </a:pPr>
            <a:r>
              <a:rPr sz="1634" b="1" spc="-5" dirty="0">
                <a:solidFill>
                  <a:srgbClr val="0000FF"/>
                </a:solidFill>
                <a:latin typeface="Arial"/>
                <a:cs typeface="Arial"/>
              </a:rPr>
              <a:t>Reliability </a:t>
            </a:r>
            <a:r>
              <a:rPr sz="1634" b="1" spc="-9" dirty="0">
                <a:solidFill>
                  <a:srgbClr val="0000FF"/>
                </a:solidFill>
                <a:latin typeface="Arial"/>
                <a:cs typeface="Arial"/>
              </a:rPr>
              <a:t>objective: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The product’s </a:t>
            </a:r>
            <a:r>
              <a:rPr sz="1452" dirty="0">
                <a:solidFill>
                  <a:schemeClr val="bg1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goal from the </a:t>
            </a:r>
            <a:r>
              <a:rPr sz="1452" dirty="0">
                <a:solidFill>
                  <a:schemeClr val="bg1"/>
                </a:solidFill>
                <a:latin typeface="Arial"/>
                <a:cs typeface="Arial"/>
              </a:rPr>
              <a:t>customer’s</a:t>
            </a:r>
            <a:r>
              <a:rPr sz="1452" spc="86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viewpoint.</a:t>
            </a:r>
            <a:endParaRPr sz="1452" dirty="0">
              <a:solidFill>
                <a:schemeClr val="bg1"/>
              </a:solidFill>
              <a:latin typeface="Arial"/>
              <a:cs typeface="Arial"/>
            </a:endParaRPr>
          </a:p>
          <a:p>
            <a:pPr marL="19595" marR="857573">
              <a:spcBef>
                <a:spcPts val="1271"/>
              </a:spcBef>
            </a:pP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Operational profile: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A set of system operational scenarios with their associated  probability of</a:t>
            </a:r>
            <a:r>
              <a:rPr sz="1452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occurrence.</a:t>
            </a:r>
            <a:endParaRPr sz="1452" dirty="0">
              <a:solidFill>
                <a:schemeClr val="bg1"/>
              </a:solidFill>
              <a:latin typeface="Arial"/>
              <a:cs typeface="Arial"/>
            </a:endParaRPr>
          </a:p>
          <a:p>
            <a:pPr marL="19595" marR="522151">
              <a:spcBef>
                <a:spcPts val="998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This encourages testers to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select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test cases according to the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system’s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likely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operational  usage.</a:t>
            </a:r>
            <a:endParaRPr sz="1452" dirty="0">
              <a:latin typeface="Arial"/>
              <a:cs typeface="Arial"/>
            </a:endParaRPr>
          </a:p>
          <a:p>
            <a:pPr marL="11527" marR="338880">
              <a:spcBef>
                <a:spcPts val="1139"/>
              </a:spcBef>
            </a:pPr>
            <a:r>
              <a:rPr sz="1634" b="1" spc="-5" dirty="0">
                <a:solidFill>
                  <a:srgbClr val="0000FF"/>
                </a:solidFill>
                <a:latin typeface="Arial"/>
                <a:cs typeface="Arial"/>
              </a:rPr>
              <a:t>Reliability modeling: </a:t>
            </a:r>
            <a:r>
              <a:rPr sz="1452" spc="-5" dirty="0">
                <a:latin typeface="Arial"/>
                <a:cs typeface="Arial"/>
              </a:rPr>
              <a:t>This </a:t>
            </a:r>
            <a:r>
              <a:rPr sz="1452" dirty="0">
                <a:latin typeface="Arial"/>
                <a:cs typeface="Arial"/>
              </a:rPr>
              <a:t>is </a:t>
            </a:r>
            <a:r>
              <a:rPr sz="1452" spc="-5" dirty="0">
                <a:latin typeface="Arial"/>
                <a:cs typeface="Arial"/>
              </a:rPr>
              <a:t>an essential element of SRE that determines whether the  product meets </a:t>
            </a:r>
            <a:r>
              <a:rPr sz="1452" dirty="0">
                <a:latin typeface="Arial"/>
                <a:cs typeface="Arial"/>
              </a:rPr>
              <a:t>its reliability objective.</a:t>
            </a:r>
          </a:p>
          <a:p>
            <a:pPr marL="19595" marR="4611">
              <a:spcBef>
                <a:spcPts val="930"/>
              </a:spcBef>
            </a:pP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One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or more models can be used to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calculate,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from failure data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collected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during system  testing, various estimates of a product’s reliability as a function of test time. It can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also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provide  the following information: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271" dirty="0">
              <a:latin typeface="Arial"/>
              <a:cs typeface="Arial"/>
            </a:endParaRPr>
          </a:p>
          <a:p>
            <a:pPr marL="331964">
              <a:spcBef>
                <a:spcPts val="5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Product reliability at the end of various test</a:t>
            </a:r>
            <a:r>
              <a:rPr sz="1452" spc="6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phases.</a:t>
            </a:r>
            <a:endParaRPr sz="1452" dirty="0">
              <a:latin typeface="Arial"/>
              <a:cs typeface="Arial"/>
            </a:endParaRPr>
          </a:p>
          <a:p>
            <a:pPr marL="331964" marR="772853">
              <a:lnSpc>
                <a:spcPct val="150000"/>
              </a:lnSpc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Amount of additional test time required to reach the product’s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objective. 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reliability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growth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still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required (ratio of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initial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to target</a:t>
            </a:r>
            <a:r>
              <a:rPr sz="1452" spc="12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reliability).</a:t>
            </a:r>
            <a:endParaRPr sz="1452" dirty="0">
              <a:latin typeface="Arial"/>
              <a:cs typeface="Arial"/>
            </a:endParaRPr>
          </a:p>
          <a:p>
            <a:pPr marL="331964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Prediction of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field</a:t>
            </a:r>
            <a:r>
              <a:rPr sz="1452" spc="-14" dirty="0">
                <a:solidFill>
                  <a:srgbClr val="000065"/>
                </a:solidFill>
                <a:latin typeface="Arial"/>
                <a:cs typeface="Arial"/>
              </a:rPr>
              <a:t> reliability.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1724" dirty="0">
              <a:latin typeface="Arial"/>
              <a:cs typeface="Arial"/>
            </a:endParaRPr>
          </a:p>
          <a:p>
            <a:pPr marL="19595" marR="359051"/>
            <a:r>
              <a:rPr sz="1634" b="1" spc="-5" dirty="0">
                <a:solidFill>
                  <a:srgbClr val="0000FF"/>
                </a:solidFill>
                <a:latin typeface="Arial"/>
                <a:cs typeface="Arial"/>
              </a:rPr>
              <a:t>Field Reliability </a:t>
            </a:r>
            <a:r>
              <a:rPr sz="1634" b="1" spc="-9" dirty="0">
                <a:solidFill>
                  <a:srgbClr val="0000FF"/>
                </a:solidFill>
                <a:latin typeface="Arial"/>
                <a:cs typeface="Arial"/>
              </a:rPr>
              <a:t>Validation: </a:t>
            </a:r>
            <a:r>
              <a:rPr sz="1452" spc="-5" dirty="0">
                <a:latin typeface="Arial"/>
                <a:cs typeface="Arial"/>
              </a:rPr>
              <a:t>Determination of whether the actual </a:t>
            </a:r>
            <a:r>
              <a:rPr sz="1452" dirty="0">
                <a:latin typeface="Arial"/>
                <a:cs typeface="Arial"/>
              </a:rPr>
              <a:t>field </a:t>
            </a:r>
            <a:r>
              <a:rPr sz="1452" spc="-5" dirty="0">
                <a:latin typeface="Arial"/>
                <a:cs typeface="Arial"/>
              </a:rPr>
              <a:t>reliability meets  the </a:t>
            </a:r>
            <a:r>
              <a:rPr sz="1452" dirty="0">
                <a:latin typeface="Arial"/>
                <a:cs typeface="Arial"/>
              </a:rPr>
              <a:t>customer’s</a:t>
            </a:r>
            <a:r>
              <a:rPr sz="1452" spc="14" dirty="0">
                <a:latin typeface="Arial"/>
                <a:cs typeface="Arial"/>
              </a:rPr>
              <a:t> </a:t>
            </a:r>
            <a:r>
              <a:rPr sz="1452" spc="-5" dirty="0">
                <a:latin typeface="Arial"/>
                <a:cs typeface="Arial"/>
              </a:rPr>
              <a:t>target.</a:t>
            </a:r>
            <a:endParaRPr sz="1452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34998" y="488979"/>
            <a:ext cx="8244418" cy="565055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9" dirty="0"/>
              <a:t>Software </a:t>
            </a:r>
            <a:r>
              <a:rPr spc="-5" dirty="0"/>
              <a:t>Reliability</a:t>
            </a:r>
            <a:r>
              <a:rPr spc="23" dirty="0"/>
              <a:t> </a:t>
            </a:r>
            <a:r>
              <a:rPr spc="-5" dirty="0"/>
              <a:t>Objectives</a:t>
            </a:r>
          </a:p>
        </p:txBody>
      </p:sp>
      <p:sp>
        <p:nvSpPr>
          <p:cNvPr id="3" name="object 3"/>
          <p:cNvSpPr/>
          <p:nvPr/>
        </p:nvSpPr>
        <p:spPr>
          <a:xfrm>
            <a:off x="2217144" y="1406640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450892" y="1817427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50892" y="2149377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450892" y="2704012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4427378" y="3854773"/>
            <a:ext cx="2459659" cy="16713"/>
          </a:xfrm>
          <a:custGeom>
            <a:avLst/>
            <a:gdLst/>
            <a:ahLst/>
            <a:cxnLst/>
            <a:rect l="l" t="t" r="r" b="b"/>
            <a:pathLst>
              <a:path w="2710179" h="18414">
                <a:moveTo>
                  <a:pt x="2709671" y="18287"/>
                </a:moveTo>
                <a:lnTo>
                  <a:pt x="2709671" y="0"/>
                </a:lnTo>
                <a:lnTo>
                  <a:pt x="0" y="0"/>
                </a:lnTo>
                <a:lnTo>
                  <a:pt x="0" y="18287"/>
                </a:lnTo>
                <a:lnTo>
                  <a:pt x="2709671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217144" y="4412171"/>
            <a:ext cx="147994" cy="156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2473022" y="4789765"/>
            <a:ext cx="136929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/>
          <p:nvPr/>
        </p:nvSpPr>
        <p:spPr>
          <a:xfrm>
            <a:off x="2473022" y="5121715"/>
            <a:ext cx="136929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1" name="object 11"/>
          <p:cNvSpPr/>
          <p:nvPr/>
        </p:nvSpPr>
        <p:spPr>
          <a:xfrm>
            <a:off x="2473022" y="5453666"/>
            <a:ext cx="136929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/>
          <p:nvPr/>
        </p:nvSpPr>
        <p:spPr>
          <a:xfrm>
            <a:off x="2473022" y="5785616"/>
            <a:ext cx="136929" cy="1369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 txBox="1"/>
          <p:nvPr/>
        </p:nvSpPr>
        <p:spPr>
          <a:xfrm>
            <a:off x="2418625" y="1335638"/>
            <a:ext cx="6645343" cy="464617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Reliability target(s) should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be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defined and used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 to:</a:t>
            </a:r>
            <a:endParaRPr sz="1634" dirty="0">
              <a:solidFill>
                <a:schemeClr val="bg1"/>
              </a:solidFill>
              <a:latin typeface="Arial"/>
              <a:cs typeface="Arial"/>
            </a:endParaRPr>
          </a:p>
          <a:p>
            <a:pPr marL="246091">
              <a:spcBef>
                <a:spcPts val="1334"/>
              </a:spcBef>
            </a:pP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Manage customer</a:t>
            </a:r>
            <a:r>
              <a:rPr sz="1452" spc="14" dirty="0">
                <a:solidFill>
                  <a:schemeClr val="bg1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chemeClr val="bg1"/>
                </a:solidFill>
                <a:latin typeface="Arial"/>
                <a:cs typeface="Arial"/>
              </a:rPr>
              <a:t>expectations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.</a:t>
            </a:r>
            <a:endParaRPr sz="1452" dirty="0">
              <a:latin typeface="Arial"/>
              <a:cs typeface="Arial"/>
            </a:endParaRPr>
          </a:p>
          <a:p>
            <a:pPr marL="246091" marR="922122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Determine how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growth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can and will be tracked throughout  the</a:t>
            </a:r>
            <a:r>
              <a:rPr sz="1452" spc="5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program.</a:t>
            </a:r>
            <a:endParaRPr sz="1452" dirty="0">
              <a:latin typeface="Arial"/>
              <a:cs typeface="Arial"/>
            </a:endParaRPr>
          </a:p>
          <a:p>
            <a:pPr marL="246091" marR="1352061">
              <a:spcBef>
                <a:spcPts val="87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Determine availability targets. Software reliability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commonly  expressed as an availability metric though rather than as a  probabilistic reliability metric. This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defined</a:t>
            </a:r>
            <a:r>
              <a:rPr sz="1452" spc="-27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as: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9"/>
              </a:spcBef>
            </a:pPr>
            <a:endParaRPr sz="1906" dirty="0">
              <a:latin typeface="Arial"/>
              <a:cs typeface="Arial"/>
            </a:endParaRPr>
          </a:p>
          <a:p>
            <a:pPr marR="459908" algn="ctr">
              <a:lnSpc>
                <a:spcPts val="1529"/>
              </a:lnSpc>
            </a:pPr>
            <a:r>
              <a:rPr sz="1452" b="1" dirty="0">
                <a:latin typeface="Arial"/>
                <a:cs typeface="Arial"/>
              </a:rPr>
              <a:t>Software</a:t>
            </a:r>
            <a:r>
              <a:rPr sz="1452" b="1" spc="-18" dirty="0">
                <a:latin typeface="Arial"/>
                <a:cs typeface="Arial"/>
              </a:rPr>
              <a:t> </a:t>
            </a:r>
            <a:r>
              <a:rPr sz="1452" b="1" spc="-9" dirty="0">
                <a:latin typeface="Arial"/>
                <a:cs typeface="Arial"/>
              </a:rPr>
              <a:t>uptime</a:t>
            </a:r>
            <a:endParaRPr sz="1452" dirty="0">
              <a:latin typeface="Arial"/>
              <a:cs typeface="Arial"/>
            </a:endParaRPr>
          </a:p>
          <a:p>
            <a:pPr marR="4053877" algn="ctr">
              <a:lnSpc>
                <a:spcPts val="1284"/>
              </a:lnSpc>
            </a:pPr>
            <a:r>
              <a:rPr sz="1452" b="1" spc="-9" dirty="0">
                <a:latin typeface="Arial"/>
                <a:cs typeface="Arial"/>
              </a:rPr>
              <a:t>Availability</a:t>
            </a:r>
            <a:r>
              <a:rPr sz="1452" b="1" spc="41" dirty="0">
                <a:latin typeface="Arial"/>
                <a:cs typeface="Arial"/>
              </a:rPr>
              <a:t> </a:t>
            </a:r>
            <a:r>
              <a:rPr sz="1452" b="1" spc="-5" dirty="0">
                <a:latin typeface="Arial"/>
                <a:cs typeface="Arial"/>
              </a:rPr>
              <a:t>=</a:t>
            </a:r>
            <a:endParaRPr sz="1452" dirty="0">
              <a:latin typeface="Arial"/>
              <a:cs typeface="Arial"/>
            </a:endParaRPr>
          </a:p>
          <a:p>
            <a:pPr marR="140624" algn="ctr">
              <a:lnSpc>
                <a:spcPts val="1498"/>
              </a:lnSpc>
            </a:pPr>
            <a:r>
              <a:rPr sz="1452" b="1" dirty="0">
                <a:latin typeface="Arial"/>
                <a:cs typeface="Arial"/>
              </a:rPr>
              <a:t>Software </a:t>
            </a:r>
            <a:r>
              <a:rPr sz="1452" b="1" spc="-9" dirty="0">
                <a:latin typeface="Arial"/>
                <a:cs typeface="Arial"/>
              </a:rPr>
              <a:t>uptime </a:t>
            </a:r>
            <a:r>
              <a:rPr sz="1452" b="1" spc="-5" dirty="0">
                <a:latin typeface="Arial"/>
                <a:cs typeface="Arial"/>
              </a:rPr>
              <a:t>+</a:t>
            </a:r>
            <a:r>
              <a:rPr sz="1452" b="1" spc="36" dirty="0">
                <a:latin typeface="Arial"/>
                <a:cs typeface="Arial"/>
              </a:rPr>
              <a:t> </a:t>
            </a:r>
            <a:r>
              <a:rPr sz="1452" b="1" spc="-5" dirty="0">
                <a:latin typeface="Arial"/>
                <a:cs typeface="Arial"/>
              </a:rPr>
              <a:t>downtime</a:t>
            </a:r>
            <a:endParaRPr sz="1452" dirty="0">
              <a:latin typeface="Arial"/>
              <a:cs typeface="Arial"/>
            </a:endParaRPr>
          </a:p>
          <a:p>
            <a:pPr>
              <a:spcBef>
                <a:spcPts val="23"/>
              </a:spcBef>
            </a:pPr>
            <a:endParaRPr sz="1452" dirty="0">
              <a:latin typeface="Arial"/>
              <a:cs typeface="Arial"/>
            </a:endParaRPr>
          </a:p>
          <a:p>
            <a:pPr marL="12679"/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5" dirty="0">
                <a:latin typeface="Arial"/>
                <a:cs typeface="Arial"/>
              </a:rPr>
              <a:t>data collection and analysis methodology also has </a:t>
            </a:r>
            <a:r>
              <a:rPr sz="1634" b="1" dirty="0">
                <a:latin typeface="Arial"/>
                <a:cs typeface="Arial"/>
              </a:rPr>
              <a:t>to be</a:t>
            </a:r>
            <a:r>
              <a:rPr sz="1634" b="1" spc="-14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defined:</a:t>
            </a:r>
            <a:endParaRPr sz="1634" dirty="0">
              <a:latin typeface="Arial"/>
              <a:cs typeface="Arial"/>
            </a:endParaRPr>
          </a:p>
          <a:p>
            <a:pPr marL="266839" marR="3514435">
              <a:lnSpc>
                <a:spcPct val="150000"/>
              </a:lnSpc>
              <a:spcBef>
                <a:spcPts val="182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How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inspections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will be</a:t>
            </a:r>
            <a:r>
              <a:rPr sz="1452" spc="-5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conducted.  How failure data will be</a:t>
            </a:r>
            <a:r>
              <a:rPr sz="1452" spc="-18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collected.</a:t>
            </a:r>
            <a:endParaRPr sz="1452" dirty="0">
              <a:latin typeface="Arial"/>
              <a:cs typeface="Arial"/>
            </a:endParaRPr>
          </a:p>
          <a:p>
            <a:pPr marL="266839" marR="1379148">
              <a:lnSpc>
                <a:spcPct val="150000"/>
              </a:lnSpc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How the data will be analyzed, i.e.,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what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model will be used?  This helps project managers track metrics and plan</a:t>
            </a:r>
            <a:r>
              <a:rPr sz="1452" spc="118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resource.</a:t>
            </a:r>
            <a:endParaRPr sz="1452" dirty="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8318112" y="1475796"/>
            <a:ext cx="1651452" cy="142876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4252" y="204103"/>
            <a:ext cx="9543570" cy="1457574"/>
          </a:xfrm>
          <a:prstGeom prst="rect">
            <a:avLst/>
          </a:prstGeom>
        </p:spPr>
        <p:txBody>
          <a:bodyPr vert="horz" wrap="square" lIns="0" tIns="102358" rIns="0" bIns="0" rtlCol="0" anchor="ctr">
            <a:spAutoFit/>
          </a:bodyPr>
          <a:lstStyle/>
          <a:p>
            <a:pPr marL="2473015" marR="4611" indent="-1828682">
              <a:lnSpc>
                <a:spcPct val="100000"/>
              </a:lnSpc>
              <a:spcBef>
                <a:spcPts val="86"/>
              </a:spcBef>
            </a:pPr>
            <a:r>
              <a:rPr spc="-9" dirty="0"/>
              <a:t>Software </a:t>
            </a:r>
            <a:r>
              <a:rPr spc="-5" dirty="0"/>
              <a:t>Availability and Failure  Intensity </a:t>
            </a:r>
            <a:r>
              <a:rPr sz="1634" dirty="0">
                <a:latin typeface="Arial"/>
                <a:cs typeface="Arial"/>
              </a:rPr>
              <a:t>(1 </a:t>
            </a:r>
            <a:r>
              <a:rPr sz="1634" spc="-5" dirty="0">
                <a:latin typeface="Arial"/>
                <a:cs typeface="Arial"/>
              </a:rPr>
              <a:t>of</a:t>
            </a:r>
            <a:r>
              <a:rPr sz="1634" spc="18" dirty="0">
                <a:latin typeface="Arial"/>
                <a:cs typeface="Arial"/>
              </a:rPr>
              <a:t> </a:t>
            </a:r>
            <a:r>
              <a:rPr sz="1634" spc="-5" dirty="0">
                <a:latin typeface="Arial"/>
                <a:cs typeface="Arial"/>
              </a:rPr>
              <a:t>2)</a:t>
            </a:r>
            <a:endParaRPr sz="1634">
              <a:latin typeface="Arial"/>
              <a:cs typeface="Arial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217144" y="2085755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/>
          <p:nvPr/>
        </p:nvSpPr>
        <p:spPr>
          <a:xfrm>
            <a:off x="2492386" y="3662518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5" name="object 5"/>
          <p:cNvSpPr/>
          <p:nvPr/>
        </p:nvSpPr>
        <p:spPr>
          <a:xfrm>
            <a:off x="2492386" y="3994467"/>
            <a:ext cx="132780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2208845" y="3304288"/>
            <a:ext cx="145228" cy="1549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217144" y="4394191"/>
            <a:ext cx="147994" cy="152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/>
          <p:nvPr/>
        </p:nvSpPr>
        <p:spPr>
          <a:xfrm>
            <a:off x="2212995" y="2699862"/>
            <a:ext cx="147994" cy="1521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9" name="object 9"/>
          <p:cNvSpPr/>
          <p:nvPr/>
        </p:nvSpPr>
        <p:spPr>
          <a:xfrm>
            <a:off x="2217144" y="5016598"/>
            <a:ext cx="147994" cy="1521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0" name="object 10"/>
          <p:cNvSpPr txBox="1"/>
          <p:nvPr/>
        </p:nvSpPr>
        <p:spPr>
          <a:xfrm>
            <a:off x="2776783" y="1944532"/>
            <a:ext cx="7998508" cy="3709830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9595" marR="927885">
              <a:spcBef>
                <a:spcPts val="91"/>
              </a:spcBef>
            </a:pPr>
            <a:r>
              <a:rPr sz="1634" b="1" spc="-27" dirty="0">
                <a:latin typeface="Arial"/>
                <a:cs typeface="Arial"/>
              </a:rPr>
              <a:t>As </a:t>
            </a:r>
            <a:r>
              <a:rPr sz="1634" b="1" spc="-5" dirty="0">
                <a:latin typeface="Arial"/>
                <a:cs typeface="Arial"/>
              </a:rPr>
              <a:t>mentioned </a:t>
            </a:r>
            <a:r>
              <a:rPr sz="1634" b="1" spc="-18" dirty="0">
                <a:latin typeface="Arial"/>
                <a:cs typeface="Arial"/>
              </a:rPr>
              <a:t>earlier, </a:t>
            </a:r>
            <a:r>
              <a:rPr sz="1634" b="1" spc="-5" dirty="0">
                <a:latin typeface="Arial"/>
                <a:cs typeface="Arial"/>
              </a:rPr>
              <a:t>instead </a:t>
            </a:r>
            <a:r>
              <a:rPr sz="1634" b="1" dirty="0">
                <a:latin typeface="Arial"/>
                <a:cs typeface="Arial"/>
              </a:rPr>
              <a:t>of a </a:t>
            </a:r>
            <a:r>
              <a:rPr sz="1634" b="1" spc="-5" dirty="0">
                <a:latin typeface="Arial"/>
                <a:cs typeface="Arial"/>
              </a:rPr>
              <a:t>reliability metric being </a:t>
            </a:r>
            <a:r>
              <a:rPr sz="1634" b="1" spc="-9" dirty="0">
                <a:latin typeface="Arial"/>
                <a:cs typeface="Arial"/>
              </a:rPr>
              <a:t>provided,  </a:t>
            </a:r>
            <a:r>
              <a:rPr sz="1634" b="1" spc="-5" dirty="0">
                <a:latin typeface="Arial"/>
                <a:cs typeface="Arial"/>
              </a:rPr>
              <a:t>customers may ask </a:t>
            </a:r>
            <a:r>
              <a:rPr sz="1634" b="1" dirty="0">
                <a:latin typeface="Arial"/>
                <a:cs typeface="Arial"/>
              </a:rPr>
              <a:t>for a </a:t>
            </a:r>
            <a:r>
              <a:rPr sz="1634" b="1" spc="-5" dirty="0">
                <a:latin typeface="Arial"/>
                <a:cs typeface="Arial"/>
              </a:rPr>
              <a:t>certain</a:t>
            </a:r>
            <a:r>
              <a:rPr sz="1634" b="1" spc="23" dirty="0">
                <a:latin typeface="Arial"/>
                <a:cs typeface="Arial"/>
              </a:rPr>
              <a:t> </a:t>
            </a:r>
            <a:r>
              <a:rPr sz="1634" b="1" spc="-9" dirty="0">
                <a:latin typeface="Arial"/>
                <a:cs typeface="Arial"/>
              </a:rPr>
              <a:t>‘availability’.</a:t>
            </a:r>
            <a:endParaRPr sz="1634" dirty="0">
              <a:latin typeface="Arial"/>
              <a:cs typeface="Arial"/>
            </a:endParaRPr>
          </a:p>
          <a:p>
            <a:pPr marL="16713" marR="293926">
              <a:spcBef>
                <a:spcPts val="902"/>
              </a:spcBef>
            </a:pPr>
            <a:r>
              <a:rPr sz="1634" b="1" dirty="0">
                <a:latin typeface="Arial"/>
                <a:cs typeface="Arial"/>
              </a:rPr>
              <a:t>This is the </a:t>
            </a:r>
            <a:r>
              <a:rPr sz="1634" b="1" spc="-9" dirty="0">
                <a:latin typeface="Arial"/>
                <a:cs typeface="Arial"/>
              </a:rPr>
              <a:t>average (over </a:t>
            </a:r>
            <a:r>
              <a:rPr sz="1634" b="1" spc="-5" dirty="0">
                <a:latin typeface="Arial"/>
                <a:cs typeface="Arial"/>
              </a:rPr>
              <a:t>time) probability that </a:t>
            </a: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dirty="0">
                <a:latin typeface="Arial"/>
                <a:cs typeface="Arial"/>
              </a:rPr>
              <a:t>or a </a:t>
            </a:r>
            <a:r>
              <a:rPr sz="1634" b="1" spc="-5" dirty="0">
                <a:latin typeface="Arial"/>
                <a:cs typeface="Arial"/>
              </a:rPr>
              <a:t>capability </a:t>
            </a:r>
            <a:r>
              <a:rPr sz="1634" b="1" dirty="0">
                <a:latin typeface="Arial"/>
                <a:cs typeface="Arial"/>
              </a:rPr>
              <a:t>of  a </a:t>
            </a:r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dirty="0">
                <a:latin typeface="Arial"/>
                <a:cs typeface="Arial"/>
              </a:rPr>
              <a:t>is </a:t>
            </a:r>
            <a:r>
              <a:rPr sz="1634" b="1" spc="-5" dirty="0">
                <a:latin typeface="Arial"/>
                <a:cs typeface="Arial"/>
              </a:rPr>
              <a:t>currently functional </a:t>
            </a:r>
            <a:r>
              <a:rPr sz="1634" b="1" dirty="0">
                <a:latin typeface="Arial"/>
                <a:cs typeface="Arial"/>
              </a:rPr>
              <a:t>in a </a:t>
            </a:r>
            <a:r>
              <a:rPr sz="1634" b="1" spc="-5" dirty="0">
                <a:latin typeface="Arial"/>
                <a:cs typeface="Arial"/>
              </a:rPr>
              <a:t>specified</a:t>
            </a:r>
            <a:r>
              <a:rPr sz="1634" b="1" spc="5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environment.</a:t>
            </a:r>
            <a:endParaRPr sz="1634" dirty="0">
              <a:latin typeface="Arial"/>
              <a:cs typeface="Arial"/>
            </a:endParaRPr>
          </a:p>
          <a:p>
            <a:pPr marL="11527">
              <a:spcBef>
                <a:spcPts val="849"/>
              </a:spcBef>
            </a:pPr>
            <a:r>
              <a:rPr sz="1634" b="1" dirty="0">
                <a:latin typeface="Arial"/>
                <a:cs typeface="Arial"/>
              </a:rPr>
              <a:t>It </a:t>
            </a:r>
            <a:r>
              <a:rPr sz="1634" b="1" spc="-5" dirty="0">
                <a:latin typeface="Arial"/>
                <a:cs typeface="Arial"/>
              </a:rPr>
              <a:t>depends</a:t>
            </a:r>
            <a:r>
              <a:rPr sz="1634" b="1" spc="-18" dirty="0">
                <a:latin typeface="Arial"/>
                <a:cs typeface="Arial"/>
              </a:rPr>
              <a:t> </a:t>
            </a:r>
            <a:r>
              <a:rPr sz="1634" b="1" dirty="0">
                <a:latin typeface="Arial"/>
                <a:cs typeface="Arial"/>
              </a:rPr>
              <a:t>on:</a:t>
            </a:r>
            <a:endParaRPr sz="1634" dirty="0">
              <a:latin typeface="Arial"/>
              <a:cs typeface="Arial"/>
            </a:endParaRPr>
          </a:p>
          <a:p>
            <a:pPr marL="233988" marR="3968581">
              <a:lnSpc>
                <a:spcPct val="150000"/>
              </a:lnSpc>
              <a:spcBef>
                <a:spcPts val="41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probability of software failure  Length of downtime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when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failure</a:t>
            </a:r>
            <a:r>
              <a:rPr sz="1452" spc="6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occurs.</a:t>
            </a:r>
            <a:endParaRPr sz="1452" dirty="0">
              <a:latin typeface="Arial"/>
              <a:cs typeface="Arial"/>
            </a:endParaRPr>
          </a:p>
          <a:p>
            <a:pPr marL="19595" marR="255889">
              <a:spcBef>
                <a:spcPts val="1343"/>
              </a:spcBef>
            </a:pPr>
            <a:r>
              <a:rPr sz="1634" b="1" dirty="0">
                <a:latin typeface="Arial"/>
                <a:cs typeface="Arial"/>
              </a:rPr>
              <a:t>It </a:t>
            </a:r>
            <a:r>
              <a:rPr sz="1634" b="1" spc="-5" dirty="0">
                <a:latin typeface="Arial"/>
                <a:cs typeface="Arial"/>
              </a:rPr>
              <a:t>essentially describes </a:t>
            </a:r>
            <a:r>
              <a:rPr sz="1634" b="1" dirty="0">
                <a:latin typeface="Arial"/>
                <a:cs typeface="Arial"/>
              </a:rPr>
              <a:t>the </a:t>
            </a:r>
            <a:r>
              <a:rPr sz="1634" b="1" spc="-5" dirty="0">
                <a:latin typeface="Arial"/>
                <a:cs typeface="Arial"/>
              </a:rPr>
              <a:t>expected fraction </a:t>
            </a:r>
            <a:r>
              <a:rPr sz="1634" b="1" dirty="0">
                <a:latin typeface="Arial"/>
                <a:cs typeface="Arial"/>
              </a:rPr>
              <a:t>of the </a:t>
            </a:r>
            <a:r>
              <a:rPr sz="1634" b="1" spc="-5" dirty="0">
                <a:latin typeface="Arial"/>
                <a:cs typeface="Arial"/>
              </a:rPr>
              <a:t>operating time during  </a:t>
            </a:r>
            <a:r>
              <a:rPr sz="1634" b="1" dirty="0">
                <a:latin typeface="Arial"/>
                <a:cs typeface="Arial"/>
              </a:rPr>
              <a:t>which a software </a:t>
            </a:r>
            <a:r>
              <a:rPr sz="1634" b="1" spc="-5" dirty="0">
                <a:latin typeface="Arial"/>
                <a:cs typeface="Arial"/>
              </a:rPr>
              <a:t>component </a:t>
            </a:r>
            <a:r>
              <a:rPr sz="1634" b="1" dirty="0">
                <a:latin typeface="Arial"/>
                <a:cs typeface="Arial"/>
              </a:rPr>
              <a:t>or </a:t>
            </a:r>
            <a:r>
              <a:rPr sz="1634" b="1" spc="-9" dirty="0">
                <a:latin typeface="Arial"/>
                <a:cs typeface="Arial"/>
              </a:rPr>
              <a:t>system </a:t>
            </a:r>
            <a:r>
              <a:rPr sz="1634" b="1" dirty="0">
                <a:latin typeface="Arial"/>
                <a:cs typeface="Arial"/>
              </a:rPr>
              <a:t>is </a:t>
            </a:r>
            <a:r>
              <a:rPr sz="1634" b="1" spc="-5" dirty="0">
                <a:latin typeface="Arial"/>
                <a:cs typeface="Arial"/>
              </a:rPr>
              <a:t>functioning</a:t>
            </a:r>
            <a:r>
              <a:rPr sz="1634" b="1" spc="-45" dirty="0">
                <a:latin typeface="Arial"/>
                <a:cs typeface="Arial"/>
              </a:rPr>
              <a:t> </a:t>
            </a:r>
            <a:r>
              <a:rPr sz="1634" b="1" spc="-18" dirty="0">
                <a:latin typeface="Arial"/>
                <a:cs typeface="Arial"/>
              </a:rPr>
              <a:t>acceptably.</a:t>
            </a:r>
            <a:endParaRPr sz="1634" dirty="0">
              <a:latin typeface="Arial"/>
              <a:cs typeface="Arial"/>
            </a:endParaRPr>
          </a:p>
          <a:p>
            <a:pPr marL="19595" marR="4611">
              <a:spcBef>
                <a:spcPts val="980"/>
              </a:spcBef>
            </a:pPr>
            <a:r>
              <a:rPr sz="1634" b="1" dirty="0">
                <a:latin typeface="Arial"/>
                <a:cs typeface="Arial"/>
              </a:rPr>
              <a:t>If the software is not </a:t>
            </a:r>
            <a:r>
              <a:rPr sz="1634" b="1" spc="-5" dirty="0">
                <a:latin typeface="Arial"/>
                <a:cs typeface="Arial"/>
              </a:rPr>
              <a:t>being modified </a:t>
            </a:r>
            <a:r>
              <a:rPr sz="1634" b="1" dirty="0">
                <a:latin typeface="Arial"/>
                <a:cs typeface="Arial"/>
              </a:rPr>
              <a:t>(if </a:t>
            </a:r>
            <a:r>
              <a:rPr sz="1634" b="1" spc="-5" dirty="0">
                <a:latin typeface="Arial"/>
                <a:cs typeface="Arial"/>
              </a:rPr>
              <a:t>further </a:t>
            </a:r>
            <a:r>
              <a:rPr sz="1634" b="1" spc="-9" dirty="0">
                <a:latin typeface="Arial"/>
                <a:cs typeface="Arial"/>
              </a:rPr>
              <a:t>development </a:t>
            </a:r>
            <a:r>
              <a:rPr sz="1634" b="1" dirty="0">
                <a:latin typeface="Arial"/>
                <a:cs typeface="Arial"/>
              </a:rPr>
              <a:t>or </a:t>
            </a:r>
            <a:r>
              <a:rPr sz="1634" b="1" spc="-5" dirty="0">
                <a:latin typeface="Arial"/>
                <a:cs typeface="Arial"/>
              </a:rPr>
              <a:t>further  releases are </a:t>
            </a:r>
            <a:r>
              <a:rPr sz="1634" b="1" dirty="0">
                <a:latin typeface="Arial"/>
                <a:cs typeface="Arial"/>
              </a:rPr>
              <a:t>not </a:t>
            </a:r>
            <a:r>
              <a:rPr sz="1634" b="1" spc="-5" dirty="0">
                <a:latin typeface="Arial"/>
                <a:cs typeface="Arial"/>
              </a:rPr>
              <a:t>planned) then </a:t>
            </a:r>
            <a:r>
              <a:rPr sz="1634" b="1" dirty="0">
                <a:latin typeface="Arial"/>
                <a:cs typeface="Arial"/>
              </a:rPr>
              <a:t>the </a:t>
            </a:r>
            <a:r>
              <a:rPr sz="1634" b="1" spc="-5" dirty="0">
                <a:latin typeface="Arial"/>
                <a:cs typeface="Arial"/>
              </a:rPr>
              <a:t>failure rate </a:t>
            </a:r>
            <a:r>
              <a:rPr sz="1634" b="1" spc="5" dirty="0">
                <a:latin typeface="Arial"/>
                <a:cs typeface="Arial"/>
              </a:rPr>
              <a:t>will </a:t>
            </a:r>
            <a:r>
              <a:rPr sz="1634" b="1" dirty="0">
                <a:latin typeface="Arial"/>
                <a:cs typeface="Arial"/>
              </a:rPr>
              <a:t>be </a:t>
            </a:r>
            <a:r>
              <a:rPr sz="1634" b="1" spc="-5" dirty="0">
                <a:latin typeface="Arial"/>
                <a:cs typeface="Arial"/>
              </a:rPr>
              <a:t>constant and therefore  </a:t>
            </a:r>
            <a:r>
              <a:rPr sz="1634" b="1" dirty="0">
                <a:latin typeface="Arial"/>
                <a:cs typeface="Arial"/>
              </a:rPr>
              <a:t>the </a:t>
            </a:r>
            <a:r>
              <a:rPr sz="1634" b="1" spc="-5" dirty="0">
                <a:latin typeface="Arial"/>
                <a:cs typeface="Arial"/>
              </a:rPr>
              <a:t>availability </a:t>
            </a:r>
            <a:r>
              <a:rPr sz="1634" b="1" spc="9" dirty="0">
                <a:latin typeface="Arial"/>
                <a:cs typeface="Arial"/>
              </a:rPr>
              <a:t>will </a:t>
            </a:r>
            <a:r>
              <a:rPr sz="1634" b="1" dirty="0">
                <a:latin typeface="Arial"/>
                <a:cs typeface="Arial"/>
              </a:rPr>
              <a:t>be</a:t>
            </a:r>
            <a:r>
              <a:rPr sz="1634" b="1" spc="-64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constant.</a:t>
            </a:r>
            <a:endParaRPr sz="1634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11985" y="292466"/>
            <a:ext cx="6056363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9" dirty="0"/>
              <a:t>Software </a:t>
            </a:r>
            <a:r>
              <a:rPr spc="-5" dirty="0"/>
              <a:t>Availability and</a:t>
            </a:r>
            <a:r>
              <a:rPr spc="36" dirty="0"/>
              <a:t> </a:t>
            </a:r>
            <a:r>
              <a:rPr spc="-5" dirty="0"/>
              <a:t>Failure</a:t>
            </a:r>
          </a:p>
        </p:txBody>
      </p:sp>
      <p:sp>
        <p:nvSpPr>
          <p:cNvPr id="3" name="object 3"/>
          <p:cNvSpPr/>
          <p:nvPr/>
        </p:nvSpPr>
        <p:spPr>
          <a:xfrm>
            <a:off x="2096812" y="2308437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 txBox="1"/>
          <p:nvPr/>
        </p:nvSpPr>
        <p:spPr>
          <a:xfrm>
            <a:off x="7045640" y="2238819"/>
            <a:ext cx="2639466" cy="45797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34580">
              <a:spcBef>
                <a:spcPts val="86"/>
              </a:spcBef>
            </a:pPr>
            <a:r>
              <a:rPr sz="1452" spc="-5" dirty="0">
                <a:solidFill>
                  <a:srgbClr val="0000FF"/>
                </a:solidFill>
                <a:latin typeface="Arial"/>
                <a:cs typeface="Arial"/>
              </a:rPr>
              <a:t>Where: t</a:t>
            </a:r>
            <a:r>
              <a:rPr sz="1429" spc="-6" baseline="-21164" dirty="0">
                <a:solidFill>
                  <a:srgbClr val="0000FF"/>
                </a:solidFill>
                <a:latin typeface="Arial"/>
                <a:cs typeface="Arial"/>
              </a:rPr>
              <a:t>m</a:t>
            </a:r>
            <a:r>
              <a:rPr sz="1452" spc="-5" dirty="0">
                <a:solidFill>
                  <a:srgbClr val="0000FF"/>
                </a:solidFill>
                <a:latin typeface="Arial"/>
                <a:cs typeface="Arial"/>
              </a:rPr>
              <a:t>=downtime per</a:t>
            </a:r>
            <a:r>
              <a:rPr sz="1452" spc="41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FF"/>
                </a:solidFill>
                <a:latin typeface="Arial"/>
                <a:cs typeface="Arial"/>
              </a:rPr>
              <a:t>failure</a:t>
            </a:r>
            <a:endParaRPr sz="1452">
              <a:latin typeface="Arial"/>
              <a:cs typeface="Arial"/>
            </a:endParaRPr>
          </a:p>
          <a:p>
            <a:pPr marL="707728"/>
            <a:r>
              <a:rPr sz="1452" spc="-5" dirty="0">
                <a:solidFill>
                  <a:srgbClr val="0000FF"/>
                </a:solidFill>
                <a:latin typeface="Arial"/>
                <a:cs typeface="Arial"/>
              </a:rPr>
              <a:t>λ=failure</a:t>
            </a:r>
            <a:r>
              <a:rPr sz="1452" spc="-14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52" dirty="0">
                <a:solidFill>
                  <a:srgbClr val="0000FF"/>
                </a:solidFill>
                <a:latin typeface="Arial"/>
                <a:cs typeface="Arial"/>
              </a:rPr>
              <a:t>intensity</a:t>
            </a:r>
            <a:endParaRPr sz="1452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096812" y="3103734"/>
            <a:ext cx="147994" cy="15214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 txBox="1"/>
          <p:nvPr/>
        </p:nvSpPr>
        <p:spPr>
          <a:xfrm>
            <a:off x="2357763" y="3034116"/>
            <a:ext cx="6870101" cy="51459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4611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For software , the downtime </a:t>
            </a:r>
            <a:r>
              <a:rPr sz="1634" b="1" spc="-5" dirty="0">
                <a:latin typeface="Arial"/>
                <a:cs typeface="Arial"/>
              </a:rPr>
              <a:t>per failure </a:t>
            </a:r>
            <a:r>
              <a:rPr sz="1634" b="1" dirty="0">
                <a:latin typeface="Arial"/>
                <a:cs typeface="Arial"/>
              </a:rPr>
              <a:t>is the </a:t>
            </a:r>
            <a:r>
              <a:rPr sz="1634" b="1" spc="-5" dirty="0">
                <a:latin typeface="Arial"/>
                <a:cs typeface="Arial"/>
              </a:rPr>
              <a:t>time </a:t>
            </a:r>
            <a:r>
              <a:rPr sz="1634" b="1" dirty="0">
                <a:latin typeface="Arial"/>
                <a:cs typeface="Arial"/>
              </a:rPr>
              <a:t>to </a:t>
            </a:r>
            <a:r>
              <a:rPr sz="1634" b="1" spc="-9" dirty="0">
                <a:latin typeface="Arial"/>
                <a:cs typeface="Arial"/>
              </a:rPr>
              <a:t>recover </a:t>
            </a:r>
            <a:r>
              <a:rPr sz="1634" b="1" spc="-5" dirty="0">
                <a:latin typeface="Arial"/>
                <a:cs typeface="Arial"/>
              </a:rPr>
              <a:t>from </a:t>
            </a:r>
            <a:r>
              <a:rPr sz="1634" b="1" dirty="0">
                <a:latin typeface="Arial"/>
                <a:cs typeface="Arial"/>
              </a:rPr>
              <a:t>the  </a:t>
            </a:r>
            <a:r>
              <a:rPr sz="1634" b="1" spc="-5" dirty="0">
                <a:latin typeface="Arial"/>
                <a:cs typeface="Arial"/>
              </a:rPr>
              <a:t>failure, </a:t>
            </a:r>
            <a:r>
              <a:rPr sz="1634" b="1" dirty="0">
                <a:latin typeface="Arial"/>
                <a:cs typeface="Arial"/>
              </a:rPr>
              <a:t>not the </a:t>
            </a:r>
            <a:r>
              <a:rPr sz="1634" b="1" spc="-5" dirty="0">
                <a:latin typeface="Arial"/>
                <a:cs typeface="Arial"/>
              </a:rPr>
              <a:t>time required </a:t>
            </a:r>
            <a:r>
              <a:rPr sz="1634" b="1" dirty="0">
                <a:latin typeface="Arial"/>
                <a:cs typeface="Arial"/>
              </a:rPr>
              <a:t>to find </a:t>
            </a:r>
            <a:r>
              <a:rPr sz="1634" b="1" spc="-5" dirty="0">
                <a:latin typeface="Arial"/>
                <a:cs typeface="Arial"/>
              </a:rPr>
              <a:t>and </a:t>
            </a:r>
            <a:r>
              <a:rPr sz="1634" b="1" spc="-9" dirty="0">
                <a:latin typeface="Arial"/>
                <a:cs typeface="Arial"/>
              </a:rPr>
              <a:t>remove </a:t>
            </a:r>
            <a:r>
              <a:rPr sz="1634" b="1" dirty="0">
                <a:latin typeface="Arial"/>
                <a:cs typeface="Arial"/>
              </a:rPr>
              <a:t>the</a:t>
            </a:r>
            <a:r>
              <a:rPr sz="1634" b="1" spc="27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fault.</a:t>
            </a:r>
            <a:endParaRPr sz="1634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912843" y="3993080"/>
            <a:ext cx="762448" cy="0"/>
          </a:xfrm>
          <a:custGeom>
            <a:avLst/>
            <a:gdLst/>
            <a:ahLst/>
            <a:cxnLst/>
            <a:rect l="l" t="t" r="r" b="b"/>
            <a:pathLst>
              <a:path w="840104">
                <a:moveTo>
                  <a:pt x="0" y="0"/>
                </a:moveTo>
                <a:lnTo>
                  <a:pt x="839721" y="0"/>
                </a:lnTo>
              </a:path>
            </a:pathLst>
          </a:custGeom>
          <a:ln w="1294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 txBox="1"/>
          <p:nvPr/>
        </p:nvSpPr>
        <p:spPr>
          <a:xfrm>
            <a:off x="3057628" y="3769939"/>
            <a:ext cx="1796335" cy="353330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2224" spc="-5" dirty="0">
                <a:latin typeface="Symbol"/>
                <a:cs typeface="Symbol"/>
              </a:rPr>
              <a:t></a:t>
            </a:r>
            <a:r>
              <a:rPr sz="2224" spc="-5" dirty="0">
                <a:latin typeface="Times New Roman"/>
                <a:cs typeface="Times New Roman"/>
              </a:rPr>
              <a:t> </a:t>
            </a:r>
            <a:r>
              <a:rPr sz="2224" i="1" spc="5" dirty="0">
                <a:latin typeface="Times New Roman"/>
                <a:cs typeface="Times New Roman"/>
              </a:rPr>
              <a:t>Availabilty</a:t>
            </a:r>
            <a:r>
              <a:rPr sz="2224" i="1" spc="-200" dirty="0">
                <a:latin typeface="Times New Roman"/>
                <a:cs typeface="Times New Roman"/>
              </a:rPr>
              <a:t> </a:t>
            </a:r>
            <a:r>
              <a:rPr sz="2224" spc="-5" dirty="0">
                <a:latin typeface="Symbol"/>
                <a:cs typeface="Symbol"/>
              </a:rPr>
              <a:t></a:t>
            </a:r>
            <a:endParaRPr sz="2224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867218" y="3550181"/>
            <a:ext cx="810857" cy="802649"/>
          </a:xfrm>
          <a:prstGeom prst="rect">
            <a:avLst/>
          </a:prstGeom>
        </p:spPr>
        <p:txBody>
          <a:bodyPr vert="horz" wrap="square" lIns="0" tIns="52444" rIns="0" bIns="0" rtlCol="0">
            <a:spAutoFit/>
          </a:bodyPr>
          <a:lstStyle/>
          <a:p>
            <a:pPr marL="43801" algn="ctr">
              <a:spcBef>
                <a:spcPts val="413"/>
              </a:spcBef>
            </a:pPr>
            <a:r>
              <a:rPr sz="2224" spc="-5" dirty="0">
                <a:latin typeface="Times New Roman"/>
                <a:cs typeface="Times New Roman"/>
              </a:rPr>
              <a:t>1</a:t>
            </a:r>
            <a:endParaRPr sz="2224">
              <a:latin typeface="Times New Roman"/>
              <a:cs typeface="Times New Roman"/>
            </a:endParaRPr>
          </a:p>
          <a:p>
            <a:pPr algn="ctr">
              <a:spcBef>
                <a:spcPts val="377"/>
              </a:spcBef>
            </a:pPr>
            <a:r>
              <a:rPr sz="2224" spc="86" dirty="0">
                <a:latin typeface="Times New Roman"/>
                <a:cs typeface="Times New Roman"/>
              </a:rPr>
              <a:t>1</a:t>
            </a:r>
            <a:r>
              <a:rPr sz="2224" spc="86" dirty="0">
                <a:latin typeface="Symbol"/>
                <a:cs typeface="Symbol"/>
              </a:rPr>
              <a:t></a:t>
            </a:r>
            <a:r>
              <a:rPr sz="2224" spc="-245" dirty="0">
                <a:latin typeface="Times New Roman"/>
                <a:cs typeface="Times New Roman"/>
              </a:rPr>
              <a:t> </a:t>
            </a:r>
            <a:r>
              <a:rPr sz="2224" i="1" spc="50" dirty="0">
                <a:latin typeface="Times New Roman"/>
                <a:cs typeface="Times New Roman"/>
              </a:rPr>
              <a:t>t</a:t>
            </a:r>
            <a:r>
              <a:rPr sz="1906" i="1" spc="74" baseline="-23809" dirty="0">
                <a:latin typeface="Times New Roman"/>
                <a:cs typeface="Times New Roman"/>
              </a:rPr>
              <a:t>m</a:t>
            </a:r>
            <a:r>
              <a:rPr sz="2314" spc="50" dirty="0">
                <a:latin typeface="Symbol"/>
                <a:cs typeface="Symbol"/>
              </a:rPr>
              <a:t></a:t>
            </a:r>
            <a:endParaRPr sz="2314">
              <a:latin typeface="Symbol"/>
              <a:cs typeface="Symbo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88513" y="4549101"/>
            <a:ext cx="145228" cy="15214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1" name="object 11"/>
          <p:cNvSpPr/>
          <p:nvPr/>
        </p:nvSpPr>
        <p:spPr>
          <a:xfrm>
            <a:off x="3557395" y="5428766"/>
            <a:ext cx="1787114" cy="0"/>
          </a:xfrm>
          <a:custGeom>
            <a:avLst/>
            <a:gdLst/>
            <a:ahLst/>
            <a:cxnLst/>
            <a:rect l="l" t="t" r="r" b="b"/>
            <a:pathLst>
              <a:path w="1969135">
                <a:moveTo>
                  <a:pt x="0" y="0"/>
                </a:moveTo>
                <a:lnTo>
                  <a:pt x="1969002" y="0"/>
                </a:lnTo>
              </a:path>
            </a:pathLst>
          </a:custGeom>
          <a:ln w="1248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2" name="object 12"/>
          <p:cNvSpPr/>
          <p:nvPr/>
        </p:nvSpPr>
        <p:spPr>
          <a:xfrm>
            <a:off x="2096812" y="5973722"/>
            <a:ext cx="147994" cy="15629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 txBox="1"/>
          <p:nvPr/>
        </p:nvSpPr>
        <p:spPr>
          <a:xfrm>
            <a:off x="2313502" y="4478099"/>
            <a:ext cx="7006686" cy="1689406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46106" marR="359051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If </a:t>
            </a:r>
            <a:r>
              <a:rPr sz="1634" b="1" spc="-5" dirty="0">
                <a:latin typeface="Arial"/>
                <a:cs typeface="Arial"/>
              </a:rPr>
              <a:t>an availability specification </a:t>
            </a:r>
            <a:r>
              <a:rPr sz="1634" b="1" dirty="0">
                <a:latin typeface="Arial"/>
                <a:cs typeface="Arial"/>
              </a:rPr>
              <a:t>for the software is </a:t>
            </a:r>
            <a:r>
              <a:rPr sz="1634" b="1" spc="-5" dirty="0">
                <a:latin typeface="Arial"/>
                <a:cs typeface="Arial"/>
              </a:rPr>
              <a:t>specified, then </a:t>
            </a:r>
            <a:r>
              <a:rPr sz="1634" b="1" dirty="0">
                <a:latin typeface="Arial"/>
                <a:cs typeface="Arial"/>
              </a:rPr>
              <a:t>the  downtime </a:t>
            </a:r>
            <a:r>
              <a:rPr sz="1634" b="1" spc="-5" dirty="0">
                <a:latin typeface="Arial"/>
                <a:cs typeface="Arial"/>
              </a:rPr>
              <a:t>per failure </a:t>
            </a:r>
            <a:r>
              <a:rPr sz="1634" b="1" spc="5" dirty="0">
                <a:latin typeface="Arial"/>
                <a:cs typeface="Arial"/>
              </a:rPr>
              <a:t>will </a:t>
            </a:r>
            <a:r>
              <a:rPr sz="1634" b="1" spc="-5" dirty="0">
                <a:latin typeface="Arial"/>
                <a:cs typeface="Arial"/>
              </a:rPr>
              <a:t>determine </a:t>
            </a: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5" dirty="0">
                <a:latin typeface="Arial"/>
                <a:cs typeface="Arial"/>
              </a:rPr>
              <a:t>failure intensity</a:t>
            </a:r>
            <a:r>
              <a:rPr sz="1634" b="1" spc="-50" dirty="0">
                <a:latin typeface="Arial"/>
                <a:cs typeface="Arial"/>
              </a:rPr>
              <a:t> </a:t>
            </a:r>
            <a:r>
              <a:rPr sz="1634" b="1" spc="-9" dirty="0">
                <a:latin typeface="Arial"/>
                <a:cs typeface="Arial"/>
              </a:rPr>
              <a:t>objective:</a:t>
            </a:r>
            <a:endParaRPr sz="1634" dirty="0">
              <a:latin typeface="Arial"/>
              <a:cs typeface="Arial"/>
            </a:endParaRPr>
          </a:p>
          <a:p>
            <a:pPr marL="1285207" marR="4011229" indent="-491030">
              <a:lnSpc>
                <a:spcPts val="3031"/>
              </a:lnSpc>
              <a:spcBef>
                <a:spcPts val="241"/>
              </a:spcBef>
              <a:tabLst>
                <a:tab pos="1290394" algn="l"/>
              </a:tabLst>
            </a:pPr>
            <a:r>
              <a:rPr sz="3403" spc="-102" baseline="-33333" dirty="0">
                <a:latin typeface="Symbol"/>
                <a:cs typeface="Symbol"/>
              </a:rPr>
              <a:t></a:t>
            </a:r>
            <a:r>
              <a:rPr sz="3403" spc="109" baseline="-33333" dirty="0">
                <a:latin typeface="Times New Roman"/>
                <a:cs typeface="Times New Roman"/>
              </a:rPr>
              <a:t> </a:t>
            </a:r>
            <a:r>
              <a:rPr sz="3199" spc="6" baseline="-35460" dirty="0">
                <a:latin typeface="Symbol"/>
                <a:cs typeface="Symbol"/>
              </a:rPr>
              <a:t></a:t>
            </a:r>
            <a:r>
              <a:rPr sz="3199" spc="6" baseline="-35460" dirty="0">
                <a:latin typeface="Times New Roman"/>
                <a:cs typeface="Times New Roman"/>
              </a:rPr>
              <a:t>		</a:t>
            </a:r>
            <a:r>
              <a:rPr sz="2133" spc="95" dirty="0">
                <a:latin typeface="Times New Roman"/>
                <a:cs typeface="Times New Roman"/>
              </a:rPr>
              <a:t>1</a:t>
            </a:r>
            <a:r>
              <a:rPr sz="2133" spc="95" dirty="0">
                <a:latin typeface="Symbol"/>
                <a:cs typeface="Symbol"/>
              </a:rPr>
              <a:t></a:t>
            </a:r>
            <a:r>
              <a:rPr sz="2133" spc="95" dirty="0">
                <a:latin typeface="Times New Roman"/>
                <a:cs typeface="Times New Roman"/>
              </a:rPr>
              <a:t> </a:t>
            </a:r>
            <a:r>
              <a:rPr sz="2133" i="1" spc="9" dirty="0">
                <a:latin typeface="Times New Roman"/>
                <a:cs typeface="Times New Roman"/>
              </a:rPr>
              <a:t>Availability  Availability</a:t>
            </a:r>
            <a:r>
              <a:rPr sz="2133" i="1" spc="-272" dirty="0">
                <a:latin typeface="Times New Roman"/>
                <a:cs typeface="Times New Roman"/>
              </a:rPr>
              <a:t> </a:t>
            </a:r>
            <a:r>
              <a:rPr sz="2133" spc="5" dirty="0">
                <a:latin typeface="Symbol"/>
                <a:cs typeface="Symbol"/>
              </a:rPr>
              <a:t></a:t>
            </a:r>
            <a:r>
              <a:rPr sz="2133" spc="-313" dirty="0">
                <a:latin typeface="Times New Roman"/>
                <a:cs typeface="Times New Roman"/>
              </a:rPr>
              <a:t> </a:t>
            </a:r>
            <a:r>
              <a:rPr sz="2133" i="1" spc="50" dirty="0">
                <a:latin typeface="Times New Roman"/>
                <a:cs typeface="Times New Roman"/>
              </a:rPr>
              <a:t>t</a:t>
            </a:r>
            <a:r>
              <a:rPr sz="1838" i="1" spc="74" baseline="-24691" dirty="0">
                <a:latin typeface="Times New Roman"/>
                <a:cs typeface="Times New Roman"/>
              </a:rPr>
              <a:t>m</a:t>
            </a:r>
            <a:endParaRPr sz="1838" baseline="-24691" dirty="0">
              <a:latin typeface="Times New Roman"/>
              <a:cs typeface="Times New Roman"/>
            </a:endParaRPr>
          </a:p>
          <a:p>
            <a:pPr marL="55327">
              <a:spcBef>
                <a:spcPts val="1012"/>
              </a:spcBef>
            </a:pPr>
            <a:r>
              <a:rPr sz="1634" b="1" spc="-5" dirty="0">
                <a:latin typeface="Arial"/>
                <a:cs typeface="Arial"/>
              </a:rPr>
              <a:t>Either an availability </a:t>
            </a:r>
            <a:r>
              <a:rPr sz="1634" b="1" dirty="0">
                <a:latin typeface="Arial"/>
                <a:cs typeface="Arial"/>
              </a:rPr>
              <a:t>or a </a:t>
            </a:r>
            <a:r>
              <a:rPr sz="1634" b="1" spc="-5" dirty="0">
                <a:latin typeface="Arial"/>
                <a:cs typeface="Arial"/>
              </a:rPr>
              <a:t>failure intensity </a:t>
            </a:r>
            <a:r>
              <a:rPr sz="1634" b="1" spc="-9" dirty="0">
                <a:latin typeface="Arial"/>
                <a:cs typeface="Arial"/>
              </a:rPr>
              <a:t>objective </a:t>
            </a:r>
            <a:r>
              <a:rPr sz="1634" b="1" spc="-14" dirty="0">
                <a:latin typeface="Arial"/>
                <a:cs typeface="Arial"/>
              </a:rPr>
              <a:t>have </a:t>
            </a:r>
            <a:r>
              <a:rPr sz="1634" b="1" dirty="0">
                <a:latin typeface="Arial"/>
                <a:cs typeface="Arial"/>
              </a:rPr>
              <a:t>to be</a:t>
            </a:r>
            <a:r>
              <a:rPr sz="1634" b="1" spc="123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defined.</a:t>
            </a:r>
            <a:endParaRPr sz="1634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13502" y="2178729"/>
            <a:ext cx="3214615" cy="754448"/>
          </a:xfrm>
          <a:prstGeom prst="rect">
            <a:avLst/>
          </a:prstGeom>
        </p:spPr>
        <p:txBody>
          <a:bodyPr vert="horz" wrap="square" lIns="0" tIns="62241" rIns="0" bIns="0" rtlCol="0">
            <a:spAutoFit/>
          </a:bodyPr>
          <a:lstStyle/>
          <a:p>
            <a:pPr marL="34580">
              <a:spcBef>
                <a:spcPts val="490"/>
              </a:spcBef>
            </a:pPr>
            <a:r>
              <a:rPr sz="1634" b="1" dirty="0">
                <a:latin typeface="Arial"/>
                <a:cs typeface="Arial"/>
              </a:rPr>
              <a:t>Downtime </a:t>
            </a:r>
            <a:r>
              <a:rPr sz="1634" b="1" spc="-5" dirty="0">
                <a:latin typeface="Arial"/>
                <a:cs typeface="Arial"/>
              </a:rPr>
              <a:t>can </a:t>
            </a:r>
            <a:r>
              <a:rPr sz="1634" b="1" dirty="0">
                <a:latin typeface="Arial"/>
                <a:cs typeface="Arial"/>
              </a:rPr>
              <a:t>be </a:t>
            </a:r>
            <a:r>
              <a:rPr sz="1634" b="1" spc="-5" dirty="0">
                <a:latin typeface="Arial"/>
                <a:cs typeface="Arial"/>
              </a:rPr>
              <a:t>expressed</a:t>
            </a:r>
            <a:r>
              <a:rPr sz="1634" b="1" spc="-73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as:</a:t>
            </a:r>
            <a:endParaRPr sz="1634">
              <a:latin typeface="Arial"/>
              <a:cs typeface="Arial"/>
            </a:endParaRPr>
          </a:p>
          <a:p>
            <a:pPr marL="793600">
              <a:spcBef>
                <a:spcPts val="626"/>
              </a:spcBef>
            </a:pPr>
            <a:r>
              <a:rPr sz="2269" i="1" spc="-5" dirty="0">
                <a:latin typeface="Times New Roman"/>
                <a:cs typeface="Times New Roman"/>
              </a:rPr>
              <a:t>Downtime </a:t>
            </a:r>
            <a:r>
              <a:rPr sz="2269" spc="-5" dirty="0">
                <a:latin typeface="Symbol"/>
                <a:cs typeface="Symbol"/>
              </a:rPr>
              <a:t></a:t>
            </a:r>
            <a:r>
              <a:rPr sz="2269" spc="-5" dirty="0">
                <a:latin typeface="Times New Roman"/>
                <a:cs typeface="Times New Roman"/>
              </a:rPr>
              <a:t> </a:t>
            </a:r>
            <a:r>
              <a:rPr sz="2269" i="1" spc="68" dirty="0">
                <a:latin typeface="Times New Roman"/>
                <a:cs typeface="Times New Roman"/>
              </a:rPr>
              <a:t>t</a:t>
            </a:r>
            <a:r>
              <a:rPr sz="1974" i="1" spc="102" baseline="-22988" dirty="0">
                <a:latin typeface="Times New Roman"/>
                <a:cs typeface="Times New Roman"/>
              </a:rPr>
              <a:t>m</a:t>
            </a:r>
            <a:r>
              <a:rPr sz="1974" i="1" spc="-231" baseline="-22988" dirty="0">
                <a:latin typeface="Times New Roman"/>
                <a:cs typeface="Times New Roman"/>
              </a:rPr>
              <a:t> </a:t>
            </a:r>
            <a:r>
              <a:rPr sz="2360" spc="-54" dirty="0">
                <a:latin typeface="Symbol"/>
                <a:cs typeface="Symbol"/>
              </a:rPr>
              <a:t></a:t>
            </a:r>
            <a:endParaRPr sz="2360">
              <a:latin typeface="Symbol"/>
              <a:cs typeface="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92067" y="1584600"/>
            <a:ext cx="1456316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b="1" dirty="0">
                <a:solidFill>
                  <a:srgbClr val="0000FF"/>
                </a:solidFill>
                <a:latin typeface="Arial"/>
                <a:cs typeface="Arial"/>
              </a:rPr>
              <a:t>Software</a:t>
            </a:r>
            <a:r>
              <a:rPr sz="1452" b="1" spc="-59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52" b="1" spc="-9" dirty="0">
                <a:solidFill>
                  <a:srgbClr val="0000FF"/>
                </a:solidFill>
                <a:latin typeface="Arial"/>
                <a:cs typeface="Arial"/>
              </a:rPr>
              <a:t>uptime</a:t>
            </a:r>
            <a:endParaRPr sz="1452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439826" y="1856155"/>
            <a:ext cx="2459659" cy="16713"/>
          </a:xfrm>
          <a:custGeom>
            <a:avLst/>
            <a:gdLst/>
            <a:ahLst/>
            <a:cxnLst/>
            <a:rect l="l" t="t" r="r" b="b"/>
            <a:pathLst>
              <a:path w="2710179" h="18414">
                <a:moveTo>
                  <a:pt x="2709671" y="18287"/>
                </a:moveTo>
                <a:lnTo>
                  <a:pt x="2709671" y="0"/>
                </a:lnTo>
                <a:lnTo>
                  <a:pt x="0" y="0"/>
                </a:lnTo>
                <a:lnTo>
                  <a:pt x="0" y="18287"/>
                </a:lnTo>
                <a:lnTo>
                  <a:pt x="2709671" y="18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7" name="object 17"/>
          <p:cNvSpPr txBox="1"/>
          <p:nvPr/>
        </p:nvSpPr>
        <p:spPr>
          <a:xfrm>
            <a:off x="7413091" y="1944213"/>
            <a:ext cx="2533426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b="1" dirty="0">
                <a:solidFill>
                  <a:srgbClr val="0000FF"/>
                </a:solidFill>
                <a:latin typeface="Arial"/>
                <a:cs typeface="Arial"/>
              </a:rPr>
              <a:t>Software </a:t>
            </a:r>
            <a:r>
              <a:rPr sz="1452" b="1" spc="-9" dirty="0">
                <a:solidFill>
                  <a:srgbClr val="0000FF"/>
                </a:solidFill>
                <a:latin typeface="Arial"/>
                <a:cs typeface="Arial"/>
              </a:rPr>
              <a:t>uptime </a:t>
            </a:r>
            <a:r>
              <a:rPr sz="1452" b="1" spc="-5" dirty="0">
                <a:solidFill>
                  <a:srgbClr val="0000FF"/>
                </a:solidFill>
                <a:latin typeface="Arial"/>
                <a:cs typeface="Arial"/>
              </a:rPr>
              <a:t>+</a:t>
            </a:r>
            <a:r>
              <a:rPr sz="1452" b="1" spc="1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1452" b="1" spc="-5" dirty="0">
                <a:solidFill>
                  <a:srgbClr val="0000FF"/>
                </a:solidFill>
                <a:latin typeface="Arial"/>
                <a:cs typeface="Arial"/>
              </a:rPr>
              <a:t>downtime</a:t>
            </a:r>
            <a:endParaRPr sz="1452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096812" y="1771785"/>
            <a:ext cx="147994" cy="15629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9" name="object 19"/>
          <p:cNvSpPr txBox="1"/>
          <p:nvPr/>
        </p:nvSpPr>
        <p:spPr>
          <a:xfrm>
            <a:off x="2357763" y="1129817"/>
            <a:ext cx="4993661" cy="845131"/>
          </a:xfrm>
          <a:prstGeom prst="rect">
            <a:avLst/>
          </a:prstGeom>
        </p:spPr>
        <p:txBody>
          <a:bodyPr vert="horz" wrap="square" lIns="0" tIns="79530" rIns="0" bIns="0" rtlCol="0">
            <a:spAutoFit/>
          </a:bodyPr>
          <a:lstStyle/>
          <a:p>
            <a:pPr marL="2494339">
              <a:spcBef>
                <a:spcPts val="626"/>
              </a:spcBef>
            </a:pPr>
            <a:r>
              <a:rPr sz="3086" b="1" spc="-5" dirty="0">
                <a:latin typeface="Arial"/>
                <a:cs typeface="Arial"/>
              </a:rPr>
              <a:t>Intensity </a:t>
            </a:r>
            <a:r>
              <a:rPr sz="1634" dirty="0">
                <a:latin typeface="Arial"/>
                <a:cs typeface="Arial"/>
              </a:rPr>
              <a:t>(2 </a:t>
            </a:r>
            <a:r>
              <a:rPr sz="1634" spc="-5" dirty="0">
                <a:latin typeface="Arial"/>
                <a:cs typeface="Arial"/>
              </a:rPr>
              <a:t>of</a:t>
            </a:r>
            <a:r>
              <a:rPr sz="1634" spc="-23" dirty="0">
                <a:latin typeface="Arial"/>
                <a:cs typeface="Arial"/>
              </a:rPr>
              <a:t> </a:t>
            </a:r>
            <a:r>
              <a:rPr sz="1634" spc="-5" dirty="0">
                <a:latin typeface="Arial"/>
                <a:cs typeface="Arial"/>
              </a:rPr>
              <a:t>2)</a:t>
            </a:r>
            <a:endParaRPr sz="1634" dirty="0">
              <a:latin typeface="Arial"/>
              <a:cs typeface="Arial"/>
            </a:endParaRPr>
          </a:p>
          <a:p>
            <a:pPr marL="11527">
              <a:spcBef>
                <a:spcPts val="290"/>
              </a:spcBef>
            </a:pP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From </a:t>
            </a:r>
            <a:r>
              <a:rPr sz="1634" b="1" spc="-18" dirty="0">
                <a:solidFill>
                  <a:schemeClr val="bg1"/>
                </a:solidFill>
                <a:latin typeface="Arial"/>
                <a:cs typeface="Arial"/>
              </a:rPr>
              <a:t>earlier,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availability </a:t>
            </a:r>
            <a:r>
              <a:rPr sz="1634" b="1" dirty="0">
                <a:solidFill>
                  <a:schemeClr val="bg1"/>
                </a:solidFill>
                <a:latin typeface="Arial"/>
                <a:cs typeface="Arial"/>
              </a:rPr>
              <a:t>is </a:t>
            </a:r>
            <a:r>
              <a:rPr sz="1634" b="1" spc="-5" dirty="0">
                <a:solidFill>
                  <a:schemeClr val="bg1"/>
                </a:solidFill>
                <a:latin typeface="Arial"/>
                <a:cs typeface="Arial"/>
              </a:rPr>
              <a:t>defined as</a:t>
            </a:r>
            <a:r>
              <a:rPr sz="1634" b="1" spc="-5" dirty="0">
                <a:latin typeface="Arial"/>
                <a:cs typeface="Arial"/>
              </a:rPr>
              <a:t>: </a:t>
            </a:r>
            <a:r>
              <a:rPr sz="2178" b="1" spc="-14" baseline="5208" dirty="0">
                <a:solidFill>
                  <a:srgbClr val="0000FF"/>
                </a:solidFill>
                <a:latin typeface="Arial"/>
                <a:cs typeface="Arial"/>
              </a:rPr>
              <a:t>Availability</a:t>
            </a:r>
            <a:r>
              <a:rPr sz="2178" b="1" spc="-88" baseline="5208" dirty="0">
                <a:solidFill>
                  <a:srgbClr val="0000FF"/>
                </a:solidFill>
                <a:latin typeface="Arial"/>
                <a:cs typeface="Arial"/>
              </a:rPr>
              <a:t> </a:t>
            </a:r>
            <a:r>
              <a:rPr sz="2178" b="1" spc="-6" baseline="5208" dirty="0">
                <a:solidFill>
                  <a:srgbClr val="0000FF"/>
                </a:solidFill>
                <a:latin typeface="Arial"/>
                <a:cs typeface="Arial"/>
              </a:rPr>
              <a:t>=</a:t>
            </a:r>
            <a:endParaRPr sz="2178" baseline="5208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23603" y="332577"/>
            <a:ext cx="1633818" cy="1365274"/>
          </a:xfrm>
          <a:prstGeom prst="rect">
            <a:avLst/>
          </a:prstGeom>
        </p:spPr>
        <p:txBody>
          <a:bodyPr vert="horz" wrap="square" lIns="0" tIns="10950" rIns="0" bIns="0" rtlCol="0" anchor="ctr">
            <a:spAutoFit/>
          </a:bodyPr>
          <a:lstStyle/>
          <a:p>
            <a:pPr marL="11527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E</a:t>
            </a:r>
            <a:r>
              <a:rPr spc="-9" dirty="0"/>
              <a:t>xa</a:t>
            </a:r>
            <a:r>
              <a:rPr dirty="0"/>
              <a:t>m</a:t>
            </a:r>
            <a:r>
              <a:rPr spc="-5" dirty="0"/>
              <a:t>ple</a:t>
            </a:r>
          </a:p>
        </p:txBody>
      </p:sp>
      <p:sp>
        <p:nvSpPr>
          <p:cNvPr id="3" name="object 3"/>
          <p:cNvSpPr/>
          <p:nvPr/>
        </p:nvSpPr>
        <p:spPr>
          <a:xfrm>
            <a:off x="4533879" y="4344398"/>
            <a:ext cx="1073652" cy="0"/>
          </a:xfrm>
          <a:custGeom>
            <a:avLst/>
            <a:gdLst/>
            <a:ahLst/>
            <a:cxnLst/>
            <a:rect l="l" t="t" r="r" b="b"/>
            <a:pathLst>
              <a:path w="1183004">
                <a:moveTo>
                  <a:pt x="0" y="0"/>
                </a:moveTo>
                <a:lnTo>
                  <a:pt x="1182623" y="0"/>
                </a:lnTo>
              </a:path>
            </a:pathLst>
          </a:custGeom>
          <a:ln w="130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 txBox="1"/>
          <p:nvPr/>
        </p:nvSpPr>
        <p:spPr>
          <a:xfrm>
            <a:off x="3765789" y="4688712"/>
            <a:ext cx="2339212" cy="375979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7">
              <a:spcBef>
                <a:spcPts val="100"/>
              </a:spcBef>
            </a:pPr>
            <a:r>
              <a:rPr sz="2224" spc="18" dirty="0">
                <a:latin typeface="Symbol"/>
                <a:cs typeface="Symbol"/>
              </a:rPr>
              <a:t></a:t>
            </a:r>
            <a:r>
              <a:rPr sz="2224" spc="-331" dirty="0">
                <a:latin typeface="Times New Roman"/>
                <a:cs typeface="Times New Roman"/>
              </a:rPr>
              <a:t> </a:t>
            </a:r>
            <a:r>
              <a:rPr sz="2360" spc="-64" dirty="0">
                <a:latin typeface="Symbol"/>
                <a:cs typeface="Symbol"/>
              </a:rPr>
              <a:t></a:t>
            </a:r>
            <a:r>
              <a:rPr sz="2360" spc="113" dirty="0">
                <a:latin typeface="Times New Roman"/>
                <a:cs typeface="Times New Roman"/>
              </a:rPr>
              <a:t> </a:t>
            </a:r>
            <a:r>
              <a:rPr sz="2224" spc="9" dirty="0">
                <a:latin typeface="Symbol"/>
                <a:cs typeface="Symbol"/>
              </a:rPr>
              <a:t></a:t>
            </a:r>
            <a:r>
              <a:rPr sz="2224" spc="-27" dirty="0">
                <a:latin typeface="Times New Roman"/>
                <a:cs typeface="Times New Roman"/>
              </a:rPr>
              <a:t> </a:t>
            </a:r>
            <a:r>
              <a:rPr sz="2224" spc="5" dirty="0">
                <a:latin typeface="Times New Roman"/>
                <a:cs typeface="Times New Roman"/>
              </a:rPr>
              <a:t>0.1</a:t>
            </a:r>
            <a:r>
              <a:rPr sz="2224" spc="-290" dirty="0">
                <a:latin typeface="Times New Roman"/>
                <a:cs typeface="Times New Roman"/>
              </a:rPr>
              <a:t> </a:t>
            </a:r>
            <a:r>
              <a:rPr sz="2224" i="1" dirty="0">
                <a:latin typeface="Times New Roman"/>
                <a:cs typeface="Times New Roman"/>
              </a:rPr>
              <a:t>failure</a:t>
            </a:r>
            <a:r>
              <a:rPr sz="2224" i="1" spc="-250" dirty="0">
                <a:latin typeface="Times New Roman"/>
                <a:cs typeface="Times New Roman"/>
              </a:rPr>
              <a:t> </a:t>
            </a:r>
            <a:r>
              <a:rPr sz="2224" spc="5" dirty="0">
                <a:latin typeface="Times New Roman"/>
                <a:cs typeface="Times New Roman"/>
              </a:rPr>
              <a:t>/</a:t>
            </a:r>
            <a:r>
              <a:rPr sz="2224" spc="-200" dirty="0">
                <a:latin typeface="Times New Roman"/>
                <a:cs typeface="Times New Roman"/>
              </a:rPr>
              <a:t> </a:t>
            </a:r>
            <a:r>
              <a:rPr sz="2224" i="1" spc="5" dirty="0">
                <a:latin typeface="Times New Roman"/>
                <a:cs typeface="Times New Roman"/>
              </a:rPr>
              <a:t>hr</a:t>
            </a:r>
            <a:endParaRPr sz="2224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292759" y="4800367"/>
            <a:ext cx="1819963" cy="26311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634" spc="-5" dirty="0">
                <a:latin typeface="Arial"/>
                <a:cs typeface="Arial"/>
              </a:rPr>
              <a:t>or 100</a:t>
            </a:r>
            <a:r>
              <a:rPr sz="1634" spc="-32" dirty="0">
                <a:latin typeface="Arial"/>
                <a:cs typeface="Arial"/>
              </a:rPr>
              <a:t> </a:t>
            </a:r>
            <a:r>
              <a:rPr sz="1634" spc="-5" dirty="0">
                <a:latin typeface="Arial"/>
                <a:cs typeface="Arial"/>
              </a:rPr>
              <a:t>failures/kHrs</a:t>
            </a:r>
            <a:endParaRPr sz="1634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2217144" y="2073306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2217144" y="2322268"/>
            <a:ext cx="147994" cy="1521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 txBox="1"/>
          <p:nvPr/>
        </p:nvSpPr>
        <p:spPr>
          <a:xfrm>
            <a:off x="2354079" y="2002304"/>
            <a:ext cx="7536884" cy="2721035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35437" marR="3368049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A </a:t>
            </a:r>
            <a:r>
              <a:rPr sz="1634" b="1" spc="-5" dirty="0">
                <a:latin typeface="Arial"/>
                <a:cs typeface="Arial"/>
              </a:rPr>
              <a:t>product must </a:t>
            </a:r>
            <a:r>
              <a:rPr sz="1634" b="1" dirty="0">
                <a:latin typeface="Arial"/>
                <a:cs typeface="Arial"/>
              </a:rPr>
              <a:t>be </a:t>
            </a:r>
            <a:r>
              <a:rPr sz="1634" b="1" spc="-9" dirty="0">
                <a:latin typeface="Arial"/>
                <a:cs typeface="Arial"/>
              </a:rPr>
              <a:t>available </a:t>
            </a:r>
            <a:r>
              <a:rPr sz="1634" b="1" spc="-5" dirty="0">
                <a:latin typeface="Arial"/>
                <a:cs typeface="Arial"/>
              </a:rPr>
              <a:t>99% </a:t>
            </a:r>
            <a:r>
              <a:rPr sz="1634" b="1" dirty="0">
                <a:latin typeface="Arial"/>
                <a:cs typeface="Arial"/>
              </a:rPr>
              <a:t>of </a:t>
            </a:r>
            <a:r>
              <a:rPr sz="1634" b="1" spc="-5" dirty="0">
                <a:latin typeface="Arial"/>
                <a:cs typeface="Arial"/>
              </a:rPr>
              <a:t>time.  Required </a:t>
            </a:r>
            <a:r>
              <a:rPr sz="1634" b="1" dirty="0">
                <a:latin typeface="Arial"/>
                <a:cs typeface="Arial"/>
              </a:rPr>
              <a:t>Downtime = 6 </a:t>
            </a:r>
            <a:r>
              <a:rPr sz="1634" b="1" spc="-5" dirty="0">
                <a:latin typeface="Arial"/>
                <a:cs typeface="Arial"/>
              </a:rPr>
              <a:t>minutes</a:t>
            </a:r>
            <a:r>
              <a:rPr sz="1634" b="1" spc="-54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(0.1hr)</a:t>
            </a:r>
            <a:endParaRPr sz="1634" dirty="0">
              <a:latin typeface="Arial"/>
              <a:cs typeface="Arial"/>
            </a:endParaRPr>
          </a:p>
          <a:p>
            <a:pPr>
              <a:spcBef>
                <a:spcPts val="18"/>
              </a:spcBef>
            </a:pPr>
            <a:endParaRPr sz="1452" dirty="0">
              <a:latin typeface="Arial"/>
              <a:cs typeface="Arial"/>
            </a:endParaRPr>
          </a:p>
          <a:p>
            <a:pPr marL="69159"/>
            <a:r>
              <a:rPr sz="1634" dirty="0">
                <a:latin typeface="Arial"/>
                <a:cs typeface="Arial"/>
              </a:rPr>
              <a:t>The </a:t>
            </a:r>
            <a:r>
              <a:rPr sz="1634" spc="-9" dirty="0">
                <a:latin typeface="Arial"/>
                <a:cs typeface="Arial"/>
              </a:rPr>
              <a:t>downtime </a:t>
            </a:r>
            <a:r>
              <a:rPr sz="1634" spc="-5" dirty="0">
                <a:latin typeface="Arial"/>
                <a:cs typeface="Arial"/>
              </a:rPr>
              <a:t>per failure can be used </a:t>
            </a:r>
            <a:r>
              <a:rPr sz="1634" dirty="0">
                <a:latin typeface="Arial"/>
                <a:cs typeface="Arial"/>
              </a:rPr>
              <a:t>to </a:t>
            </a:r>
            <a:r>
              <a:rPr sz="1634" spc="-5" dirty="0">
                <a:latin typeface="Arial"/>
                <a:cs typeface="Arial"/>
              </a:rPr>
              <a:t>determine the failure intensity</a:t>
            </a:r>
            <a:r>
              <a:rPr sz="1634" spc="159" dirty="0">
                <a:latin typeface="Arial"/>
                <a:cs typeface="Arial"/>
              </a:rPr>
              <a:t> </a:t>
            </a:r>
            <a:r>
              <a:rPr sz="1634" spc="-5" dirty="0">
                <a:latin typeface="Arial"/>
                <a:cs typeface="Arial"/>
              </a:rPr>
              <a:t>objective.</a:t>
            </a:r>
            <a:endParaRPr sz="1634" dirty="0">
              <a:latin typeface="Arial"/>
              <a:cs typeface="Arial"/>
            </a:endParaRPr>
          </a:p>
          <a:p>
            <a:pPr marL="1463292">
              <a:spcBef>
                <a:spcPts val="1057"/>
              </a:spcBef>
            </a:pPr>
            <a:r>
              <a:rPr sz="3540" spc="-94" baseline="-32051" dirty="0">
                <a:latin typeface="Symbol"/>
                <a:cs typeface="Symbol"/>
              </a:rPr>
              <a:t></a:t>
            </a:r>
            <a:r>
              <a:rPr sz="3540" spc="-94" baseline="-32051" dirty="0">
                <a:latin typeface="Times New Roman"/>
                <a:cs typeface="Times New Roman"/>
              </a:rPr>
              <a:t> </a:t>
            </a:r>
            <a:r>
              <a:rPr sz="3335" spc="14" baseline="-34013" dirty="0">
                <a:latin typeface="Symbol"/>
                <a:cs typeface="Symbol"/>
              </a:rPr>
              <a:t></a:t>
            </a:r>
            <a:r>
              <a:rPr sz="3335" spc="14" baseline="-34013" dirty="0">
                <a:latin typeface="Times New Roman"/>
                <a:cs typeface="Times New Roman"/>
              </a:rPr>
              <a:t> </a:t>
            </a:r>
            <a:r>
              <a:rPr sz="2224" u="heavy" spc="9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1</a:t>
            </a:r>
            <a:r>
              <a:rPr sz="2224" u="heavy" spc="9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</a:t>
            </a:r>
            <a:r>
              <a:rPr sz="2224" u="heavy" spc="127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224" i="1" u="heavy" spc="9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A</a:t>
            </a:r>
            <a:endParaRPr sz="2224" dirty="0">
              <a:latin typeface="Times New Roman"/>
              <a:cs typeface="Times New Roman"/>
            </a:endParaRPr>
          </a:p>
          <a:p>
            <a:pPr marL="2034431">
              <a:spcBef>
                <a:spcPts val="431"/>
              </a:spcBef>
            </a:pPr>
            <a:r>
              <a:rPr sz="2224" i="1" spc="18" dirty="0">
                <a:latin typeface="Times New Roman"/>
                <a:cs typeface="Times New Roman"/>
              </a:rPr>
              <a:t>At</a:t>
            </a:r>
            <a:r>
              <a:rPr sz="1974" i="1" spc="27" baseline="-22988" dirty="0">
                <a:latin typeface="Times New Roman"/>
                <a:cs typeface="Times New Roman"/>
              </a:rPr>
              <a:t>m</a:t>
            </a:r>
            <a:endParaRPr sz="1974" baseline="-22988" dirty="0">
              <a:latin typeface="Times New Roman"/>
              <a:cs typeface="Times New Roman"/>
            </a:endParaRPr>
          </a:p>
          <a:p>
            <a:pPr marL="1422949">
              <a:spcBef>
                <a:spcPts val="604"/>
              </a:spcBef>
              <a:tabLst>
                <a:tab pos="2274759" algn="l"/>
              </a:tabLst>
            </a:pPr>
            <a:r>
              <a:rPr sz="3335" spc="27" baseline="-35147" dirty="0">
                <a:latin typeface="Symbol"/>
                <a:cs typeface="Symbol"/>
              </a:rPr>
              <a:t></a:t>
            </a:r>
            <a:r>
              <a:rPr sz="3335" spc="-490" baseline="-35147" dirty="0">
                <a:latin typeface="Times New Roman"/>
                <a:cs typeface="Times New Roman"/>
              </a:rPr>
              <a:t> </a:t>
            </a:r>
            <a:r>
              <a:rPr sz="3540" spc="-94" baseline="-33119" dirty="0">
                <a:latin typeface="Symbol"/>
                <a:cs typeface="Symbol"/>
              </a:rPr>
              <a:t></a:t>
            </a:r>
            <a:r>
              <a:rPr sz="3540" spc="190" baseline="-33119" dirty="0">
                <a:latin typeface="Times New Roman"/>
                <a:cs typeface="Times New Roman"/>
              </a:rPr>
              <a:t> </a:t>
            </a:r>
            <a:r>
              <a:rPr sz="3335" spc="14" baseline="-35147" dirty="0">
                <a:latin typeface="Symbol"/>
                <a:cs typeface="Symbol"/>
              </a:rPr>
              <a:t></a:t>
            </a:r>
            <a:r>
              <a:rPr sz="3335" spc="14" baseline="-35147" dirty="0">
                <a:latin typeface="Times New Roman"/>
                <a:cs typeface="Times New Roman"/>
              </a:rPr>
              <a:t>	</a:t>
            </a:r>
            <a:r>
              <a:rPr sz="2224" spc="86" dirty="0">
                <a:latin typeface="Times New Roman"/>
                <a:cs typeface="Times New Roman"/>
              </a:rPr>
              <a:t>1</a:t>
            </a:r>
            <a:r>
              <a:rPr sz="2224" spc="86" dirty="0">
                <a:latin typeface="Symbol"/>
                <a:cs typeface="Symbol"/>
              </a:rPr>
              <a:t></a:t>
            </a:r>
            <a:r>
              <a:rPr sz="2224" spc="-208" dirty="0">
                <a:latin typeface="Times New Roman"/>
                <a:cs typeface="Times New Roman"/>
              </a:rPr>
              <a:t> </a:t>
            </a:r>
            <a:r>
              <a:rPr sz="2224" spc="5" dirty="0">
                <a:latin typeface="Times New Roman"/>
                <a:cs typeface="Times New Roman"/>
              </a:rPr>
              <a:t>0.99</a:t>
            </a:r>
            <a:endParaRPr sz="2224" dirty="0">
              <a:latin typeface="Times New Roman"/>
              <a:cs typeface="Times New Roman"/>
            </a:endParaRPr>
          </a:p>
          <a:p>
            <a:pPr marL="2194649">
              <a:spcBef>
                <a:spcPts val="431"/>
              </a:spcBef>
            </a:pPr>
            <a:r>
              <a:rPr sz="2224" spc="5" dirty="0">
                <a:latin typeface="Times New Roman"/>
                <a:cs typeface="Times New Roman"/>
              </a:rPr>
              <a:t>0.99</a:t>
            </a:r>
            <a:r>
              <a:rPr sz="2224" spc="-359" dirty="0">
                <a:latin typeface="Times New Roman"/>
                <a:cs typeface="Times New Roman"/>
              </a:rPr>
              <a:t> </a:t>
            </a:r>
            <a:r>
              <a:rPr sz="2224" spc="9" dirty="0">
                <a:latin typeface="Symbol"/>
                <a:cs typeface="Symbol"/>
              </a:rPr>
              <a:t></a:t>
            </a:r>
            <a:r>
              <a:rPr sz="2224" spc="-277" dirty="0">
                <a:latin typeface="Times New Roman"/>
                <a:cs typeface="Times New Roman"/>
              </a:rPr>
              <a:t> </a:t>
            </a:r>
            <a:r>
              <a:rPr sz="2224" dirty="0">
                <a:latin typeface="Times New Roman"/>
                <a:cs typeface="Times New Roman"/>
              </a:rPr>
              <a:t>0.1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0166" y="327213"/>
            <a:ext cx="11097656" cy="1211353"/>
          </a:xfrm>
          <a:prstGeom prst="rect">
            <a:avLst/>
          </a:prstGeom>
        </p:spPr>
        <p:txBody>
          <a:bodyPr vert="horz" wrap="square" lIns="0" tIns="102358" rIns="0" bIns="0" rtlCol="0" anchor="ctr">
            <a:spAutoFit/>
          </a:bodyPr>
          <a:lstStyle/>
          <a:p>
            <a:pPr marL="1734164" marR="4611" indent="-774582">
              <a:lnSpc>
                <a:spcPct val="100000"/>
              </a:lnSpc>
              <a:spcBef>
                <a:spcPts val="86"/>
              </a:spcBef>
            </a:pPr>
            <a:r>
              <a:rPr spc="-5" dirty="0"/>
              <a:t>Availability, Failure Intensity,  Reliability and</a:t>
            </a:r>
            <a:r>
              <a:rPr spc="14" dirty="0"/>
              <a:t> </a:t>
            </a:r>
            <a:r>
              <a:rPr spc="-5" dirty="0"/>
              <a:t>MTBF</a:t>
            </a:r>
          </a:p>
        </p:txBody>
      </p:sp>
      <p:sp>
        <p:nvSpPr>
          <p:cNvPr id="3" name="object 3"/>
          <p:cNvSpPr/>
          <p:nvPr/>
        </p:nvSpPr>
        <p:spPr>
          <a:xfrm>
            <a:off x="2443976" y="5174275"/>
            <a:ext cx="132780" cy="1369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4" name="object 4"/>
          <p:cNvSpPr txBox="1"/>
          <p:nvPr/>
        </p:nvSpPr>
        <p:spPr>
          <a:xfrm>
            <a:off x="2642691" y="5111570"/>
            <a:ext cx="4161481" cy="23451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Mean </a:t>
            </a:r>
            <a:r>
              <a:rPr sz="1452" spc="-18" dirty="0">
                <a:solidFill>
                  <a:srgbClr val="000065"/>
                </a:solidFill>
                <a:latin typeface="Arial"/>
                <a:cs typeface="Arial"/>
              </a:rPr>
              <a:t>Time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Between Failures</a:t>
            </a:r>
            <a:r>
              <a:rPr sz="1452" spc="50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(MTBF)?</a:t>
            </a:r>
            <a:endParaRPr sz="1452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424613" y="2824343"/>
            <a:ext cx="136929" cy="1369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6" name="object 6"/>
          <p:cNvSpPr/>
          <p:nvPr/>
        </p:nvSpPr>
        <p:spPr>
          <a:xfrm>
            <a:off x="4449508" y="3630706"/>
            <a:ext cx="957238" cy="0"/>
          </a:xfrm>
          <a:custGeom>
            <a:avLst/>
            <a:gdLst/>
            <a:ahLst/>
            <a:cxnLst/>
            <a:rect l="l" t="t" r="r" b="b"/>
            <a:pathLst>
              <a:path w="1054735">
                <a:moveTo>
                  <a:pt x="0" y="0"/>
                </a:moveTo>
                <a:lnTo>
                  <a:pt x="1054607" y="0"/>
                </a:lnTo>
              </a:path>
            </a:pathLst>
          </a:custGeom>
          <a:ln w="89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7" name="object 7"/>
          <p:cNvSpPr/>
          <p:nvPr/>
        </p:nvSpPr>
        <p:spPr>
          <a:xfrm>
            <a:off x="5614100" y="3630706"/>
            <a:ext cx="849470" cy="0"/>
          </a:xfrm>
          <a:custGeom>
            <a:avLst/>
            <a:gdLst/>
            <a:ahLst/>
            <a:cxnLst/>
            <a:rect l="l" t="t" r="r" b="b"/>
            <a:pathLst>
              <a:path w="935989">
                <a:moveTo>
                  <a:pt x="0" y="0"/>
                </a:moveTo>
                <a:lnTo>
                  <a:pt x="935735" y="0"/>
                </a:lnTo>
              </a:path>
            </a:pathLst>
          </a:custGeom>
          <a:ln w="894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8" name="object 8"/>
          <p:cNvSpPr txBox="1"/>
          <p:nvPr/>
        </p:nvSpPr>
        <p:spPr>
          <a:xfrm>
            <a:off x="4467035" y="3626850"/>
            <a:ext cx="2003804" cy="24849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  <a:tabLst>
                <a:tab pos="1157839" algn="l"/>
              </a:tabLst>
            </a:pPr>
            <a:r>
              <a:rPr sz="1543" i="1" spc="-5" dirty="0">
                <a:latin typeface="Times New Roman"/>
                <a:cs typeface="Times New Roman"/>
              </a:rPr>
              <a:t>Availability	</a:t>
            </a:r>
            <a:r>
              <a:rPr sz="1543" spc="-5" dirty="0">
                <a:latin typeface="Times New Roman"/>
                <a:cs typeface="Times New Roman"/>
              </a:rPr>
              <a:t>0.0099999</a:t>
            </a:r>
            <a:endParaRPr sz="1543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04373" y="3473323"/>
            <a:ext cx="1590595" cy="24849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543" spc="-5" dirty="0">
                <a:latin typeface="Symbol"/>
                <a:cs typeface="Symbol"/>
              </a:rPr>
              <a:t></a:t>
            </a:r>
            <a:r>
              <a:rPr sz="1543" spc="-73" dirty="0">
                <a:latin typeface="Times New Roman"/>
                <a:cs typeface="Times New Roman"/>
              </a:rPr>
              <a:t> </a:t>
            </a:r>
            <a:r>
              <a:rPr sz="1543" spc="-5" dirty="0">
                <a:latin typeface="Times New Roman"/>
                <a:cs typeface="Times New Roman"/>
              </a:rPr>
              <a:t>0.083</a:t>
            </a:r>
            <a:r>
              <a:rPr sz="1543" spc="-150" dirty="0">
                <a:latin typeface="Times New Roman"/>
                <a:cs typeface="Times New Roman"/>
              </a:rPr>
              <a:t> </a:t>
            </a:r>
            <a:r>
              <a:rPr sz="1543" i="1" spc="-5" dirty="0">
                <a:latin typeface="Times New Roman"/>
                <a:cs typeface="Times New Roman"/>
              </a:rPr>
              <a:t>failures</a:t>
            </a:r>
            <a:r>
              <a:rPr sz="1543" i="1" spc="-127" dirty="0">
                <a:latin typeface="Times New Roman"/>
                <a:cs typeface="Times New Roman"/>
              </a:rPr>
              <a:t> </a:t>
            </a:r>
            <a:r>
              <a:rPr sz="1543" spc="-5" dirty="0">
                <a:latin typeface="Times New Roman"/>
                <a:cs typeface="Times New Roman"/>
              </a:rPr>
              <a:t>/</a:t>
            </a:r>
            <a:r>
              <a:rPr sz="1543" spc="-77" dirty="0">
                <a:latin typeface="Times New Roman"/>
                <a:cs typeface="Times New Roman"/>
              </a:rPr>
              <a:t> </a:t>
            </a:r>
            <a:r>
              <a:rPr sz="1543" i="1" spc="-5" dirty="0">
                <a:latin typeface="Times New Roman"/>
                <a:cs typeface="Times New Roman"/>
              </a:rPr>
              <a:t>Hr</a:t>
            </a:r>
            <a:endParaRPr sz="1543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6542" y="3350224"/>
            <a:ext cx="1901798" cy="248494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34580">
              <a:spcBef>
                <a:spcPts val="86"/>
              </a:spcBef>
              <a:tabLst>
                <a:tab pos="962464" algn="l"/>
                <a:tab pos="1229303" algn="l"/>
              </a:tabLst>
            </a:pPr>
            <a:r>
              <a:rPr sz="1543" i="1" spc="-5" dirty="0">
                <a:latin typeface="Times New Roman"/>
                <a:cs typeface="Times New Roman"/>
              </a:rPr>
              <a:t>Downtime	</a:t>
            </a:r>
            <a:r>
              <a:rPr sz="2314" spc="-6" baseline="-34313" dirty="0">
                <a:latin typeface="Symbol"/>
                <a:cs typeface="Symbol"/>
              </a:rPr>
              <a:t></a:t>
            </a:r>
            <a:r>
              <a:rPr sz="2314" spc="-6" baseline="-34313" dirty="0">
                <a:latin typeface="Times New Roman"/>
                <a:cs typeface="Times New Roman"/>
              </a:rPr>
              <a:t>	</a:t>
            </a:r>
            <a:r>
              <a:rPr sz="1543" spc="-5" dirty="0">
                <a:latin typeface="Times New Roman"/>
                <a:cs typeface="Times New Roman"/>
              </a:rPr>
              <a:t>0.00083</a:t>
            </a:r>
            <a:endParaRPr sz="1543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17103" y="3462185"/>
            <a:ext cx="295643" cy="262536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11527">
              <a:spcBef>
                <a:spcPts val="86"/>
              </a:spcBef>
            </a:pPr>
            <a:r>
              <a:rPr sz="1634" spc="-54" dirty="0">
                <a:latin typeface="Symbol"/>
                <a:cs typeface="Symbol"/>
              </a:rPr>
              <a:t></a:t>
            </a:r>
            <a:r>
              <a:rPr sz="1634" spc="-32" dirty="0">
                <a:latin typeface="Times New Roman"/>
                <a:cs typeface="Times New Roman"/>
              </a:rPr>
              <a:t> </a:t>
            </a:r>
            <a:r>
              <a:rPr sz="1543" spc="-5" dirty="0">
                <a:latin typeface="Symbol"/>
                <a:cs typeface="Symbol"/>
              </a:rPr>
              <a:t></a:t>
            </a:r>
            <a:endParaRPr sz="1543">
              <a:latin typeface="Symbol"/>
              <a:cs typeface="Symbo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424613" y="4084371"/>
            <a:ext cx="136929" cy="1369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3" name="object 13"/>
          <p:cNvSpPr/>
          <p:nvPr/>
        </p:nvSpPr>
        <p:spPr>
          <a:xfrm>
            <a:off x="5619638" y="4597516"/>
            <a:ext cx="792992" cy="0"/>
          </a:xfrm>
          <a:custGeom>
            <a:avLst/>
            <a:gdLst/>
            <a:ahLst/>
            <a:cxnLst/>
            <a:rect l="l" t="t" r="r" b="b"/>
            <a:pathLst>
              <a:path w="873760">
                <a:moveTo>
                  <a:pt x="0" y="0"/>
                </a:moveTo>
                <a:lnTo>
                  <a:pt x="873240" y="0"/>
                </a:lnTo>
              </a:path>
            </a:pathLst>
          </a:custGeom>
          <a:ln w="490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4" name="object 14"/>
          <p:cNvSpPr txBox="1"/>
          <p:nvPr/>
        </p:nvSpPr>
        <p:spPr>
          <a:xfrm>
            <a:off x="4840480" y="4601560"/>
            <a:ext cx="1353158" cy="162355"/>
          </a:xfrm>
          <a:prstGeom prst="rect">
            <a:avLst/>
          </a:prstGeom>
        </p:spPr>
        <p:txBody>
          <a:bodyPr vert="horz" wrap="square" lIns="0" tIns="15560" rIns="0" bIns="0" rtlCol="0">
            <a:spAutoFit/>
          </a:bodyPr>
          <a:lstStyle/>
          <a:p>
            <a:pPr marL="46106">
              <a:spcBef>
                <a:spcPts val="123"/>
              </a:spcBef>
              <a:tabLst>
                <a:tab pos="1020673" algn="l"/>
              </a:tabLst>
            </a:pPr>
            <a:r>
              <a:rPr sz="953" spc="-14" dirty="0">
                <a:latin typeface="Times New Roman"/>
                <a:cs typeface="Times New Roman"/>
              </a:rPr>
              <a:t>1</a:t>
            </a:r>
            <a:r>
              <a:rPr sz="953" spc="-14" dirty="0">
                <a:latin typeface="Symbol"/>
                <a:cs typeface="Symbol"/>
              </a:rPr>
              <a:t></a:t>
            </a:r>
            <a:r>
              <a:rPr sz="953" spc="-14" dirty="0">
                <a:latin typeface="Times New Roman"/>
                <a:cs typeface="Times New Roman"/>
              </a:rPr>
              <a:t>10</a:t>
            </a:r>
            <a:r>
              <a:rPr sz="1021" spc="-20" baseline="37037" dirty="0">
                <a:latin typeface="Times New Roman"/>
                <a:cs typeface="Times New Roman"/>
              </a:rPr>
              <a:t>9	</a:t>
            </a:r>
            <a:r>
              <a:rPr sz="953" spc="-14" dirty="0">
                <a:latin typeface="Times New Roman"/>
                <a:cs typeface="Times New Roman"/>
              </a:rPr>
              <a:t>1</a:t>
            </a:r>
            <a:r>
              <a:rPr sz="953" spc="-14" dirty="0">
                <a:latin typeface="Symbol"/>
                <a:cs typeface="Symbol"/>
              </a:rPr>
              <a:t></a:t>
            </a:r>
            <a:r>
              <a:rPr sz="953" spc="-14" dirty="0">
                <a:latin typeface="Times New Roman"/>
                <a:cs typeface="Times New Roman"/>
              </a:rPr>
              <a:t>10</a:t>
            </a:r>
            <a:r>
              <a:rPr sz="1021" spc="-20" baseline="37037" dirty="0">
                <a:latin typeface="Times New Roman"/>
                <a:cs typeface="Times New Roman"/>
              </a:rPr>
              <a:t>9</a:t>
            </a:r>
            <a:endParaRPr sz="1021" baseline="37037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24003" y="4581066"/>
            <a:ext cx="1417704" cy="271788"/>
          </a:xfrm>
          <a:prstGeom prst="rect">
            <a:avLst/>
          </a:prstGeom>
        </p:spPr>
        <p:txBody>
          <a:bodyPr vert="horz" wrap="square" lIns="0" tIns="13254" rIns="0" bIns="0" rtlCol="0">
            <a:spAutoFit/>
          </a:bodyPr>
          <a:lstStyle/>
          <a:p>
            <a:pPr marL="11527">
              <a:spcBef>
                <a:spcPts val="103"/>
              </a:spcBef>
              <a:tabLst>
                <a:tab pos="1144007" algn="l"/>
              </a:tabLst>
            </a:pPr>
            <a:r>
              <a:rPr sz="1679" i="1" spc="41" dirty="0">
                <a:latin typeface="Times New Roman"/>
                <a:cs typeface="Times New Roman"/>
              </a:rPr>
              <a:t>R</a:t>
            </a:r>
            <a:r>
              <a:rPr sz="1679" spc="41" dirty="0">
                <a:latin typeface="Times New Roman"/>
                <a:cs typeface="Times New Roman"/>
              </a:rPr>
              <a:t>(</a:t>
            </a:r>
            <a:r>
              <a:rPr sz="1679" i="1" spc="41" dirty="0">
                <a:latin typeface="Times New Roman"/>
                <a:cs typeface="Times New Roman"/>
              </a:rPr>
              <a:t>t</a:t>
            </a:r>
            <a:r>
              <a:rPr sz="1679" spc="41" dirty="0">
                <a:latin typeface="Times New Roman"/>
                <a:cs typeface="Times New Roman"/>
              </a:rPr>
              <a:t>)</a:t>
            </a:r>
            <a:r>
              <a:rPr sz="1679" spc="-23" dirty="0">
                <a:latin typeface="Times New Roman"/>
                <a:cs typeface="Times New Roman"/>
              </a:rPr>
              <a:t> </a:t>
            </a:r>
            <a:r>
              <a:rPr sz="1679" spc="5" dirty="0">
                <a:latin typeface="Symbol"/>
                <a:cs typeface="Symbol"/>
              </a:rPr>
              <a:t></a:t>
            </a:r>
            <a:r>
              <a:rPr sz="1679" spc="-41" dirty="0">
                <a:latin typeface="Times New Roman"/>
                <a:cs typeface="Times New Roman"/>
              </a:rPr>
              <a:t> </a:t>
            </a:r>
            <a:r>
              <a:rPr sz="1679" i="1" spc="5" dirty="0">
                <a:latin typeface="Times New Roman"/>
                <a:cs typeface="Times New Roman"/>
              </a:rPr>
              <a:t>e	</a:t>
            </a:r>
            <a:r>
              <a:rPr sz="1679" spc="5" dirty="0">
                <a:latin typeface="Symbol"/>
                <a:cs typeface="Symbol"/>
              </a:rPr>
              <a:t></a:t>
            </a:r>
            <a:r>
              <a:rPr sz="1679" spc="-113" dirty="0">
                <a:latin typeface="Times New Roman"/>
                <a:cs typeface="Times New Roman"/>
              </a:rPr>
              <a:t> </a:t>
            </a:r>
            <a:r>
              <a:rPr sz="1679" i="1" spc="5" dirty="0">
                <a:latin typeface="Times New Roman"/>
                <a:cs typeface="Times New Roman"/>
              </a:rPr>
              <a:t>e</a:t>
            </a:r>
            <a:endParaRPr sz="1679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3041" y="4021668"/>
            <a:ext cx="4597742" cy="561913"/>
          </a:xfrm>
          <a:prstGeom prst="rect">
            <a:avLst/>
          </a:prstGeom>
        </p:spPr>
        <p:txBody>
          <a:bodyPr vert="horz" wrap="square" lIns="0" tIns="10950" rIns="0" bIns="0" rtlCol="0">
            <a:spAutoFit/>
          </a:bodyPr>
          <a:lstStyle/>
          <a:p>
            <a:pPr marL="34580">
              <a:spcBef>
                <a:spcPts val="86"/>
              </a:spcBef>
            </a:pP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What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the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reliability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probability for a period of 2</a:t>
            </a:r>
            <a:r>
              <a:rPr sz="1452" spc="54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9" dirty="0">
                <a:solidFill>
                  <a:srgbClr val="000065"/>
                </a:solidFill>
                <a:latin typeface="Arial"/>
                <a:cs typeface="Arial"/>
              </a:rPr>
              <a:t>years?</a:t>
            </a:r>
            <a:endParaRPr sz="1452">
              <a:latin typeface="Arial"/>
              <a:cs typeface="Arial"/>
            </a:endParaRPr>
          </a:p>
          <a:p>
            <a:pPr marL="2210210">
              <a:spcBef>
                <a:spcPts val="1289"/>
              </a:spcBef>
              <a:tabLst>
                <a:tab pos="2937534" algn="l"/>
              </a:tabLst>
            </a:pPr>
            <a:r>
              <a:rPr sz="1429" spc="61" baseline="-37037" dirty="0">
                <a:latin typeface="Symbol"/>
                <a:cs typeface="Symbol"/>
              </a:rPr>
              <a:t></a:t>
            </a:r>
            <a:r>
              <a:rPr sz="1044" u="sng" spc="41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</a:t>
            </a:r>
            <a:r>
              <a:rPr sz="1044" u="sng" spc="54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1044" u="sng" spc="-5" dirty="0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</a:t>
            </a:r>
            <a:r>
              <a:rPr sz="953" i="1" u="sng" spc="-5" dirty="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T</a:t>
            </a:r>
            <a:r>
              <a:rPr sz="953" i="1" spc="-5" dirty="0">
                <a:latin typeface="Times New Roman"/>
                <a:cs typeface="Times New Roman"/>
              </a:rPr>
              <a:t>	</a:t>
            </a:r>
            <a:r>
              <a:rPr sz="1429" spc="27" baseline="-37037" dirty="0">
                <a:latin typeface="Symbol"/>
                <a:cs typeface="Symbol"/>
              </a:rPr>
              <a:t></a:t>
            </a:r>
            <a:r>
              <a:rPr sz="1429" spc="-162" baseline="-37037" dirty="0">
                <a:latin typeface="Times New Roman"/>
                <a:cs typeface="Times New Roman"/>
              </a:rPr>
              <a:t> </a:t>
            </a:r>
            <a:r>
              <a:rPr sz="953" spc="9" dirty="0">
                <a:latin typeface="Times New Roman"/>
                <a:cs typeface="Times New Roman"/>
              </a:rPr>
              <a:t>0.99999</a:t>
            </a:r>
            <a:r>
              <a:rPr sz="953" spc="9" dirty="0">
                <a:latin typeface="Symbol"/>
                <a:cs typeface="Symbol"/>
              </a:rPr>
              <a:t></a:t>
            </a:r>
            <a:r>
              <a:rPr sz="953" spc="9" dirty="0">
                <a:latin typeface="Times New Roman"/>
                <a:cs typeface="Times New Roman"/>
              </a:rPr>
              <a:t>17520</a:t>
            </a:r>
            <a:r>
              <a:rPr sz="953" spc="-132" dirty="0">
                <a:latin typeface="Times New Roman"/>
                <a:cs typeface="Times New Roman"/>
              </a:rPr>
              <a:t> </a:t>
            </a:r>
            <a:r>
              <a:rPr sz="1429" spc="34" baseline="-37037" dirty="0">
                <a:latin typeface="Symbol"/>
                <a:cs typeface="Symbol"/>
              </a:rPr>
              <a:t></a:t>
            </a:r>
            <a:r>
              <a:rPr sz="1429" spc="34" baseline="-37037" dirty="0">
                <a:latin typeface="Times New Roman"/>
                <a:cs typeface="Times New Roman"/>
              </a:rPr>
              <a:t>0.99998</a:t>
            </a:r>
            <a:endParaRPr sz="1429" baseline="-37037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773160" y="5734440"/>
            <a:ext cx="433379" cy="0"/>
          </a:xfrm>
          <a:custGeom>
            <a:avLst/>
            <a:gdLst/>
            <a:ahLst/>
            <a:cxnLst/>
            <a:rect l="l" t="t" r="r" b="b"/>
            <a:pathLst>
              <a:path w="477520">
                <a:moveTo>
                  <a:pt x="0" y="0"/>
                </a:moveTo>
                <a:lnTo>
                  <a:pt x="477011" y="0"/>
                </a:lnTo>
              </a:path>
            </a:pathLst>
          </a:custGeom>
          <a:ln w="77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8" name="object 18"/>
          <p:cNvSpPr/>
          <p:nvPr/>
        </p:nvSpPr>
        <p:spPr>
          <a:xfrm>
            <a:off x="5390034" y="5734440"/>
            <a:ext cx="434532" cy="0"/>
          </a:xfrm>
          <a:custGeom>
            <a:avLst/>
            <a:gdLst/>
            <a:ahLst/>
            <a:cxnLst/>
            <a:rect l="l" t="t" r="r" b="b"/>
            <a:pathLst>
              <a:path w="478789">
                <a:moveTo>
                  <a:pt x="0" y="0"/>
                </a:moveTo>
                <a:lnTo>
                  <a:pt x="478535" y="0"/>
                </a:lnTo>
              </a:path>
            </a:pathLst>
          </a:custGeom>
          <a:ln w="770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19" name="object 19"/>
          <p:cNvSpPr txBox="1"/>
          <p:nvPr/>
        </p:nvSpPr>
        <p:spPr>
          <a:xfrm>
            <a:off x="6476715" y="5590554"/>
            <a:ext cx="122752" cy="131425"/>
          </a:xfrm>
          <a:prstGeom prst="rect">
            <a:avLst/>
          </a:prstGeom>
        </p:spPr>
        <p:txBody>
          <a:bodyPr vert="horz" wrap="square" lIns="0" tIns="12679" rIns="0" bIns="0" rtlCol="0">
            <a:spAutoFit/>
          </a:bodyPr>
          <a:lstStyle/>
          <a:p>
            <a:pPr marL="11527">
              <a:spcBef>
                <a:spcPts val="100"/>
              </a:spcBef>
            </a:pPr>
            <a:r>
              <a:rPr sz="771" spc="5" dirty="0">
                <a:latin typeface="Times New Roman"/>
                <a:cs typeface="Times New Roman"/>
              </a:rPr>
              <a:t>10</a:t>
            </a:r>
            <a:endParaRPr sz="771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242963" y="5595795"/>
            <a:ext cx="1263255" cy="357788"/>
          </a:xfrm>
          <a:prstGeom prst="rect">
            <a:avLst/>
          </a:prstGeom>
        </p:spPr>
        <p:txBody>
          <a:bodyPr vert="horz" wrap="square" lIns="0" tIns="83564" rIns="0" bIns="0" rtlCol="0">
            <a:spAutoFit/>
          </a:bodyPr>
          <a:lstStyle/>
          <a:p>
            <a:pPr marL="177508" marR="4611" indent="-165982">
              <a:lnSpc>
                <a:spcPct val="65500"/>
              </a:lnSpc>
              <a:spcBef>
                <a:spcPts val="658"/>
              </a:spcBef>
              <a:tabLst>
                <a:tab pos="628195" algn="l"/>
              </a:tabLst>
            </a:pPr>
            <a:r>
              <a:rPr sz="1316" spc="9" dirty="0">
                <a:latin typeface="Symbol"/>
                <a:cs typeface="Symbol"/>
              </a:rPr>
              <a:t></a:t>
            </a:r>
            <a:r>
              <a:rPr sz="1316" spc="9" dirty="0">
                <a:latin typeface="Times New Roman"/>
                <a:cs typeface="Times New Roman"/>
              </a:rPr>
              <a:t>		</a:t>
            </a:r>
            <a:r>
              <a:rPr sz="1316" spc="9" dirty="0">
                <a:latin typeface="Symbol"/>
                <a:cs typeface="Symbol"/>
              </a:rPr>
              <a:t></a:t>
            </a:r>
            <a:r>
              <a:rPr sz="1316" spc="-185" dirty="0">
                <a:latin typeface="Times New Roman"/>
                <a:cs typeface="Times New Roman"/>
              </a:rPr>
              <a:t> </a:t>
            </a:r>
            <a:r>
              <a:rPr sz="1316" spc="5" dirty="0">
                <a:latin typeface="Times New Roman"/>
                <a:cs typeface="Times New Roman"/>
              </a:rPr>
              <a:t>1.2</a:t>
            </a:r>
            <a:r>
              <a:rPr sz="1316" spc="-191" dirty="0">
                <a:latin typeface="Times New Roman"/>
                <a:cs typeface="Times New Roman"/>
              </a:rPr>
              <a:t> </a:t>
            </a:r>
            <a:r>
              <a:rPr sz="1316" spc="32" dirty="0">
                <a:latin typeface="Symbol"/>
                <a:cs typeface="Symbol"/>
              </a:rPr>
              <a:t></a:t>
            </a:r>
            <a:r>
              <a:rPr sz="1316" spc="32" dirty="0">
                <a:latin typeface="Times New Roman"/>
                <a:cs typeface="Times New Roman"/>
              </a:rPr>
              <a:t>10  </a:t>
            </a:r>
            <a:r>
              <a:rPr sz="1316" spc="9" dirty="0">
                <a:latin typeface="Times New Roman"/>
                <a:cs typeface="Times New Roman"/>
              </a:rPr>
              <a:t>0.083</a:t>
            </a:r>
            <a:endParaRPr sz="1316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31669" y="5490678"/>
            <a:ext cx="1103619" cy="217040"/>
          </a:xfrm>
          <a:prstGeom prst="rect">
            <a:avLst/>
          </a:prstGeom>
        </p:spPr>
        <p:txBody>
          <a:bodyPr vert="horz" wrap="square" lIns="0" tIns="14408" rIns="0" bIns="0" rtlCol="0">
            <a:spAutoFit/>
          </a:bodyPr>
          <a:lstStyle/>
          <a:p>
            <a:pPr marL="34580">
              <a:spcBef>
                <a:spcPts val="113"/>
              </a:spcBef>
              <a:tabLst>
                <a:tab pos="652401" algn="l"/>
              </a:tabLst>
            </a:pPr>
            <a:r>
              <a:rPr sz="1316" spc="36" dirty="0">
                <a:latin typeface="Times New Roman"/>
                <a:cs typeface="Times New Roman"/>
              </a:rPr>
              <a:t>1</a:t>
            </a:r>
            <a:r>
              <a:rPr sz="1316" spc="36" dirty="0">
                <a:latin typeface="Symbol"/>
                <a:cs typeface="Symbol"/>
              </a:rPr>
              <a:t></a:t>
            </a:r>
            <a:r>
              <a:rPr sz="1316" spc="36" dirty="0">
                <a:latin typeface="Times New Roman"/>
                <a:cs typeface="Times New Roman"/>
              </a:rPr>
              <a:t>10</a:t>
            </a:r>
            <a:r>
              <a:rPr sz="1157" spc="54" baseline="42483" dirty="0">
                <a:latin typeface="Times New Roman"/>
                <a:cs typeface="Times New Roman"/>
              </a:rPr>
              <a:t>9	</a:t>
            </a:r>
            <a:r>
              <a:rPr sz="1316" spc="36" dirty="0">
                <a:latin typeface="Times New Roman"/>
                <a:cs typeface="Times New Roman"/>
              </a:rPr>
              <a:t>1</a:t>
            </a:r>
            <a:r>
              <a:rPr sz="1316" spc="36" dirty="0">
                <a:latin typeface="Symbol"/>
                <a:cs typeface="Symbol"/>
              </a:rPr>
              <a:t></a:t>
            </a:r>
            <a:r>
              <a:rPr sz="1316" spc="36" dirty="0">
                <a:latin typeface="Times New Roman"/>
                <a:cs typeface="Times New Roman"/>
              </a:rPr>
              <a:t>10</a:t>
            </a:r>
            <a:r>
              <a:rPr sz="1157" spc="54" baseline="42483" dirty="0">
                <a:latin typeface="Times New Roman"/>
                <a:cs typeface="Times New Roman"/>
              </a:rPr>
              <a:t>9</a:t>
            </a:r>
            <a:endParaRPr sz="1157" baseline="42483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926230" y="5717513"/>
            <a:ext cx="116413" cy="228754"/>
          </a:xfrm>
          <a:prstGeom prst="rect">
            <a:avLst/>
          </a:prstGeom>
        </p:spPr>
        <p:txBody>
          <a:bodyPr vert="horz" wrap="square" lIns="0" tIns="12102" rIns="0" bIns="0" rtlCol="0">
            <a:spAutoFit/>
          </a:bodyPr>
          <a:lstStyle/>
          <a:p>
            <a:pPr marL="11527">
              <a:spcBef>
                <a:spcPts val="95"/>
              </a:spcBef>
            </a:pPr>
            <a:r>
              <a:rPr sz="1407" spc="-41" dirty="0">
                <a:latin typeface="Symbol"/>
                <a:cs typeface="Symbol"/>
              </a:rPr>
              <a:t></a:t>
            </a:r>
            <a:endParaRPr sz="1407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24018" y="5595795"/>
            <a:ext cx="617220" cy="217040"/>
          </a:xfrm>
          <a:prstGeom prst="rect">
            <a:avLst/>
          </a:prstGeom>
        </p:spPr>
        <p:txBody>
          <a:bodyPr vert="horz" wrap="square" lIns="0" tIns="14408" rIns="0" bIns="0" rtlCol="0">
            <a:spAutoFit/>
          </a:bodyPr>
          <a:lstStyle/>
          <a:p>
            <a:pPr marL="11527">
              <a:spcBef>
                <a:spcPts val="113"/>
              </a:spcBef>
            </a:pPr>
            <a:r>
              <a:rPr sz="1316" i="1" spc="9" dirty="0">
                <a:latin typeface="Times New Roman"/>
                <a:cs typeface="Times New Roman"/>
              </a:rPr>
              <a:t>MTBF</a:t>
            </a:r>
            <a:r>
              <a:rPr sz="1316" i="1" spc="59" dirty="0">
                <a:latin typeface="Times New Roman"/>
                <a:cs typeface="Times New Roman"/>
              </a:rPr>
              <a:t> </a:t>
            </a:r>
            <a:r>
              <a:rPr sz="1316" spc="9" dirty="0">
                <a:latin typeface="Symbol"/>
                <a:cs typeface="Symbol"/>
              </a:rPr>
              <a:t></a:t>
            </a:r>
            <a:endParaRPr sz="1316">
              <a:latin typeface="Symbol"/>
              <a:cs typeface="Symbo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201929" y="1987553"/>
            <a:ext cx="145228" cy="1549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634"/>
          </a:p>
        </p:txBody>
      </p:sp>
      <p:sp>
        <p:nvSpPr>
          <p:cNvPr id="25" name="object 25"/>
          <p:cNvSpPr txBox="1"/>
          <p:nvPr/>
        </p:nvSpPr>
        <p:spPr>
          <a:xfrm>
            <a:off x="2402027" y="1919317"/>
            <a:ext cx="7496543" cy="1317637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 marR="10374">
              <a:spcBef>
                <a:spcPts val="91"/>
              </a:spcBef>
            </a:pPr>
            <a:r>
              <a:rPr sz="1634" b="1" dirty="0">
                <a:latin typeface="Arial"/>
                <a:cs typeface="Arial"/>
              </a:rPr>
              <a:t>This </a:t>
            </a:r>
            <a:r>
              <a:rPr sz="1634" b="1" spc="-5" dirty="0">
                <a:latin typeface="Arial"/>
                <a:cs typeface="Arial"/>
              </a:rPr>
              <a:t>presentation </a:t>
            </a:r>
            <a:r>
              <a:rPr sz="1634" b="1" spc="5" dirty="0">
                <a:latin typeface="Arial"/>
                <a:cs typeface="Arial"/>
              </a:rPr>
              <a:t>will </a:t>
            </a:r>
            <a:r>
              <a:rPr sz="1634" b="1" spc="-5" dirty="0">
                <a:latin typeface="Arial"/>
                <a:cs typeface="Arial"/>
              </a:rPr>
              <a:t>discuss reliability </a:t>
            </a:r>
            <a:r>
              <a:rPr sz="1634" b="1" dirty="0">
                <a:latin typeface="Arial"/>
                <a:cs typeface="Arial"/>
              </a:rPr>
              <a:t>in </a:t>
            </a:r>
            <a:r>
              <a:rPr sz="1634" b="1" spc="-5" dirty="0">
                <a:latin typeface="Arial"/>
                <a:cs typeface="Arial"/>
              </a:rPr>
              <a:t>terms </a:t>
            </a:r>
            <a:r>
              <a:rPr sz="1634" b="1" dirty="0">
                <a:latin typeface="Arial"/>
                <a:cs typeface="Arial"/>
              </a:rPr>
              <a:t>of </a:t>
            </a:r>
            <a:r>
              <a:rPr sz="1634" b="1" spc="-18" dirty="0">
                <a:latin typeface="Arial"/>
                <a:cs typeface="Arial"/>
              </a:rPr>
              <a:t>availability, </a:t>
            </a:r>
            <a:r>
              <a:rPr sz="1634" b="1" spc="-5" dirty="0">
                <a:latin typeface="Arial"/>
                <a:cs typeface="Arial"/>
              </a:rPr>
              <a:t>probability  and </a:t>
            </a:r>
            <a:r>
              <a:rPr sz="1634" b="1" spc="-41" dirty="0">
                <a:latin typeface="Arial"/>
                <a:cs typeface="Arial"/>
              </a:rPr>
              <a:t>MTBF. </a:t>
            </a:r>
            <a:r>
              <a:rPr sz="1634" b="1" spc="-5" dirty="0">
                <a:latin typeface="Arial"/>
                <a:cs typeface="Arial"/>
              </a:rPr>
              <a:t>These are </a:t>
            </a:r>
            <a:r>
              <a:rPr sz="1634" b="1" dirty="0">
                <a:latin typeface="Arial"/>
                <a:cs typeface="Arial"/>
              </a:rPr>
              <a:t>the </a:t>
            </a:r>
            <a:r>
              <a:rPr sz="1634" b="1" spc="-5" dirty="0">
                <a:latin typeface="Arial"/>
                <a:cs typeface="Arial"/>
              </a:rPr>
              <a:t>relationships </a:t>
            </a:r>
            <a:r>
              <a:rPr sz="1634" b="1" dirty="0">
                <a:latin typeface="Arial"/>
                <a:cs typeface="Arial"/>
              </a:rPr>
              <a:t>between </a:t>
            </a:r>
            <a:r>
              <a:rPr sz="1634" b="1" spc="-5" dirty="0">
                <a:latin typeface="Arial"/>
                <a:cs typeface="Arial"/>
              </a:rPr>
              <a:t>each </a:t>
            </a:r>
            <a:r>
              <a:rPr sz="1634" b="1" dirty="0">
                <a:latin typeface="Arial"/>
                <a:cs typeface="Arial"/>
              </a:rPr>
              <a:t>of </a:t>
            </a:r>
            <a:r>
              <a:rPr sz="1634" b="1" spc="-5" dirty="0">
                <a:latin typeface="Arial"/>
                <a:cs typeface="Arial"/>
              </a:rPr>
              <a:t>these three</a:t>
            </a:r>
            <a:r>
              <a:rPr sz="1634" b="1" spc="73" dirty="0">
                <a:latin typeface="Arial"/>
                <a:cs typeface="Arial"/>
              </a:rPr>
              <a:t> </a:t>
            </a:r>
            <a:r>
              <a:rPr sz="1634" b="1" spc="-5" dirty="0">
                <a:latin typeface="Arial"/>
                <a:cs typeface="Arial"/>
              </a:rPr>
              <a:t>metrics.</a:t>
            </a:r>
            <a:endParaRPr sz="1634">
              <a:latin typeface="Arial"/>
              <a:cs typeface="Arial"/>
            </a:endParaRPr>
          </a:p>
          <a:p>
            <a:pPr>
              <a:spcBef>
                <a:spcPts val="45"/>
              </a:spcBef>
            </a:pPr>
            <a:endParaRPr sz="2314">
              <a:latin typeface="Arial"/>
              <a:cs typeface="Arial"/>
            </a:endParaRPr>
          </a:p>
          <a:p>
            <a:pPr marL="236870" marR="4611"/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 customer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specifies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an availability target of 0.99999 and a maximum software downtime  of 5 minutes, or 0.083 hours. The failure </a:t>
            </a:r>
            <a:r>
              <a:rPr sz="1452" dirty="0">
                <a:solidFill>
                  <a:srgbClr val="000065"/>
                </a:solidFill>
                <a:latin typeface="Arial"/>
                <a:cs typeface="Arial"/>
              </a:rPr>
              <a:t>intensity is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determined</a:t>
            </a:r>
            <a:r>
              <a:rPr sz="1452" spc="59" dirty="0">
                <a:solidFill>
                  <a:srgbClr val="000065"/>
                </a:solidFill>
                <a:latin typeface="Arial"/>
                <a:cs typeface="Arial"/>
              </a:rPr>
              <a:t> </a:t>
            </a:r>
            <a:r>
              <a:rPr sz="1452" spc="-5" dirty="0">
                <a:solidFill>
                  <a:srgbClr val="000065"/>
                </a:solidFill>
                <a:latin typeface="Arial"/>
                <a:cs typeface="Arial"/>
              </a:rPr>
              <a:t>from:</a:t>
            </a:r>
            <a:endParaRPr sz="1452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630241" y="5612262"/>
            <a:ext cx="575150" cy="263118"/>
          </a:xfrm>
          <a:prstGeom prst="rect">
            <a:avLst/>
          </a:prstGeom>
        </p:spPr>
        <p:txBody>
          <a:bodyPr vert="horz" wrap="square" lIns="0" tIns="11526" rIns="0" bIns="0" rtlCol="0">
            <a:spAutoFit/>
          </a:bodyPr>
          <a:lstStyle/>
          <a:p>
            <a:pPr marL="11527">
              <a:spcBef>
                <a:spcPts val="91"/>
              </a:spcBef>
            </a:pPr>
            <a:r>
              <a:rPr sz="1634" spc="-5" dirty="0">
                <a:latin typeface="Arial"/>
                <a:cs typeface="Arial"/>
              </a:rPr>
              <a:t>Hou</a:t>
            </a:r>
            <a:r>
              <a:rPr sz="1634" dirty="0">
                <a:latin typeface="Arial"/>
                <a:cs typeface="Arial"/>
              </a:rPr>
              <a:t>rs</a:t>
            </a:r>
            <a:endParaRPr sz="1634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10</TotalTime>
  <Words>2060</Words>
  <Application>Microsoft Office PowerPoint</Application>
  <PresentationFormat>Widescreen</PresentationFormat>
  <Paragraphs>219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Century Gothic</vt:lpstr>
      <vt:lpstr>Symbol</vt:lpstr>
      <vt:lpstr>Times New Roman</vt:lpstr>
      <vt:lpstr>Wingdings 3</vt:lpstr>
      <vt:lpstr>Ion Boardroom</vt:lpstr>
      <vt:lpstr>PowerPoint Presentation</vt:lpstr>
      <vt:lpstr>PowerPoint Presentation</vt:lpstr>
      <vt:lpstr>Different Views of Reliability</vt:lpstr>
      <vt:lpstr>System-Level Reliability Modeling (1 of 2)</vt:lpstr>
      <vt:lpstr>System-Level Reliability Modeling (2 of 2)</vt:lpstr>
      <vt:lpstr>What is Software Reliability Engineering  (SRE)?</vt:lpstr>
      <vt:lpstr>Why is SRE Important?</vt:lpstr>
      <vt:lpstr>Why is SRE Beneficial?</vt:lpstr>
      <vt:lpstr>Common SRE Challenges</vt:lpstr>
      <vt:lpstr>Fault Lifecycle Techniques</vt:lpstr>
      <vt:lpstr>Preventing Faults From Being Inserted</vt:lpstr>
      <vt:lpstr>Removing Faults</vt:lpstr>
      <vt:lpstr>Fault Tolerance</vt:lpstr>
      <vt:lpstr>Fault/Failure Forecasting</vt:lpstr>
      <vt:lpstr>SRE Process Overview</vt:lpstr>
      <vt:lpstr>SRE Terms</vt:lpstr>
      <vt:lpstr>Software Reliability Objectives</vt:lpstr>
      <vt:lpstr>Software Availability and Failure  Intensity (1 of 2)</vt:lpstr>
      <vt:lpstr>Software Availability and Failure</vt:lpstr>
      <vt:lpstr>Example</vt:lpstr>
      <vt:lpstr>Availability, Failure Intensity,  Reliability and MTBF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Zarsha</dc:creator>
  <cp:lastModifiedBy>Zarsha</cp:lastModifiedBy>
  <cp:revision>2</cp:revision>
  <dcterms:created xsi:type="dcterms:W3CDTF">2020-05-10T10:18:01Z</dcterms:created>
  <dcterms:modified xsi:type="dcterms:W3CDTF">2020-05-10T10:28:24Z</dcterms:modified>
</cp:coreProperties>
</file>