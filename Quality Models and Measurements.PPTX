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69" r:id="rId2"/>
    <p:sldId id="256"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6E9C27-E3E9-4ECE-91D6-C86B8A982AFF}" type="datetimeFigureOut">
              <a:rPr lang="en-US" smtClean="0"/>
              <a:t>5/10/2020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9C65CE-6E43-4991-BCB5-F04EC8E19620}" type="slidenum">
              <a:rPr lang="en-US" smtClean="0"/>
              <a:t>‹#›</a:t>
            </a:fld>
            <a:endParaRPr lang="en-US"/>
          </a:p>
        </p:txBody>
      </p:sp>
    </p:spTree>
    <p:extLst>
      <p:ext uri="{BB962C8B-B14F-4D97-AF65-F5344CB8AC3E}">
        <p14:creationId xmlns:p14="http://schemas.microsoft.com/office/powerpoint/2010/main" val="144959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533613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18661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60880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34247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39484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929E7D-67C2-478D-B0AC-3878201898D8}" type="datetimeFigureOut">
              <a:rPr lang="en-US" smtClean="0"/>
              <a:t>5/10/2020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81172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929E7D-67C2-478D-B0AC-3878201898D8}" type="datetimeFigureOut">
              <a:rPr lang="en-US" smtClean="0"/>
              <a:t>5/10/2020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926420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21584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8749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852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07122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746390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8420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98889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749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65816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868651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4929E7D-67C2-478D-B0AC-3878201898D8}" type="datetimeFigureOut">
              <a:rPr lang="en-US" smtClean="0"/>
              <a:t>5/10/2020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7E73C9B-D9A2-4DA2-AF94-DBE9ACB31512}" type="slidenum">
              <a:rPr lang="en-US" smtClean="0"/>
              <a:t>‹#›</a:t>
            </a:fld>
            <a:endParaRPr lang="en-US"/>
          </a:p>
        </p:txBody>
      </p:sp>
    </p:spTree>
    <p:extLst>
      <p:ext uri="{BB962C8B-B14F-4D97-AF65-F5344CB8AC3E}">
        <p14:creationId xmlns:p14="http://schemas.microsoft.com/office/powerpoint/2010/main" val="38078877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5065" y="1064260"/>
            <a:ext cx="8825865" cy="3713480"/>
          </a:xfrm>
        </p:spPr>
        <p:txBody>
          <a:bodyPr>
            <a:normAutofit fontScale="90000"/>
          </a:bodyPr>
          <a:lstStyle/>
          <a:p>
            <a:pPr algn="ctr"/>
            <a:br>
              <a:rPr lang="en-US" dirty="0"/>
            </a:br>
            <a:br>
              <a:rPr lang="en-US" dirty="0"/>
            </a:br>
            <a:br>
              <a:rPr lang="en-US" dirty="0"/>
            </a:br>
            <a:br>
              <a:rPr lang="en-US" dirty="0"/>
            </a:br>
            <a:br>
              <a:rPr lang="en-US" dirty="0"/>
            </a:br>
            <a:br>
              <a:rPr lang="en-US" dirty="0"/>
            </a:br>
            <a:r>
              <a:rPr lang="en-US" sz="4000" dirty="0"/>
              <a:t>BSSE    -Software Quality Engineering</a:t>
            </a:r>
            <a:r>
              <a:rPr lang="en-US" sz="4400" dirty="0"/>
              <a:t>					</a:t>
            </a:r>
            <a:br>
              <a:rPr lang="en-US" sz="4400" dirty="0"/>
            </a:br>
            <a:r>
              <a:rPr lang="en-US" sz="4400" dirty="0"/>
              <a:t>Week-14		Lecture 28</a:t>
            </a:r>
            <a:br>
              <a:rPr lang="en-US" sz="4400" dirty="0"/>
            </a:br>
            <a:r>
              <a:rPr lang="en-US" sz="4400" dirty="0"/>
              <a:t>	</a:t>
            </a:r>
            <a:r>
              <a:rPr lang="en-US" sz="2800" dirty="0"/>
              <a:t>Semester 6- Fall 2020</a:t>
            </a:r>
          </a:p>
        </p:txBody>
      </p:sp>
      <p:sp>
        <p:nvSpPr>
          <p:cNvPr id="3" name="Subtitle 2"/>
          <p:cNvSpPr>
            <a:spLocks noGrp="1"/>
          </p:cNvSpPr>
          <p:nvPr>
            <p:ph type="subTitle" idx="1"/>
          </p:nvPr>
        </p:nvSpPr>
        <p:spPr>
          <a:xfrm>
            <a:off x="1155065" y="4777105"/>
            <a:ext cx="8825865" cy="1313815"/>
          </a:xfrm>
        </p:spPr>
        <p:txBody>
          <a:bodyPr>
            <a:normAutofit/>
          </a:bodyPr>
          <a:lstStyle/>
          <a:p>
            <a:pPr lvl="8" algn="l"/>
            <a:r>
              <a:rPr lang="en-US" dirty="0">
                <a:latin typeface="Arial" panose="020B0604020202020204" pitchFamily="34" charset="0"/>
                <a:cs typeface="Arial" panose="020B0604020202020204" pitchFamily="34" charset="0"/>
              </a:rPr>
              <a:t>			</a:t>
            </a:r>
          </a:p>
        </p:txBody>
      </p:sp>
      <p:sp>
        <p:nvSpPr>
          <p:cNvPr id="5" name="Footer Placeholder 4"/>
          <p:cNvSpPr>
            <a:spLocks noGrp="1"/>
          </p:cNvSpPr>
          <p:nvPr>
            <p:ph type="ftr" sz="quarter" idx="11"/>
          </p:nvPr>
        </p:nvSpPr>
        <p:spPr/>
        <p:txBody>
          <a:bodyPr/>
          <a:lstStyle/>
          <a:p>
            <a:r>
              <a:rPr lang="en-US"/>
              <a:t>Lahore Garrison University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7DDE3-1166-4864-A589-F0348820FB31}"/>
              </a:ext>
            </a:extLst>
          </p:cNvPr>
          <p:cNvSpPr>
            <a:spLocks noGrp="1"/>
          </p:cNvSpPr>
          <p:nvPr>
            <p:ph type="ctrTitle"/>
          </p:nvPr>
        </p:nvSpPr>
        <p:spPr>
          <a:xfrm>
            <a:off x="1028345" y="1219199"/>
            <a:ext cx="9972589" cy="2967337"/>
          </a:xfrm>
        </p:spPr>
        <p:txBody>
          <a:bodyPr/>
          <a:lstStyle/>
          <a:p>
            <a:r>
              <a:rPr lang="en-US" dirty="0"/>
              <a:t>Quality Models and Measurements.</a:t>
            </a:r>
          </a:p>
        </p:txBody>
      </p:sp>
      <p:sp>
        <p:nvSpPr>
          <p:cNvPr id="3" name="Subtitle 2">
            <a:extLst>
              <a:ext uri="{FF2B5EF4-FFF2-40B4-BE49-F238E27FC236}">
                <a16:creationId xmlns:a16="http://schemas.microsoft.com/office/drawing/2014/main" id="{EB48AA91-670D-4FE5-A42D-FF21D0BDF00F}"/>
              </a:ext>
            </a:extLst>
          </p:cNvPr>
          <p:cNvSpPr>
            <a:spLocks noGrp="1"/>
          </p:cNvSpPr>
          <p:nvPr>
            <p:ph type="subTitle" idx="1"/>
          </p:nvPr>
        </p:nvSpPr>
        <p:spPr>
          <a:xfrm>
            <a:off x="1140887" y="4186537"/>
            <a:ext cx="9255138" cy="1173254"/>
          </a:xfrm>
        </p:spPr>
        <p:txBody>
          <a:bodyPr>
            <a:normAutofit/>
          </a:bodyPr>
          <a:lstStyle/>
          <a:p>
            <a:endParaRPr lang="en-US" dirty="0">
              <a:solidFill>
                <a:schemeClr val="bg1"/>
              </a:solidFill>
            </a:endParaRPr>
          </a:p>
          <a:p>
            <a:r>
              <a:rPr lang="en-US" dirty="0">
                <a:solidFill>
                  <a:schemeClr val="bg1"/>
                </a:solidFill>
              </a:rPr>
              <a:t>Ms. Zarsha Nazim</a:t>
            </a:r>
          </a:p>
        </p:txBody>
      </p:sp>
    </p:spTree>
    <p:extLst>
      <p:ext uri="{BB962C8B-B14F-4D97-AF65-F5344CB8AC3E}">
        <p14:creationId xmlns:p14="http://schemas.microsoft.com/office/powerpoint/2010/main" val="284334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5A4BA-1763-4937-8F27-D2035905BDA3}"/>
              </a:ext>
            </a:extLst>
          </p:cNvPr>
          <p:cNvSpPr>
            <a:spLocks noGrp="1"/>
          </p:cNvSpPr>
          <p:nvPr>
            <p:ph type="title"/>
          </p:nvPr>
        </p:nvSpPr>
        <p:spPr/>
        <p:txBody>
          <a:bodyPr/>
          <a:lstStyle/>
          <a:p>
            <a:r>
              <a:rPr lang="en-US" dirty="0"/>
              <a:t>MODELS FOR QUALITY ASSESSMENT </a:t>
            </a:r>
            <a:br>
              <a:rPr lang="en-US" dirty="0"/>
            </a:br>
            <a:endParaRPr lang="en-US" dirty="0"/>
          </a:p>
        </p:txBody>
      </p:sp>
      <p:sp>
        <p:nvSpPr>
          <p:cNvPr id="3" name="Content Placeholder 2">
            <a:extLst>
              <a:ext uri="{FF2B5EF4-FFF2-40B4-BE49-F238E27FC236}">
                <a16:creationId xmlns:a16="http://schemas.microsoft.com/office/drawing/2014/main" id="{0CE3B34F-FF59-4A84-B2EC-AC4F876E7658}"/>
              </a:ext>
            </a:extLst>
          </p:cNvPr>
          <p:cNvSpPr>
            <a:spLocks noGrp="1"/>
          </p:cNvSpPr>
          <p:nvPr>
            <p:ph idx="1"/>
          </p:nvPr>
        </p:nvSpPr>
        <p:spPr/>
        <p:txBody>
          <a:bodyPr/>
          <a:lstStyle/>
          <a:p>
            <a:r>
              <a:rPr lang="en-US" dirty="0"/>
              <a:t>We define quality assessment models as analytical models that provide quantitative assessment of selected quality characteristics or sub-characteristics based on measurement data from software projects.</a:t>
            </a:r>
          </a:p>
          <a:p>
            <a:r>
              <a:rPr lang="en-US" dirty="0"/>
              <a:t> Such models can help us obtain an objective assessment of our current product quality, in contrast to the often unreliable subjective assessment based on personal judgment or imprecise qualitative assessment. </a:t>
            </a:r>
          </a:p>
          <a:p>
            <a:r>
              <a:rPr lang="en-US" dirty="0"/>
              <a:t>When applied over time, these models can provide us with an accurate prediction of the future quality, which can be used to help us make project scheduling, resource allocation, and other management decisions</a:t>
            </a:r>
          </a:p>
        </p:txBody>
      </p:sp>
    </p:spTree>
    <p:extLst>
      <p:ext uri="{BB962C8B-B14F-4D97-AF65-F5344CB8AC3E}">
        <p14:creationId xmlns:p14="http://schemas.microsoft.com/office/powerpoint/2010/main" val="31331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35DB-9FB2-4B5F-A591-0CE0A15CF83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E32005B-078A-4F53-8B0E-B955B51EE813}"/>
              </a:ext>
            </a:extLst>
          </p:cNvPr>
          <p:cNvPicPr>
            <a:picLocks noGrp="1" noChangeAspect="1"/>
          </p:cNvPicPr>
          <p:nvPr>
            <p:ph idx="1"/>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34301" t="20148" r="33519" b="42380"/>
          <a:stretch/>
        </p:blipFill>
        <p:spPr>
          <a:xfrm>
            <a:off x="1012874" y="2148530"/>
            <a:ext cx="7180878" cy="4486798"/>
          </a:xfrm>
          <a:prstGeom prst="rect">
            <a:avLst/>
          </a:prstGeom>
        </p:spPr>
      </p:pic>
      <p:sp>
        <p:nvSpPr>
          <p:cNvPr id="5" name="Rectangle 4">
            <a:extLst>
              <a:ext uri="{FF2B5EF4-FFF2-40B4-BE49-F238E27FC236}">
                <a16:creationId xmlns:a16="http://schemas.microsoft.com/office/drawing/2014/main" id="{04672EBD-9ADE-40C0-A5EE-60B04F759724}"/>
              </a:ext>
            </a:extLst>
          </p:cNvPr>
          <p:cNvSpPr/>
          <p:nvPr/>
        </p:nvSpPr>
        <p:spPr>
          <a:xfrm>
            <a:off x="1491175" y="5884332"/>
            <a:ext cx="1589650" cy="57677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56BADA9-D86F-474C-A5DC-EBE9E117AD7A}"/>
              </a:ext>
            </a:extLst>
          </p:cNvPr>
          <p:cNvSpPr/>
          <p:nvPr/>
        </p:nvSpPr>
        <p:spPr>
          <a:xfrm>
            <a:off x="8193752" y="3214379"/>
            <a:ext cx="3854548" cy="1754326"/>
          </a:xfrm>
          <a:prstGeom prst="rect">
            <a:avLst/>
          </a:prstGeom>
        </p:spPr>
        <p:txBody>
          <a:bodyPr wrap="square">
            <a:spAutoFit/>
          </a:bodyPr>
          <a:lstStyle/>
          <a:p>
            <a:r>
              <a:rPr lang="en-US" dirty="0"/>
              <a:t>In addition, some models can also help us identify problematic areas so that appropriate remedial actions can be applied for quality and process improvement. </a:t>
            </a:r>
          </a:p>
        </p:txBody>
      </p:sp>
    </p:spTree>
    <p:extLst>
      <p:ext uri="{BB962C8B-B14F-4D97-AF65-F5344CB8AC3E}">
        <p14:creationId xmlns:p14="http://schemas.microsoft.com/office/powerpoint/2010/main" val="3390053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45E7-A5F0-470B-A8D0-0A035320EF9B}"/>
              </a:ext>
            </a:extLst>
          </p:cNvPr>
          <p:cNvSpPr>
            <a:spLocks noGrp="1"/>
          </p:cNvSpPr>
          <p:nvPr>
            <p:ph type="title"/>
          </p:nvPr>
        </p:nvSpPr>
        <p:spPr/>
        <p:txBody>
          <a:bodyPr/>
          <a:lstStyle/>
          <a:p>
            <a:r>
              <a:rPr lang="en-US" dirty="0"/>
              <a:t>Overall models </a:t>
            </a:r>
            <a:br>
              <a:rPr lang="en-US" dirty="0"/>
            </a:br>
            <a:endParaRPr lang="en-US" dirty="0"/>
          </a:p>
        </p:txBody>
      </p:sp>
      <p:sp>
        <p:nvSpPr>
          <p:cNvPr id="3" name="Content Placeholder 2">
            <a:extLst>
              <a:ext uri="{FF2B5EF4-FFF2-40B4-BE49-F238E27FC236}">
                <a16:creationId xmlns:a16="http://schemas.microsoft.com/office/drawing/2014/main" id="{549C4F0D-2132-47B8-84FB-5A995F7BBAEE}"/>
              </a:ext>
            </a:extLst>
          </p:cNvPr>
          <p:cNvSpPr>
            <a:spLocks noGrp="1"/>
          </p:cNvSpPr>
          <p:nvPr>
            <p:ph idx="1"/>
          </p:nvPr>
        </p:nvSpPr>
        <p:spPr>
          <a:xfrm>
            <a:off x="1122830" y="2659770"/>
            <a:ext cx="8825659" cy="3416300"/>
          </a:xfrm>
        </p:spPr>
        <p:txBody>
          <a:bodyPr>
            <a:normAutofit lnSpcReduction="10000"/>
          </a:bodyPr>
          <a:lstStyle/>
          <a:p>
            <a:r>
              <a:rPr lang="en-US" dirty="0"/>
              <a:t>Overall quality models are the most general subtype of generalized quality models, which provide a rough estimate of product quality without requiring any product specific measurement or even a general characterization of the product segment. </a:t>
            </a:r>
          </a:p>
          <a:p>
            <a:r>
              <a:rPr lang="en-US" dirty="0"/>
              <a:t>Because of this general nature, such models only provide a very rough estimate of product quality. However, if some additional information is available about the product under study, better quality estimated can be provided by alternative models. </a:t>
            </a:r>
          </a:p>
          <a:p>
            <a:pPr marL="0" indent="0">
              <a:buNone/>
            </a:pPr>
            <a:r>
              <a:rPr lang="en-US" dirty="0"/>
              <a:t>As an example of overall models, defect density can be defined as: </a:t>
            </a:r>
          </a:p>
          <a:p>
            <a:r>
              <a:rPr lang="en-US" dirty="0"/>
              <a:t>total defects product size ’ defect density = where the product size is often measured by the lines of code (LOC), function points, etc. (Kan, 2002)</a:t>
            </a:r>
          </a:p>
        </p:txBody>
      </p:sp>
    </p:spTree>
    <p:extLst>
      <p:ext uri="{BB962C8B-B14F-4D97-AF65-F5344CB8AC3E}">
        <p14:creationId xmlns:p14="http://schemas.microsoft.com/office/powerpoint/2010/main" val="2711287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36B1-7D39-49BB-BEDD-AF1E93161E2C}"/>
              </a:ext>
            </a:extLst>
          </p:cNvPr>
          <p:cNvSpPr>
            <a:spLocks noGrp="1"/>
          </p:cNvSpPr>
          <p:nvPr>
            <p:ph type="title"/>
          </p:nvPr>
        </p:nvSpPr>
        <p:spPr/>
        <p:txBody>
          <a:bodyPr/>
          <a:lstStyle/>
          <a:p>
            <a:r>
              <a:rPr lang="en-US" dirty="0"/>
              <a:t>Segmented models </a:t>
            </a:r>
            <a:br>
              <a:rPr lang="en-US" dirty="0"/>
            </a:br>
            <a:endParaRPr lang="en-US" dirty="0"/>
          </a:p>
        </p:txBody>
      </p:sp>
      <p:sp>
        <p:nvSpPr>
          <p:cNvPr id="3" name="Content Placeholder 2">
            <a:extLst>
              <a:ext uri="{FF2B5EF4-FFF2-40B4-BE49-F238E27FC236}">
                <a16:creationId xmlns:a16="http://schemas.microsoft.com/office/drawing/2014/main" id="{55C74A43-A496-4EE1-9DEB-BFC51EF56021}"/>
              </a:ext>
            </a:extLst>
          </p:cNvPr>
          <p:cNvSpPr>
            <a:spLocks noGrp="1"/>
          </p:cNvSpPr>
          <p:nvPr>
            <p:ph idx="1"/>
          </p:nvPr>
        </p:nvSpPr>
        <p:spPr/>
        <p:txBody>
          <a:bodyPr/>
          <a:lstStyle/>
          <a:p>
            <a:r>
              <a:rPr lang="en-US" dirty="0"/>
              <a:t>If some general information about the product under study is available, we can use segmented models instead of overall models to get a better quality estimate.</a:t>
            </a:r>
          </a:p>
          <a:p>
            <a:r>
              <a:rPr lang="en-US" dirty="0"/>
              <a:t> For example, the above defect density model can be refined into a segmented model if we use market segmentation to group products and provide different defect density estimates accordingly.</a:t>
            </a:r>
          </a:p>
          <a:p>
            <a:r>
              <a:rPr lang="en-US" dirty="0"/>
              <a:t> Similarly, sizing models tailored for different product segments can be used with such defect density models to estimate the total defects for a given product. </a:t>
            </a:r>
          </a:p>
        </p:txBody>
      </p:sp>
    </p:spTree>
    <p:extLst>
      <p:ext uri="{BB962C8B-B14F-4D97-AF65-F5344CB8AC3E}">
        <p14:creationId xmlns:p14="http://schemas.microsoft.com/office/powerpoint/2010/main" val="3937521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D572-A167-4F04-8820-84CEE33D0B4E}"/>
              </a:ext>
            </a:extLst>
          </p:cNvPr>
          <p:cNvSpPr>
            <a:spLocks noGrp="1"/>
          </p:cNvSpPr>
          <p:nvPr>
            <p:ph type="title"/>
          </p:nvPr>
        </p:nvSpPr>
        <p:spPr/>
        <p:txBody>
          <a:bodyPr/>
          <a:lstStyle/>
          <a:p>
            <a:r>
              <a:rPr lang="en-US" dirty="0"/>
              <a:t>Dynamic models</a:t>
            </a:r>
          </a:p>
        </p:txBody>
      </p:sp>
      <p:sp>
        <p:nvSpPr>
          <p:cNvPr id="3" name="Content Placeholder 2">
            <a:extLst>
              <a:ext uri="{FF2B5EF4-FFF2-40B4-BE49-F238E27FC236}">
                <a16:creationId xmlns:a16="http://schemas.microsoft.com/office/drawing/2014/main" id="{F5A731A1-16EE-4B93-B025-99EC6F9D8741}"/>
              </a:ext>
            </a:extLst>
          </p:cNvPr>
          <p:cNvSpPr>
            <a:spLocks noGrp="1"/>
          </p:cNvSpPr>
          <p:nvPr>
            <p:ph idx="1"/>
          </p:nvPr>
        </p:nvSpPr>
        <p:spPr/>
        <p:txBody>
          <a:bodyPr/>
          <a:lstStyle/>
          <a:p>
            <a:r>
              <a:rPr lang="en-US" dirty="0"/>
              <a:t>Dynamic models As a subset of generalized models, the dynamic models provide information about quality over time or development phases. For example, a general profile of defect distribution over different development phases can be considered a quality model of this type. </a:t>
            </a:r>
          </a:p>
        </p:txBody>
      </p:sp>
    </p:spTree>
    <p:extLst>
      <p:ext uri="{BB962C8B-B14F-4D97-AF65-F5344CB8AC3E}">
        <p14:creationId xmlns:p14="http://schemas.microsoft.com/office/powerpoint/2010/main" val="2213541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4EFAC-A075-41E6-B572-FC41433CFB4B}"/>
              </a:ext>
            </a:extLst>
          </p:cNvPr>
          <p:cNvSpPr>
            <a:spLocks noGrp="1"/>
          </p:cNvSpPr>
          <p:nvPr>
            <p:ph type="title"/>
          </p:nvPr>
        </p:nvSpPr>
        <p:spPr/>
        <p:txBody>
          <a:bodyPr/>
          <a:lstStyle/>
          <a:p>
            <a:r>
              <a:rPr lang="en-US" dirty="0"/>
              <a:t>PRODUCT-SPECIFIC MODELS </a:t>
            </a:r>
            <a:br>
              <a:rPr lang="en-US" dirty="0"/>
            </a:br>
            <a:endParaRPr lang="en-US" dirty="0"/>
          </a:p>
        </p:txBody>
      </p:sp>
      <p:sp>
        <p:nvSpPr>
          <p:cNvPr id="3" name="Content Placeholder 2">
            <a:extLst>
              <a:ext uri="{FF2B5EF4-FFF2-40B4-BE49-F238E27FC236}">
                <a16:creationId xmlns:a16="http://schemas.microsoft.com/office/drawing/2014/main" id="{D4BCF615-69DE-4DB2-A426-1A46AE2D2FDA}"/>
              </a:ext>
            </a:extLst>
          </p:cNvPr>
          <p:cNvSpPr>
            <a:spLocks noGrp="1"/>
          </p:cNvSpPr>
          <p:nvPr>
            <p:ph idx="1"/>
          </p:nvPr>
        </p:nvSpPr>
        <p:spPr/>
        <p:txBody>
          <a:bodyPr>
            <a:normAutofit lnSpcReduction="10000"/>
          </a:bodyPr>
          <a:lstStyle/>
          <a:p>
            <a:r>
              <a:rPr lang="en-US" dirty="0"/>
              <a:t>Product-specific quality assessment models, or product-specific models for short, provide more precise quality assessments using product-specific data. They can be further divided into three sub-categories: </a:t>
            </a:r>
          </a:p>
          <a:p>
            <a:r>
              <a:rPr lang="en-US" dirty="0"/>
              <a:t>Semi-customized models extrapolate product history to predict quality for the current project. </a:t>
            </a:r>
          </a:p>
          <a:p>
            <a:r>
              <a:rPr lang="en-US" dirty="0"/>
              <a:t> Observation-based models estimate quality based on observations from the current project. </a:t>
            </a:r>
          </a:p>
          <a:p>
            <a:r>
              <a:rPr lang="en-US" dirty="0"/>
              <a:t>Measurement-driven predictive models establish predictive relations between various early measurements and product quality, and use them for QA and improvement. </a:t>
            </a:r>
          </a:p>
          <a:p>
            <a:r>
              <a:rPr lang="en-US" dirty="0"/>
              <a:t>We next examine each subtype in turn and give some examples. </a:t>
            </a:r>
          </a:p>
        </p:txBody>
      </p:sp>
    </p:spTree>
    <p:extLst>
      <p:ext uri="{BB962C8B-B14F-4D97-AF65-F5344CB8AC3E}">
        <p14:creationId xmlns:p14="http://schemas.microsoft.com/office/powerpoint/2010/main" val="2996690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4A706-DFE3-465E-BA06-19200C3E82AF}"/>
              </a:ext>
            </a:extLst>
          </p:cNvPr>
          <p:cNvSpPr>
            <a:spLocks noGrp="1"/>
          </p:cNvSpPr>
          <p:nvPr>
            <p:ph type="title"/>
          </p:nvPr>
        </p:nvSpPr>
        <p:spPr/>
        <p:txBody>
          <a:bodyPr/>
          <a:lstStyle/>
          <a:p>
            <a:r>
              <a:rPr lang="en-US" dirty="0"/>
              <a:t>Observation-based models </a:t>
            </a:r>
            <a:br>
              <a:rPr lang="en-US" dirty="0"/>
            </a:br>
            <a:endParaRPr lang="en-US" dirty="0"/>
          </a:p>
        </p:txBody>
      </p:sp>
      <p:sp>
        <p:nvSpPr>
          <p:cNvPr id="3" name="Content Placeholder 2">
            <a:extLst>
              <a:ext uri="{FF2B5EF4-FFF2-40B4-BE49-F238E27FC236}">
                <a16:creationId xmlns:a16="http://schemas.microsoft.com/office/drawing/2014/main" id="{93989CAA-A050-48ED-A653-E14968111E59}"/>
              </a:ext>
            </a:extLst>
          </p:cNvPr>
          <p:cNvSpPr>
            <a:spLocks noGrp="1"/>
          </p:cNvSpPr>
          <p:nvPr>
            <p:ph idx="1"/>
          </p:nvPr>
        </p:nvSpPr>
        <p:spPr/>
        <p:txBody>
          <a:bodyPr/>
          <a:lstStyle/>
          <a:p>
            <a:r>
              <a:rPr lang="en-US" dirty="0"/>
              <a:t>Observation-based models relate observations of the software system behavior to information about related activities to provide more precise quality assessments. Examples of such models include various software reliability growth models (SRGMs) (</a:t>
            </a:r>
            <a:r>
              <a:rPr lang="en-US" dirty="0" err="1"/>
              <a:t>Lyu</a:t>
            </a:r>
            <a:r>
              <a:rPr lang="en-US" dirty="0"/>
              <a:t>, 1995a), where observed failures and associated time intervals are fitted to SRGMs to evaluate product reliability.</a:t>
            </a:r>
          </a:p>
        </p:txBody>
      </p:sp>
    </p:spTree>
    <p:extLst>
      <p:ext uri="{BB962C8B-B14F-4D97-AF65-F5344CB8AC3E}">
        <p14:creationId xmlns:p14="http://schemas.microsoft.com/office/powerpoint/2010/main" val="382051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A2F-255B-4DD3-81E6-ACFF280FC079}"/>
              </a:ext>
            </a:extLst>
          </p:cNvPr>
          <p:cNvSpPr>
            <a:spLocks noGrp="1"/>
          </p:cNvSpPr>
          <p:nvPr>
            <p:ph type="title"/>
          </p:nvPr>
        </p:nvSpPr>
        <p:spPr>
          <a:xfrm>
            <a:off x="1219200" y="1170616"/>
            <a:ext cx="8761413" cy="706964"/>
          </a:xfrm>
        </p:spPr>
        <p:txBody>
          <a:bodyPr/>
          <a:lstStyle/>
          <a:p>
            <a:r>
              <a:rPr lang="en-US" dirty="0"/>
              <a:t>Measurement-driven predictive models </a:t>
            </a:r>
            <a:br>
              <a:rPr lang="en-US" dirty="0"/>
            </a:br>
            <a:endParaRPr lang="en-US" dirty="0"/>
          </a:p>
        </p:txBody>
      </p:sp>
      <p:sp>
        <p:nvSpPr>
          <p:cNvPr id="3" name="Content Placeholder 2">
            <a:extLst>
              <a:ext uri="{FF2B5EF4-FFF2-40B4-BE49-F238E27FC236}">
                <a16:creationId xmlns:a16="http://schemas.microsoft.com/office/drawing/2014/main" id="{5C8FB42D-B766-40D9-8F80-EED1C3FA42A1}"/>
              </a:ext>
            </a:extLst>
          </p:cNvPr>
          <p:cNvSpPr>
            <a:spLocks noGrp="1"/>
          </p:cNvSpPr>
          <p:nvPr>
            <p:ph idx="1"/>
          </p:nvPr>
        </p:nvSpPr>
        <p:spPr/>
        <p:txBody>
          <a:bodyPr/>
          <a:lstStyle/>
          <a:p>
            <a:r>
              <a:rPr lang="en-US" dirty="0"/>
              <a:t>Measurement-driven predictive models establish predictive relations between quality and other measurements based on historical data, provide early predictions of quality, and identify problems early so that timely actions can be taken to improve product quality. Various statistical analysis techniques and learning algorithms can be used to establish such predictive relations</a:t>
            </a:r>
          </a:p>
        </p:txBody>
      </p:sp>
    </p:spTree>
    <p:extLst>
      <p:ext uri="{BB962C8B-B14F-4D97-AF65-F5344CB8AC3E}">
        <p14:creationId xmlns:p14="http://schemas.microsoft.com/office/powerpoint/2010/main" val="2061041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6C8C5-0A58-4967-9F34-EBEF5F97F0A8}"/>
              </a:ext>
            </a:extLst>
          </p:cNvPr>
          <p:cNvSpPr>
            <a:spLocks noGrp="1"/>
          </p:cNvSpPr>
          <p:nvPr>
            <p:ph type="title"/>
          </p:nvPr>
        </p:nvSpPr>
        <p:spPr/>
        <p:txBody>
          <a:bodyPr/>
          <a:lstStyle/>
          <a:p>
            <a:r>
              <a:rPr lang="en-US" dirty="0"/>
              <a:t>MODEL COMPARISON AND INTERCONNECTIONS </a:t>
            </a:r>
            <a:br>
              <a:rPr lang="en-US" dirty="0"/>
            </a:br>
            <a:endParaRPr lang="en-US" dirty="0"/>
          </a:p>
        </p:txBody>
      </p:sp>
      <p:sp>
        <p:nvSpPr>
          <p:cNvPr id="3" name="Content Placeholder 2">
            <a:extLst>
              <a:ext uri="{FF2B5EF4-FFF2-40B4-BE49-F238E27FC236}">
                <a16:creationId xmlns:a16="http://schemas.microsoft.com/office/drawing/2014/main" id="{6A776441-4518-45C4-A8CD-C588A7E66C12}"/>
              </a:ext>
            </a:extLst>
          </p:cNvPr>
          <p:cNvSpPr>
            <a:spLocks noGrp="1"/>
          </p:cNvSpPr>
          <p:nvPr>
            <p:ph idx="1"/>
          </p:nvPr>
        </p:nvSpPr>
        <p:spPr>
          <a:xfrm>
            <a:off x="928468" y="2630658"/>
            <a:ext cx="9052145" cy="3389142"/>
          </a:xfrm>
        </p:spPr>
        <p:txBody>
          <a:bodyPr/>
          <a:lstStyle/>
          <a:p>
            <a:r>
              <a:rPr lang="en-US" dirty="0"/>
              <a:t>Different types of quality assessment models and their relations can be compared by looking at their ability to provide useful information, their applicability to different project environments, and their inter-connections. Specifically, we can compare the following: </a:t>
            </a:r>
          </a:p>
          <a:p>
            <a:r>
              <a:rPr lang="en-US" dirty="0"/>
              <a:t>Usefulness of the modeling results, in terms of how accurate the quality estimates are and the applicability of the models to different environments. </a:t>
            </a:r>
          </a:p>
          <a:p>
            <a:r>
              <a:rPr lang="en-US" dirty="0"/>
              <a:t>Model inter-connections, which can be examined in two opposite directions</a:t>
            </a:r>
          </a:p>
        </p:txBody>
      </p:sp>
    </p:spTree>
    <p:extLst>
      <p:ext uri="{BB962C8B-B14F-4D97-AF65-F5344CB8AC3E}">
        <p14:creationId xmlns:p14="http://schemas.microsoft.com/office/powerpoint/2010/main" val="3946410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B3CE7-4015-427F-8E26-7212ED47C420}"/>
              </a:ext>
            </a:extLst>
          </p:cNvPr>
          <p:cNvSpPr>
            <a:spLocks noGrp="1"/>
          </p:cNvSpPr>
          <p:nvPr>
            <p:ph idx="1"/>
          </p:nvPr>
        </p:nvSpPr>
        <p:spPr/>
        <p:txBody>
          <a:bodyPr/>
          <a:lstStyle/>
          <a:p>
            <a:r>
              <a:rPr lang="en-US" dirty="0"/>
              <a:t>Customization of generalized quality models to provide better quality estimates </a:t>
            </a:r>
          </a:p>
          <a:p>
            <a:r>
              <a:rPr lang="en-US" dirty="0"/>
              <a:t>- Generalization of product-specific models when enough empirical evidence when product-specific information is available. from different products or projects is accumulated. </a:t>
            </a:r>
          </a:p>
        </p:txBody>
      </p:sp>
    </p:spTree>
    <p:extLst>
      <p:ext uri="{BB962C8B-B14F-4D97-AF65-F5344CB8AC3E}">
        <p14:creationId xmlns:p14="http://schemas.microsoft.com/office/powerpoint/2010/main" val="3207528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FCEA-5A78-4FA5-958D-32793F9ADB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DDF865-296D-486C-872B-7E97B91E704E}"/>
              </a:ext>
            </a:extLst>
          </p:cNvPr>
          <p:cNvSpPr>
            <a:spLocks noGrp="1"/>
          </p:cNvSpPr>
          <p:nvPr>
            <p:ph idx="1"/>
          </p:nvPr>
        </p:nvSpPr>
        <p:spPr/>
        <p:txBody>
          <a:bodyPr/>
          <a:lstStyle/>
          <a:p>
            <a:r>
              <a:rPr lang="en-US" dirty="0"/>
              <a:t>summarizes the primary results and applicability for all the model types and sub-types. The usefulness of a model mainly depends on two factors: </a:t>
            </a:r>
          </a:p>
          <a:p>
            <a:r>
              <a:rPr lang="en-US" dirty="0"/>
              <a:t> Is it applicable to the specific development environment and the specific product under development or maintenance? </a:t>
            </a:r>
          </a:p>
          <a:p>
            <a:r>
              <a:rPr lang="en-US" dirty="0"/>
              <a:t>If so, how accurate the model is in its quality estimates? </a:t>
            </a:r>
          </a:p>
          <a:p>
            <a:r>
              <a:rPr lang="en-US" dirty="0"/>
              <a:t>Then, this usefulness can be weighted against its cost, in particular, the cost of collecting the required measurement data, which is typically the dominant part of the modeling cost</a:t>
            </a:r>
          </a:p>
        </p:txBody>
      </p:sp>
    </p:spTree>
    <p:extLst>
      <p:ext uri="{BB962C8B-B14F-4D97-AF65-F5344CB8AC3E}">
        <p14:creationId xmlns:p14="http://schemas.microsoft.com/office/powerpoint/2010/main" val="2991954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17AE-A858-4971-8930-35E6B415A4B6}"/>
              </a:ext>
            </a:extLst>
          </p:cNvPr>
          <p:cNvSpPr>
            <a:spLocks noGrp="1"/>
          </p:cNvSpPr>
          <p:nvPr>
            <p:ph type="title"/>
          </p:nvPr>
        </p:nvSpPr>
        <p:spPr/>
        <p:txBody>
          <a:bodyPr/>
          <a:lstStyle/>
          <a:p>
            <a:r>
              <a:rPr lang="en-US" dirty="0"/>
              <a:t>Selection guidelines and a recommended procedure </a:t>
            </a:r>
          </a:p>
        </p:txBody>
      </p:sp>
      <p:sp>
        <p:nvSpPr>
          <p:cNvPr id="3" name="Content Placeholder 2">
            <a:extLst>
              <a:ext uri="{FF2B5EF4-FFF2-40B4-BE49-F238E27FC236}">
                <a16:creationId xmlns:a16="http://schemas.microsoft.com/office/drawing/2014/main" id="{EA66DFEA-E6DF-4901-A2F7-57F4A1AE546F}"/>
              </a:ext>
            </a:extLst>
          </p:cNvPr>
          <p:cNvSpPr>
            <a:spLocks noGrp="1"/>
          </p:cNvSpPr>
          <p:nvPr>
            <p:ph idx="1"/>
          </p:nvPr>
        </p:nvSpPr>
        <p:spPr/>
        <p:txBody>
          <a:bodyPr>
            <a:normAutofit/>
          </a:bodyPr>
          <a:lstStyle/>
          <a:p>
            <a:r>
              <a:rPr lang="en-US" dirty="0"/>
              <a:t>Using this approach, we can follow the following three steps to set quality goals and select appropriate models and measurements: </a:t>
            </a:r>
          </a:p>
          <a:p>
            <a:r>
              <a:rPr lang="en-US" dirty="0"/>
              <a:t>Step 1. Set specific quality goals.. </a:t>
            </a:r>
          </a:p>
          <a:p>
            <a:r>
              <a:rPr lang="en-US" dirty="0"/>
              <a:t>Step 2. Choose specific quality assessment models that can answer our questions and concerns about the quality goals under the constraints of the application environment.. </a:t>
            </a:r>
          </a:p>
          <a:p>
            <a:r>
              <a:rPr lang="en-US" dirty="0"/>
              <a:t>Step 3. Choose appropriate measurements based on the model data requirements</a:t>
            </a:r>
          </a:p>
        </p:txBody>
      </p:sp>
    </p:spTree>
    <p:extLst>
      <p:ext uri="{BB962C8B-B14F-4D97-AF65-F5344CB8AC3E}">
        <p14:creationId xmlns:p14="http://schemas.microsoft.com/office/powerpoint/2010/main" val="754882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6AA8-D788-4F47-965E-97CCE1D5C5A9}"/>
              </a:ext>
            </a:extLst>
          </p:cNvPr>
          <p:cNvSpPr>
            <a:spLocks noGrp="1"/>
          </p:cNvSpPr>
          <p:nvPr>
            <p:ph type="title"/>
          </p:nvPr>
        </p:nvSpPr>
        <p:spPr/>
        <p:txBody>
          <a:bodyPr/>
          <a:lstStyle/>
          <a:p>
            <a:r>
              <a:rPr lang="en-US" dirty="0"/>
              <a:t>MODEL COMPARISON AND INTERCONNECTIONS</a:t>
            </a:r>
          </a:p>
        </p:txBody>
      </p:sp>
      <p:sp>
        <p:nvSpPr>
          <p:cNvPr id="3" name="Content Placeholder 2">
            <a:extLst>
              <a:ext uri="{FF2B5EF4-FFF2-40B4-BE49-F238E27FC236}">
                <a16:creationId xmlns:a16="http://schemas.microsoft.com/office/drawing/2014/main" id="{CD4D3725-AE54-4CE5-8016-25C74A197446}"/>
              </a:ext>
            </a:extLst>
          </p:cNvPr>
          <p:cNvSpPr>
            <a:spLocks noGrp="1"/>
          </p:cNvSpPr>
          <p:nvPr>
            <p:ph idx="1"/>
          </p:nvPr>
        </p:nvSpPr>
        <p:spPr>
          <a:xfrm>
            <a:off x="1122830" y="2251807"/>
            <a:ext cx="8825659" cy="3416300"/>
          </a:xfrm>
        </p:spPr>
        <p:txBody>
          <a:bodyPr/>
          <a:lstStyle/>
          <a:p>
            <a:pPr marL="0" indent="0">
              <a:buNone/>
            </a:pPr>
            <a:r>
              <a:rPr lang="en-US" dirty="0"/>
              <a:t> </a:t>
            </a:r>
          </a:p>
          <a:p>
            <a:r>
              <a:rPr lang="en-US" dirty="0"/>
              <a:t>Different types of quality assessment models and their relations can be compared by looking at their ability to provide useful information, their applicability to different project environments, and their inter-connections. Specifically, we can compare the following: </a:t>
            </a:r>
          </a:p>
          <a:p>
            <a:r>
              <a:rPr lang="en-US" dirty="0"/>
              <a:t>Usefulness of the modeling results, in terms of how accurate the quality estimates are and the applicability of the models to different environments. </a:t>
            </a:r>
          </a:p>
          <a:p>
            <a:r>
              <a:rPr lang="en-US" dirty="0"/>
              <a:t>Model inter-connections, which can be examined in two opposite directions. </a:t>
            </a:r>
          </a:p>
        </p:txBody>
      </p:sp>
    </p:spTree>
    <p:extLst>
      <p:ext uri="{BB962C8B-B14F-4D97-AF65-F5344CB8AC3E}">
        <p14:creationId xmlns:p14="http://schemas.microsoft.com/office/powerpoint/2010/main" val="175447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B13AD-C646-4550-9CA7-630328C1FF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2E65C7-0469-4A59-8B87-E3A029948E66}"/>
              </a:ext>
            </a:extLst>
          </p:cNvPr>
          <p:cNvSpPr>
            <a:spLocks noGrp="1"/>
          </p:cNvSpPr>
          <p:nvPr>
            <p:ph idx="1"/>
          </p:nvPr>
        </p:nvSpPr>
        <p:spPr/>
        <p:txBody>
          <a:bodyPr/>
          <a:lstStyle/>
          <a:p>
            <a:r>
              <a:rPr lang="en-US" dirty="0"/>
              <a:t> Customization of generalized quality models to provide better quality estimates </a:t>
            </a:r>
          </a:p>
          <a:p>
            <a:r>
              <a:rPr lang="en-US" dirty="0"/>
              <a:t>- Generalization of product-specific models when enough empirical evidence when product-specific information </a:t>
            </a:r>
            <a:r>
              <a:rPr lang="en-US"/>
              <a:t>is available from </a:t>
            </a:r>
            <a:r>
              <a:rPr lang="en-US" dirty="0"/>
              <a:t>different products or projects is accumulated. </a:t>
            </a:r>
          </a:p>
        </p:txBody>
      </p:sp>
    </p:spTree>
    <p:extLst>
      <p:ext uri="{BB962C8B-B14F-4D97-AF65-F5344CB8AC3E}">
        <p14:creationId xmlns:p14="http://schemas.microsoft.com/office/powerpoint/2010/main" val="23047417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1104</TotalTime>
  <Words>1039</Words>
  <Application>Microsoft Office PowerPoint</Application>
  <PresentationFormat>Widescreen</PresentationFormat>
  <Paragraphs>54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Gothic</vt:lpstr>
      <vt:lpstr>Wingdings 3</vt:lpstr>
      <vt:lpstr>Ion Boardroom</vt:lpstr>
      <vt:lpstr>      BSSE    -Software Quality Engineering      Week-14  Lecture 28  Semester 6- Fall 2020</vt:lpstr>
      <vt:lpstr>Quality Models and Measurements.</vt:lpstr>
      <vt:lpstr>MODELS FOR QUALITY ASSESSMENT  </vt:lpstr>
      <vt:lpstr>PowerPoint Presentation</vt:lpstr>
      <vt:lpstr>Overall models  </vt:lpstr>
      <vt:lpstr>Segmented models  </vt:lpstr>
      <vt:lpstr>Dynamic models</vt:lpstr>
      <vt:lpstr>PRODUCT-SPECIFIC MODELS  </vt:lpstr>
      <vt:lpstr>Observation-based models  </vt:lpstr>
      <vt:lpstr>Measurement-driven predictive models  </vt:lpstr>
      <vt:lpstr>MODEL COMPARISON AND INTERCONNECTIONS  </vt:lpstr>
      <vt:lpstr>PowerPoint Presentation</vt:lpstr>
      <vt:lpstr>PowerPoint Presentation</vt:lpstr>
      <vt:lpstr>Selection guidelines and a recommended procedure </vt:lpstr>
      <vt:lpstr>MODEL COMPARISON AND INTERCONNECTIONS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dc:title>
  <dc:creator>Zarsha</dc:creator>
  <cp:lastModifiedBy>Zarsha</cp:lastModifiedBy>
  <cp:revision>35</cp:revision>
  <dcterms:created xsi:type="dcterms:W3CDTF">2019-10-13T12:26:15Z</dcterms:created>
  <dcterms:modified xsi:type="dcterms:W3CDTF">2020-05-09T20:06:12Z</dcterms:modified>
</cp:coreProperties>
</file>