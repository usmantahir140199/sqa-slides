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69" r:id="rId2"/>
    <p:sldId id="256" r:id="rId3"/>
    <p:sldId id="258" r:id="rId4"/>
    <p:sldId id="287" r:id="rId5"/>
    <p:sldId id="288" r:id="rId6"/>
    <p:sldId id="289" r:id="rId7"/>
    <p:sldId id="290" r:id="rId8"/>
    <p:sldId id="291" r:id="rId9"/>
    <p:sldId id="293" r:id="rId10"/>
    <p:sldId id="292" r:id="rId11"/>
    <p:sldId id="294" r:id="rId12"/>
    <p:sldId id="295" r:id="rId13"/>
    <p:sldId id="29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94" autoAdjust="0"/>
    <p:restoredTop sz="94660"/>
  </p:normalViewPr>
  <p:slideViewPr>
    <p:cSldViewPr snapToGrid="0">
      <p:cViewPr varScale="1">
        <p:scale>
          <a:sx n="68" d="100"/>
          <a:sy n="68" d="100"/>
        </p:scale>
        <p:origin x="9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6E9C27-E3E9-4ECE-91D6-C86B8A982AFF}" type="datetimeFigureOut">
              <a:rPr lang="en-US" smtClean="0"/>
              <a:t>4/12/2020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9C65CE-6E43-4991-BCB5-F04EC8E19620}" type="slidenum">
              <a:rPr lang="en-US" smtClean="0"/>
              <a:t>‹#›</a:t>
            </a:fld>
            <a:endParaRPr lang="en-US"/>
          </a:p>
        </p:txBody>
      </p:sp>
    </p:spTree>
    <p:extLst>
      <p:ext uri="{BB962C8B-B14F-4D97-AF65-F5344CB8AC3E}">
        <p14:creationId xmlns:p14="http://schemas.microsoft.com/office/powerpoint/2010/main" val="144959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533613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18661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60880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929E7D-67C2-478D-B0AC-3878201898D8}" type="datetimeFigureOut">
              <a:rPr lang="en-US" smtClean="0"/>
              <a:t>4/12/2020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34247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929E7D-67C2-478D-B0AC-3878201898D8}" type="datetimeFigureOut">
              <a:rPr lang="en-US" smtClean="0"/>
              <a:t>4/12/2020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39484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929E7D-67C2-478D-B0AC-3878201898D8}" type="datetimeFigureOut">
              <a:rPr lang="en-US" smtClean="0"/>
              <a:t>4/12/2020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81172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929E7D-67C2-478D-B0AC-3878201898D8}" type="datetimeFigureOut">
              <a:rPr lang="en-US" smtClean="0"/>
              <a:t>4/12/2020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926420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4/12/2020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21584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4/12/2020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8749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4/12/2020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852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07122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746390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8420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4/12/2020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98889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4/12/2020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749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65816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4929E7D-67C2-478D-B0AC-3878201898D8}" type="datetimeFigureOut">
              <a:rPr lang="en-US" smtClean="0"/>
              <a:t>4/12/2020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868651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4929E7D-67C2-478D-B0AC-3878201898D8}" type="datetimeFigureOut">
              <a:rPr lang="en-US" smtClean="0"/>
              <a:t>4/12/2020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7E73C9B-D9A2-4DA2-AF94-DBE9ACB31512}" type="slidenum">
              <a:rPr lang="en-US" smtClean="0"/>
              <a:t>‹#›</a:t>
            </a:fld>
            <a:endParaRPr lang="en-US"/>
          </a:p>
        </p:txBody>
      </p:sp>
    </p:spTree>
    <p:extLst>
      <p:ext uri="{BB962C8B-B14F-4D97-AF65-F5344CB8AC3E}">
        <p14:creationId xmlns:p14="http://schemas.microsoft.com/office/powerpoint/2010/main" val="38078877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5065" y="1064260"/>
            <a:ext cx="8825865" cy="3713480"/>
          </a:xfrm>
        </p:spPr>
        <p:txBody>
          <a:bodyPr>
            <a:normAutofit fontScale="90000"/>
          </a:bodyPr>
          <a:lstStyle/>
          <a:p>
            <a:pPr algn="ctr"/>
            <a:br>
              <a:rPr lang="en-US" dirty="0"/>
            </a:br>
            <a:br>
              <a:rPr lang="en-US" dirty="0"/>
            </a:br>
            <a:br>
              <a:rPr lang="en-US" dirty="0"/>
            </a:br>
            <a:br>
              <a:rPr lang="en-US" dirty="0"/>
            </a:br>
            <a:br>
              <a:rPr lang="en-US" dirty="0"/>
            </a:br>
            <a:br>
              <a:rPr lang="en-US" dirty="0"/>
            </a:br>
            <a:r>
              <a:rPr lang="en-US" sz="4000" dirty="0"/>
              <a:t>BSSE    -Software Quality Engineering</a:t>
            </a:r>
            <a:r>
              <a:rPr lang="en-US" sz="4400" dirty="0"/>
              <a:t>					</a:t>
            </a:r>
            <a:br>
              <a:rPr lang="en-US" sz="4400" dirty="0"/>
            </a:br>
            <a:r>
              <a:rPr lang="en-US" sz="4400" dirty="0"/>
              <a:t>Week-2		Lecture 3</a:t>
            </a:r>
            <a:br>
              <a:rPr lang="en-US" sz="4400" dirty="0"/>
            </a:br>
            <a:r>
              <a:rPr lang="en-US" sz="4400" dirty="0"/>
              <a:t>	</a:t>
            </a:r>
            <a:r>
              <a:rPr lang="en-US" sz="2800" dirty="0"/>
              <a:t>Semester 6- Fall 2020</a:t>
            </a:r>
          </a:p>
        </p:txBody>
      </p:sp>
      <p:sp>
        <p:nvSpPr>
          <p:cNvPr id="3" name="Subtitle 2"/>
          <p:cNvSpPr>
            <a:spLocks noGrp="1"/>
          </p:cNvSpPr>
          <p:nvPr>
            <p:ph type="subTitle" idx="1"/>
          </p:nvPr>
        </p:nvSpPr>
        <p:spPr>
          <a:xfrm>
            <a:off x="1155065" y="4777105"/>
            <a:ext cx="8825865" cy="1313815"/>
          </a:xfrm>
        </p:spPr>
        <p:txBody>
          <a:bodyPr>
            <a:normAutofit/>
          </a:bodyPr>
          <a:lstStyle/>
          <a:p>
            <a:pPr lvl="8" algn="l"/>
            <a:r>
              <a:rPr lang="en-US" dirty="0">
                <a:latin typeface="Arial" panose="020B0604020202020204" pitchFamily="34" charset="0"/>
                <a:cs typeface="Arial" panose="020B0604020202020204" pitchFamily="34" charset="0"/>
              </a:rPr>
              <a:t>			</a:t>
            </a:r>
          </a:p>
        </p:txBody>
      </p:sp>
      <p:sp>
        <p:nvSpPr>
          <p:cNvPr id="5" name="Footer Placeholder 4"/>
          <p:cNvSpPr>
            <a:spLocks noGrp="1"/>
          </p:cNvSpPr>
          <p:nvPr>
            <p:ph type="ftr" sz="quarter" idx="11"/>
          </p:nvPr>
        </p:nvSpPr>
        <p:spPr/>
        <p:txBody>
          <a:bodyPr/>
          <a:lstStyle/>
          <a:p>
            <a:r>
              <a:rPr lang="en-US"/>
              <a:t>Lahore Garrison University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7DDE3-1166-4864-A589-F0348820FB31}"/>
              </a:ext>
            </a:extLst>
          </p:cNvPr>
          <p:cNvSpPr>
            <a:spLocks noGrp="1"/>
          </p:cNvSpPr>
          <p:nvPr>
            <p:ph type="ctrTitle"/>
          </p:nvPr>
        </p:nvSpPr>
        <p:spPr>
          <a:xfrm>
            <a:off x="1028346" y="1219200"/>
            <a:ext cx="8825658" cy="2677648"/>
          </a:xfrm>
        </p:spPr>
        <p:txBody>
          <a:bodyPr/>
          <a:lstStyle/>
          <a:p>
            <a:r>
              <a:rPr lang="en-US" dirty="0"/>
              <a:t>QA in context – QA as Defect Handling</a:t>
            </a:r>
          </a:p>
        </p:txBody>
      </p:sp>
      <p:sp>
        <p:nvSpPr>
          <p:cNvPr id="3" name="Subtitle 2">
            <a:extLst>
              <a:ext uri="{FF2B5EF4-FFF2-40B4-BE49-F238E27FC236}">
                <a16:creationId xmlns:a16="http://schemas.microsoft.com/office/drawing/2014/main" id="{EB48AA91-670D-4FE5-A42D-FF21D0BDF00F}"/>
              </a:ext>
            </a:extLst>
          </p:cNvPr>
          <p:cNvSpPr>
            <a:spLocks noGrp="1"/>
          </p:cNvSpPr>
          <p:nvPr>
            <p:ph type="subTitle" idx="1"/>
          </p:nvPr>
        </p:nvSpPr>
        <p:spPr>
          <a:xfrm>
            <a:off x="1140887" y="4186537"/>
            <a:ext cx="9255138" cy="1173254"/>
          </a:xfrm>
        </p:spPr>
        <p:txBody>
          <a:bodyPr>
            <a:normAutofit/>
          </a:bodyPr>
          <a:lstStyle/>
          <a:p>
            <a:endParaRPr lang="en-US" dirty="0">
              <a:solidFill>
                <a:schemeClr val="bg1"/>
              </a:solidFill>
            </a:endParaRPr>
          </a:p>
          <a:p>
            <a:r>
              <a:rPr lang="en-US" dirty="0">
                <a:solidFill>
                  <a:schemeClr val="bg1"/>
                </a:solidFill>
              </a:rPr>
              <a:t>Ms. Zarsha Nazim</a:t>
            </a:r>
          </a:p>
        </p:txBody>
      </p:sp>
    </p:spTree>
    <p:extLst>
      <p:ext uri="{BB962C8B-B14F-4D97-AF65-F5344CB8AC3E}">
        <p14:creationId xmlns:p14="http://schemas.microsoft.com/office/powerpoint/2010/main" val="284334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F7717-7695-43CC-8338-F41E9437AD7B}"/>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E10509C8-B7EF-44E5-AD9F-AE3D12A03D5F}"/>
              </a:ext>
            </a:extLst>
          </p:cNvPr>
          <p:cNvSpPr>
            <a:spLocks noGrp="1"/>
          </p:cNvSpPr>
          <p:nvPr>
            <p:ph idx="1"/>
          </p:nvPr>
        </p:nvSpPr>
        <p:spPr>
          <a:xfrm>
            <a:off x="633045" y="2321169"/>
            <a:ext cx="10860259" cy="4079631"/>
          </a:xfrm>
        </p:spPr>
        <p:txBody>
          <a:bodyPr>
            <a:normAutofit/>
          </a:bodyPr>
          <a:lstStyle/>
          <a:p>
            <a:r>
              <a:rPr lang="en-US" dirty="0"/>
              <a:t>Lecture Overview</a:t>
            </a:r>
          </a:p>
          <a:p>
            <a:r>
              <a:rPr lang="en-US" dirty="0"/>
              <a:t>Course Introduction, Objectives and Contents</a:t>
            </a:r>
          </a:p>
          <a:p>
            <a:r>
              <a:rPr lang="en-US" dirty="0"/>
              <a:t> An Initial Definition of (Software) Quality</a:t>
            </a:r>
          </a:p>
          <a:p>
            <a:r>
              <a:rPr lang="en-US" dirty="0"/>
              <a:t>Standard Definitions of (Software) Quality </a:t>
            </a:r>
          </a:p>
          <a:p>
            <a:r>
              <a:rPr lang="en-US" dirty="0"/>
              <a:t>Quality Problems in Large Software</a:t>
            </a:r>
          </a:p>
          <a:p>
            <a:r>
              <a:rPr lang="en-US" dirty="0"/>
              <a:t>Turning Failure to Success: SQE</a:t>
            </a:r>
          </a:p>
          <a:p>
            <a:r>
              <a:rPr lang="en-US" dirty="0"/>
              <a:t>SQE for Meeting Quality Expectations </a:t>
            </a:r>
          </a:p>
          <a:p>
            <a:r>
              <a:rPr lang="en-US" dirty="0"/>
              <a:t>The SQE Process </a:t>
            </a:r>
          </a:p>
          <a:p>
            <a:r>
              <a:rPr lang="en-US" dirty="0"/>
              <a:t>Scope of Major SQE Activities</a:t>
            </a:r>
          </a:p>
          <a:p>
            <a:endParaRPr lang="en-US" dirty="0"/>
          </a:p>
        </p:txBody>
      </p:sp>
    </p:spTree>
    <p:extLst>
      <p:ext uri="{BB962C8B-B14F-4D97-AF65-F5344CB8AC3E}">
        <p14:creationId xmlns:p14="http://schemas.microsoft.com/office/powerpoint/2010/main" val="400622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25051-6216-4DB1-91F9-563A297F6643}"/>
              </a:ext>
            </a:extLst>
          </p:cNvPr>
          <p:cNvSpPr>
            <a:spLocks noGrp="1"/>
          </p:cNvSpPr>
          <p:nvPr>
            <p:ph type="title"/>
          </p:nvPr>
        </p:nvSpPr>
        <p:spPr/>
        <p:txBody>
          <a:bodyPr/>
          <a:lstStyle/>
          <a:p>
            <a:r>
              <a:rPr lang="en-US" dirty="0"/>
              <a:t>Quality Assurance Basics</a:t>
            </a:r>
          </a:p>
        </p:txBody>
      </p:sp>
      <p:sp>
        <p:nvSpPr>
          <p:cNvPr id="3" name="Content Placeholder 2">
            <a:extLst>
              <a:ext uri="{FF2B5EF4-FFF2-40B4-BE49-F238E27FC236}">
                <a16:creationId xmlns:a16="http://schemas.microsoft.com/office/drawing/2014/main" id="{78F63874-7DC3-4020-BB35-519928E8CA19}"/>
              </a:ext>
            </a:extLst>
          </p:cNvPr>
          <p:cNvSpPr>
            <a:spLocks noGrp="1"/>
          </p:cNvSpPr>
          <p:nvPr>
            <p:ph idx="1"/>
          </p:nvPr>
        </p:nvSpPr>
        <p:spPr/>
        <p:txBody>
          <a:bodyPr>
            <a:normAutofit fontScale="85000" lnSpcReduction="10000"/>
          </a:bodyPr>
          <a:lstStyle/>
          <a:p>
            <a:r>
              <a:rPr lang="en-US" dirty="0"/>
              <a:t>Software products are not built overnight. It takes a lot of efforts, team coordination,</a:t>
            </a:r>
          </a:p>
          <a:p>
            <a:r>
              <a:rPr lang="en-US" dirty="0"/>
              <a:t>development and testing to come up with a final version of the product. Regardless of the</a:t>
            </a:r>
          </a:p>
          <a:p>
            <a:r>
              <a:rPr lang="en-US" dirty="0"/>
              <a:t>software product, its complexity or size, the purpose of QA remain same; to reduce the defects</a:t>
            </a:r>
          </a:p>
          <a:p>
            <a:r>
              <a:rPr lang="en-US" dirty="0"/>
              <a:t>to minimum to ensure minimum disruption. High priority or the sensitive areas of the product</a:t>
            </a:r>
          </a:p>
          <a:p>
            <a:r>
              <a:rPr lang="en-US" dirty="0"/>
              <a:t>should be defects free but as mentioned in the last module, it’s not possible to have a software</a:t>
            </a:r>
          </a:p>
          <a:p>
            <a:r>
              <a:rPr lang="en-US" dirty="0"/>
              <a:t>product with zero bugs. Through following standards and best practices the number of defects</a:t>
            </a:r>
          </a:p>
          <a:p>
            <a:r>
              <a:rPr lang="en-US" dirty="0"/>
              <a:t>can be reduced to a minimum level but cannot be totally removed from the product.</a:t>
            </a:r>
          </a:p>
        </p:txBody>
      </p:sp>
    </p:spTree>
    <p:extLst>
      <p:ext uri="{BB962C8B-B14F-4D97-AF65-F5344CB8AC3E}">
        <p14:creationId xmlns:p14="http://schemas.microsoft.com/office/powerpoint/2010/main" val="30670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D750A-D822-45E2-B0ED-AAFD1D59770D}"/>
              </a:ext>
            </a:extLst>
          </p:cNvPr>
          <p:cNvSpPr>
            <a:spLocks noGrp="1"/>
          </p:cNvSpPr>
          <p:nvPr>
            <p:ph type="title"/>
          </p:nvPr>
        </p:nvSpPr>
        <p:spPr/>
        <p:txBody>
          <a:bodyPr/>
          <a:lstStyle/>
          <a:p>
            <a:r>
              <a:rPr lang="en-US" dirty="0"/>
              <a:t> QA and Defect</a:t>
            </a:r>
          </a:p>
        </p:txBody>
      </p:sp>
      <p:sp>
        <p:nvSpPr>
          <p:cNvPr id="3" name="Content Placeholder 2">
            <a:extLst>
              <a:ext uri="{FF2B5EF4-FFF2-40B4-BE49-F238E27FC236}">
                <a16:creationId xmlns:a16="http://schemas.microsoft.com/office/drawing/2014/main" id="{33EC44E0-97C6-40F6-81E1-69EE51E65B35}"/>
              </a:ext>
            </a:extLst>
          </p:cNvPr>
          <p:cNvSpPr>
            <a:spLocks noGrp="1"/>
          </p:cNvSpPr>
          <p:nvPr>
            <p:ph idx="1"/>
          </p:nvPr>
        </p:nvSpPr>
        <p:spPr/>
        <p:txBody>
          <a:bodyPr/>
          <a:lstStyle/>
          <a:p>
            <a:r>
              <a:rPr lang="en-US" dirty="0"/>
              <a:t>QA and defects are always tied to each other and their relationship can never vanish. QA always try to keep defects at a minimum level and for this adopts different approaches to avoid damages to the software product because of defects. </a:t>
            </a:r>
          </a:p>
          <a:p>
            <a:r>
              <a:rPr lang="en-US" dirty="0"/>
              <a:t>The last resort is that the critical functionality of the software product should work at least and defects must not be producing any kind of threat or damage to the critical function of the product. </a:t>
            </a:r>
          </a:p>
        </p:txBody>
      </p:sp>
    </p:spTree>
    <p:extLst>
      <p:ext uri="{BB962C8B-B14F-4D97-AF65-F5344CB8AC3E}">
        <p14:creationId xmlns:p14="http://schemas.microsoft.com/office/powerpoint/2010/main" val="3360706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CCB5-98AA-401B-A9D1-D29EEFC27D26}"/>
              </a:ext>
            </a:extLst>
          </p:cNvPr>
          <p:cNvSpPr>
            <a:spLocks noGrp="1"/>
          </p:cNvSpPr>
          <p:nvPr>
            <p:ph type="title"/>
          </p:nvPr>
        </p:nvSpPr>
        <p:spPr/>
        <p:txBody>
          <a:bodyPr/>
          <a:lstStyle/>
          <a:p>
            <a:r>
              <a:rPr lang="en-US" dirty="0"/>
              <a:t>QA and Defect: Classification Scheme</a:t>
            </a:r>
          </a:p>
        </p:txBody>
      </p:sp>
      <p:sp>
        <p:nvSpPr>
          <p:cNvPr id="3" name="Content Placeholder 2">
            <a:extLst>
              <a:ext uri="{FF2B5EF4-FFF2-40B4-BE49-F238E27FC236}">
                <a16:creationId xmlns:a16="http://schemas.microsoft.com/office/drawing/2014/main" id="{B3229031-CD9E-48EF-9590-70474D58D9F2}"/>
              </a:ext>
            </a:extLst>
          </p:cNvPr>
          <p:cNvSpPr>
            <a:spLocks noGrp="1"/>
          </p:cNvSpPr>
          <p:nvPr>
            <p:ph idx="1"/>
          </p:nvPr>
        </p:nvSpPr>
        <p:spPr/>
        <p:txBody>
          <a:bodyPr>
            <a:normAutofit fontScale="92500"/>
          </a:bodyPr>
          <a:lstStyle/>
          <a:p>
            <a:r>
              <a:rPr lang="en-US" dirty="0"/>
              <a:t>Defects can be classified into three categories. These are as follows along with brief explanation of them.</a:t>
            </a:r>
          </a:p>
          <a:p>
            <a:r>
              <a:rPr lang="en-US" dirty="0"/>
              <a:t> ● Defect Prevention - Error Source Removal: Defect Prevention is the process of addressing root causes of defects to prevent their future occurrence. </a:t>
            </a:r>
          </a:p>
          <a:p>
            <a:r>
              <a:rPr lang="en-US" dirty="0"/>
              <a:t>● Default Detection: it’s a process to detect and remove defects as early/many as possible through various approaches like QA, code reviews, code inspection and design review. </a:t>
            </a:r>
          </a:p>
          <a:p>
            <a:r>
              <a:rPr lang="en-US" dirty="0"/>
              <a:t>● Default Containment: it measures the amount of defects that any QA team was able to find as a portion of total defects i.e. found by QA, appeared as run-time error. The focus of this activity is to reduce/eliminating escaping defects.</a:t>
            </a:r>
          </a:p>
        </p:txBody>
      </p:sp>
    </p:spTree>
    <p:extLst>
      <p:ext uri="{BB962C8B-B14F-4D97-AF65-F5344CB8AC3E}">
        <p14:creationId xmlns:p14="http://schemas.microsoft.com/office/powerpoint/2010/main" val="1496179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C2C5-C94F-4E4A-9FE7-E43F1F2DB07E}"/>
              </a:ext>
            </a:extLst>
          </p:cNvPr>
          <p:cNvSpPr>
            <a:spLocks noGrp="1"/>
          </p:cNvSpPr>
          <p:nvPr>
            <p:ph type="title"/>
          </p:nvPr>
        </p:nvSpPr>
        <p:spPr/>
        <p:txBody>
          <a:bodyPr/>
          <a:lstStyle/>
          <a:p>
            <a:r>
              <a:rPr lang="en-US" dirty="0"/>
              <a:t>Pre-Release Defects</a:t>
            </a:r>
          </a:p>
        </p:txBody>
      </p:sp>
      <p:sp>
        <p:nvSpPr>
          <p:cNvPr id="3" name="Content Placeholder 2">
            <a:extLst>
              <a:ext uri="{FF2B5EF4-FFF2-40B4-BE49-F238E27FC236}">
                <a16:creationId xmlns:a16="http://schemas.microsoft.com/office/drawing/2014/main" id="{D7873894-D514-4DB0-9DEB-F63E344E3CE1}"/>
              </a:ext>
            </a:extLst>
          </p:cNvPr>
          <p:cNvSpPr>
            <a:spLocks noGrp="1"/>
          </p:cNvSpPr>
          <p:nvPr>
            <p:ph idx="1"/>
          </p:nvPr>
        </p:nvSpPr>
        <p:spPr/>
        <p:txBody>
          <a:bodyPr/>
          <a:lstStyle/>
          <a:p>
            <a:r>
              <a:rPr lang="en-US" dirty="0"/>
              <a:t>Pre-release defects are defined as ‘Dormant Defects’ which have potential to create problem to users and customers.</a:t>
            </a:r>
          </a:p>
          <a:p>
            <a:r>
              <a:rPr lang="en-US" dirty="0"/>
              <a:t> These inactive defects are triggered on a specific situation or may occur in a low priority area where the concentration of QA activities is low and they might not get specific attention until they are triggered. </a:t>
            </a:r>
          </a:p>
        </p:txBody>
      </p:sp>
    </p:spTree>
    <p:extLst>
      <p:ext uri="{BB962C8B-B14F-4D97-AF65-F5344CB8AC3E}">
        <p14:creationId xmlns:p14="http://schemas.microsoft.com/office/powerpoint/2010/main" val="2014296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0F99-AAAB-4D44-B130-AA5842859623}"/>
              </a:ext>
            </a:extLst>
          </p:cNvPr>
          <p:cNvSpPr>
            <a:spLocks noGrp="1"/>
          </p:cNvSpPr>
          <p:nvPr>
            <p:ph type="title"/>
          </p:nvPr>
        </p:nvSpPr>
        <p:spPr>
          <a:xfrm>
            <a:off x="942536" y="1209821"/>
            <a:ext cx="9748909" cy="633047"/>
          </a:xfrm>
        </p:spPr>
        <p:txBody>
          <a:bodyPr/>
          <a:lstStyle/>
          <a:p>
            <a:r>
              <a:rPr lang="en-US" dirty="0"/>
              <a:t>The following example would help in establishing a better understanding of the concept.</a:t>
            </a:r>
            <a:br>
              <a:rPr lang="en-US" dirty="0"/>
            </a:br>
            <a:endParaRPr lang="en-US" dirty="0"/>
          </a:p>
        </p:txBody>
      </p:sp>
      <p:sp>
        <p:nvSpPr>
          <p:cNvPr id="3" name="Content Placeholder 2">
            <a:extLst>
              <a:ext uri="{FF2B5EF4-FFF2-40B4-BE49-F238E27FC236}">
                <a16:creationId xmlns:a16="http://schemas.microsoft.com/office/drawing/2014/main" id="{36C5D286-9092-4A23-85F8-603D723FB3EA}"/>
              </a:ext>
            </a:extLst>
          </p:cNvPr>
          <p:cNvSpPr>
            <a:spLocks noGrp="1"/>
          </p:cNvSpPr>
          <p:nvPr>
            <p:ph idx="1"/>
          </p:nvPr>
        </p:nvSpPr>
        <p:spPr>
          <a:xfrm>
            <a:off x="731521" y="2475914"/>
            <a:ext cx="9191420" cy="3445413"/>
          </a:xfrm>
        </p:spPr>
        <p:txBody>
          <a:bodyPr/>
          <a:lstStyle/>
          <a:p>
            <a:r>
              <a:rPr lang="en-US" dirty="0"/>
              <a:t>Imagine the following scenario: </a:t>
            </a:r>
          </a:p>
          <a:p>
            <a:pPr marL="0" indent="0">
              <a:buNone/>
            </a:pPr>
            <a:r>
              <a:rPr lang="en-US" dirty="0"/>
              <a:t>‘The cash register scans thousands of items such as bread, milk and cheese every day without trouble. However, when someone buys products and use cash + credit card and gift voucher to pay for it? Since this is not common way of payment it was not tested properly and it had a bug, now whole system Is in wait state due to this?</a:t>
            </a:r>
          </a:p>
          <a:p>
            <a:pPr marL="0" indent="0">
              <a:buNone/>
            </a:pPr>
            <a:r>
              <a:rPr lang="en-US" b="1" dirty="0"/>
              <a:t>Pre-release defects if generated at client sites then depending on impact it has to be fixed but they are usually part of release notes.</a:t>
            </a:r>
          </a:p>
        </p:txBody>
      </p:sp>
    </p:spTree>
    <p:extLst>
      <p:ext uri="{BB962C8B-B14F-4D97-AF65-F5344CB8AC3E}">
        <p14:creationId xmlns:p14="http://schemas.microsoft.com/office/powerpoint/2010/main" val="456918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9DB4-1347-41DE-8F69-BA1C4015DEA8}"/>
              </a:ext>
            </a:extLst>
          </p:cNvPr>
          <p:cNvSpPr>
            <a:spLocks noGrp="1"/>
          </p:cNvSpPr>
          <p:nvPr>
            <p:ph type="title"/>
          </p:nvPr>
        </p:nvSpPr>
        <p:spPr/>
        <p:txBody>
          <a:bodyPr/>
          <a:lstStyle/>
          <a:p>
            <a:r>
              <a:rPr lang="en-US" dirty="0"/>
              <a:t>Post-Release Defects</a:t>
            </a:r>
          </a:p>
        </p:txBody>
      </p:sp>
      <p:sp>
        <p:nvSpPr>
          <p:cNvPr id="3" name="Content Placeholder 2">
            <a:extLst>
              <a:ext uri="{FF2B5EF4-FFF2-40B4-BE49-F238E27FC236}">
                <a16:creationId xmlns:a16="http://schemas.microsoft.com/office/drawing/2014/main" id="{F73C7F7E-9CD6-4926-9A3E-9CF2C48DD783}"/>
              </a:ext>
            </a:extLst>
          </p:cNvPr>
          <p:cNvSpPr>
            <a:spLocks noGrp="1"/>
          </p:cNvSpPr>
          <p:nvPr>
            <p:ph idx="1"/>
          </p:nvPr>
        </p:nvSpPr>
        <p:spPr/>
        <p:txBody>
          <a:bodyPr/>
          <a:lstStyle/>
          <a:p>
            <a:r>
              <a:rPr lang="en-US" dirty="0"/>
              <a:t>Post-release defects are those who appear in production or at customer site. The software supplier company has to pay for its pocket to fix those post-release defects.</a:t>
            </a:r>
          </a:p>
          <a:p>
            <a:r>
              <a:rPr lang="en-US" dirty="0"/>
              <a:t> Post-release defects have higher cost of fixing as compared to other defects because of multiple installation of the product and the defect has to be fixed at every place. Besides financial loss, company image, trust </a:t>
            </a:r>
          </a:p>
        </p:txBody>
      </p:sp>
    </p:spTree>
    <p:extLst>
      <p:ext uri="{BB962C8B-B14F-4D97-AF65-F5344CB8AC3E}">
        <p14:creationId xmlns:p14="http://schemas.microsoft.com/office/powerpoint/2010/main" val="755457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4329-9EC9-41A2-996D-36530AF90E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0AA23B-1B69-4211-AF97-B89E258B824F}"/>
              </a:ext>
            </a:extLst>
          </p:cNvPr>
          <p:cNvSpPr>
            <a:spLocks noGrp="1"/>
          </p:cNvSpPr>
          <p:nvPr>
            <p:ph idx="1"/>
          </p:nvPr>
        </p:nvSpPr>
        <p:spPr/>
        <p:txBody>
          <a:bodyPr>
            <a:normAutofit fontScale="77500" lnSpcReduction="20000"/>
          </a:bodyPr>
          <a:lstStyle/>
          <a:p>
            <a:r>
              <a:rPr lang="en-US" dirty="0"/>
              <a:t> Example of Post-Release Defects</a:t>
            </a:r>
          </a:p>
          <a:p>
            <a:pPr marL="0" indent="0">
              <a:buNone/>
            </a:pPr>
            <a:r>
              <a:rPr lang="en-US" dirty="0"/>
              <a:t>Consider the following scenario:</a:t>
            </a:r>
          </a:p>
          <a:p>
            <a:pPr marL="0" indent="0">
              <a:buNone/>
            </a:pPr>
            <a:r>
              <a:rPr lang="en-US" dirty="0"/>
              <a:t>‘There was functional requirement to export logs generated from database into CSV file so user can analyze it later on. During testing CSV was tested and working fine but at Production site CSV was generated but records went missing in the files and it require hot-fix at production</a:t>
            </a:r>
          </a:p>
          <a:p>
            <a:pPr marL="0" indent="0">
              <a:buNone/>
            </a:pPr>
            <a:r>
              <a:rPr lang="en-US" dirty="0"/>
              <a:t>site.</a:t>
            </a:r>
          </a:p>
          <a:p>
            <a:pPr marL="0" indent="0">
              <a:buNone/>
            </a:pPr>
            <a:r>
              <a:rPr lang="en-US" dirty="0"/>
              <a:t>After careful analysis it was revealed that after 500000 records in CSV more records went</a:t>
            </a:r>
          </a:p>
          <a:p>
            <a:pPr marL="0" indent="0">
              <a:buNone/>
            </a:pPr>
            <a:r>
              <a:rPr lang="en-US" dirty="0"/>
              <a:t>missing when writing it from Database and it was decided to generate separate CSV after</a:t>
            </a:r>
          </a:p>
          <a:p>
            <a:pPr marL="0" indent="0">
              <a:buNone/>
            </a:pPr>
            <a:r>
              <a:rPr lang="en-US" dirty="0"/>
              <a:t>500000 records and in the end merge two files to generate third CSV. During QA CSV was tested</a:t>
            </a:r>
          </a:p>
          <a:p>
            <a:pPr marL="0" indent="0">
              <a:buNone/>
            </a:pPr>
            <a:r>
              <a:rPr lang="en-US" dirty="0"/>
              <a:t>for 30000 records because there was no upper limit mention in SRS.’</a:t>
            </a:r>
          </a:p>
          <a:p>
            <a:pPr marL="0" indent="0">
              <a:buNone/>
            </a:pPr>
            <a:r>
              <a:rPr lang="en-US" dirty="0"/>
              <a:t>Production level bugs have very high cost plus it can hit reputation also. </a:t>
            </a:r>
          </a:p>
        </p:txBody>
      </p:sp>
    </p:spTree>
    <p:extLst>
      <p:ext uri="{BB962C8B-B14F-4D97-AF65-F5344CB8AC3E}">
        <p14:creationId xmlns:p14="http://schemas.microsoft.com/office/powerpoint/2010/main" val="1459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5E10-9EEB-431A-B229-AE976FACF8B9}"/>
              </a:ext>
            </a:extLst>
          </p:cNvPr>
          <p:cNvSpPr>
            <a:spLocks noGrp="1"/>
          </p:cNvSpPr>
          <p:nvPr>
            <p:ph type="title"/>
          </p:nvPr>
        </p:nvSpPr>
        <p:spPr/>
        <p:txBody>
          <a:bodyPr/>
          <a:lstStyle/>
          <a:p>
            <a:r>
              <a:rPr lang="en-US" dirty="0"/>
              <a:t>How to detect defects early</a:t>
            </a:r>
          </a:p>
        </p:txBody>
      </p:sp>
      <p:pic>
        <p:nvPicPr>
          <p:cNvPr id="4" name="Content Placeholder 3">
            <a:extLst>
              <a:ext uri="{FF2B5EF4-FFF2-40B4-BE49-F238E27FC236}">
                <a16:creationId xmlns:a16="http://schemas.microsoft.com/office/drawing/2014/main" id="{86637E52-A487-4B6D-BA29-74DA706DEB7D}"/>
              </a:ext>
            </a:extLst>
          </p:cNvPr>
          <p:cNvPicPr>
            <a:picLocks noGrp="1"/>
          </p:cNvPicPr>
          <p:nvPr>
            <p:ph idx="1"/>
          </p:nvPr>
        </p:nvPicPr>
        <p:blipFill rotWithShape="1">
          <a:blip r:embed="rId2"/>
          <a:srcRect l="11058" t="24516" r="37660" b="10490"/>
          <a:stretch/>
        </p:blipFill>
        <p:spPr bwMode="auto">
          <a:xfrm>
            <a:off x="998807" y="1680632"/>
            <a:ext cx="8060788" cy="517736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449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036AB-9088-4D24-9824-C1523A129AFE}"/>
              </a:ext>
            </a:extLst>
          </p:cNvPr>
          <p:cNvSpPr>
            <a:spLocks noGrp="1"/>
          </p:cNvSpPr>
          <p:nvPr>
            <p:ph idx="1"/>
          </p:nvPr>
        </p:nvSpPr>
        <p:spPr>
          <a:xfrm>
            <a:off x="365760" y="1941342"/>
            <a:ext cx="11380763" cy="4916658"/>
          </a:xfrm>
        </p:spPr>
        <p:txBody>
          <a:bodyPr>
            <a:normAutofit lnSpcReduction="10000"/>
          </a:bodyPr>
          <a:lstStyle/>
          <a:p>
            <a:r>
              <a:rPr lang="en-US" dirty="0"/>
              <a:t> </a:t>
            </a:r>
          </a:p>
          <a:p>
            <a:r>
              <a:rPr lang="en-US" dirty="0"/>
              <a:t> Inspections and reviews </a:t>
            </a:r>
          </a:p>
          <a:p>
            <a:r>
              <a:rPr lang="en-US" dirty="0"/>
              <a:t> Prototyping, extensive customer interaction</a:t>
            </a:r>
          </a:p>
          <a:p>
            <a:r>
              <a:rPr lang="en-US" dirty="0"/>
              <a:t>  Note that agile development emphasizes these</a:t>
            </a:r>
          </a:p>
          <a:p>
            <a:r>
              <a:rPr lang="en-US" dirty="0"/>
              <a:t>  Use of analysis techniques:</a:t>
            </a:r>
          </a:p>
          <a:p>
            <a:r>
              <a:rPr lang="en-US" dirty="0"/>
              <a:t>  Requirements analysis for completeness and consistency</a:t>
            </a:r>
          </a:p>
          <a:p>
            <a:r>
              <a:rPr lang="en-US" dirty="0"/>
              <a:t>  Design analysis, such as sequence diagrams to analyze functional correctness, quality attribute analysis</a:t>
            </a:r>
          </a:p>
          <a:p>
            <a:r>
              <a:rPr lang="en-US" dirty="0"/>
              <a:t>  Formal specification and analysis of requirements</a:t>
            </a:r>
          </a:p>
          <a:p>
            <a:r>
              <a:rPr lang="en-US" dirty="0"/>
              <a:t>  Methodologies that increase early lifecycle effort &amp; depth:</a:t>
            </a:r>
          </a:p>
          <a:p>
            <a:r>
              <a:rPr lang="en-US" dirty="0"/>
              <a:t>  Test-driven development increases understanding of relationships between design and requirements  Traceability analysis</a:t>
            </a:r>
          </a:p>
          <a:p>
            <a:r>
              <a:rPr lang="en-US" dirty="0"/>
              <a:t>  Incremental development to expose defects in early operation</a:t>
            </a:r>
          </a:p>
          <a:p>
            <a:endParaRPr lang="en-US" dirty="0"/>
          </a:p>
        </p:txBody>
      </p:sp>
    </p:spTree>
    <p:extLst>
      <p:ext uri="{BB962C8B-B14F-4D97-AF65-F5344CB8AC3E}">
        <p14:creationId xmlns:p14="http://schemas.microsoft.com/office/powerpoint/2010/main" val="2418856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7A7D7-7DD3-4762-BAD1-D53E1CF200E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97A9402-594D-4D33-9108-5E39BE397503}"/>
              </a:ext>
            </a:extLst>
          </p:cNvPr>
          <p:cNvPicPr>
            <a:picLocks noGrp="1" noChangeAspect="1"/>
          </p:cNvPicPr>
          <p:nvPr>
            <p:ph idx="1"/>
          </p:nvPr>
        </p:nvPicPr>
        <p:blipFill>
          <a:blip r:embed="rId2"/>
          <a:stretch>
            <a:fillRect/>
          </a:stretch>
        </p:blipFill>
        <p:spPr>
          <a:xfrm>
            <a:off x="1154954" y="973668"/>
            <a:ext cx="8488499" cy="4663713"/>
          </a:xfrm>
          <a:prstGeom prst="rect">
            <a:avLst/>
          </a:prstGeom>
        </p:spPr>
      </p:pic>
    </p:spTree>
    <p:extLst>
      <p:ext uri="{BB962C8B-B14F-4D97-AF65-F5344CB8AC3E}">
        <p14:creationId xmlns:p14="http://schemas.microsoft.com/office/powerpoint/2010/main" val="41034865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4649</TotalTime>
  <Words>918</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 Boardroom</vt:lpstr>
      <vt:lpstr>      BSSE    -Software Quality Engineering      Week-2  Lecture 3  Semester 6- Fall 2020</vt:lpstr>
      <vt:lpstr>QA in context – QA as Defect Handling</vt:lpstr>
      <vt:lpstr>Learning Outcomes</vt:lpstr>
      <vt:lpstr>Quality Assurance Basics</vt:lpstr>
      <vt:lpstr> QA and Defect</vt:lpstr>
      <vt:lpstr>QA and Defect: Classification Scheme</vt:lpstr>
      <vt:lpstr>Pre-Release Defects</vt:lpstr>
      <vt:lpstr>The following example would help in establishing a better understanding of the concept. </vt:lpstr>
      <vt:lpstr>Post-Release Defects</vt:lpstr>
      <vt:lpstr>PowerPoint Presentation</vt:lpstr>
      <vt:lpstr>How to detect defects early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dc:title>
  <dc:creator>Zarsha</dc:creator>
  <cp:lastModifiedBy>Zarsha</cp:lastModifiedBy>
  <cp:revision>24</cp:revision>
  <dcterms:created xsi:type="dcterms:W3CDTF">2019-10-13T12:26:15Z</dcterms:created>
  <dcterms:modified xsi:type="dcterms:W3CDTF">2020-04-11T20:33:12Z</dcterms:modified>
</cp:coreProperties>
</file>