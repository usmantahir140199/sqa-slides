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69"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6E9C27-E3E9-4ECE-91D6-C86B8A982AFF}" type="datetimeFigureOut">
              <a:rPr lang="en-US" smtClean="0"/>
              <a:t>5/10/2020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9C65CE-6E43-4991-BCB5-F04EC8E19620}" type="slidenum">
              <a:rPr lang="en-US" smtClean="0"/>
              <a:t>‹#›</a:t>
            </a:fld>
            <a:endParaRPr lang="en-US"/>
          </a:p>
        </p:txBody>
      </p:sp>
    </p:spTree>
    <p:extLst>
      <p:ext uri="{BB962C8B-B14F-4D97-AF65-F5344CB8AC3E}">
        <p14:creationId xmlns:p14="http://schemas.microsoft.com/office/powerpoint/2010/main" val="1449594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533613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186617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608802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929E7D-67C2-478D-B0AC-3878201898D8}" type="datetimeFigureOut">
              <a:rPr lang="en-US" smtClean="0"/>
              <a:t>5/10/2020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342479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929E7D-67C2-478D-B0AC-3878201898D8}" type="datetimeFigureOut">
              <a:rPr lang="en-US" smtClean="0"/>
              <a:t>5/10/2020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3394841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929E7D-67C2-478D-B0AC-3878201898D8}" type="datetimeFigureOut">
              <a:rPr lang="en-US" smtClean="0"/>
              <a:t>5/10/2020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811724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929E7D-67C2-478D-B0AC-3878201898D8}" type="datetimeFigureOut">
              <a:rPr lang="en-US" smtClean="0"/>
              <a:t>5/10/2020</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926420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5/10/2020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215843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5/10/2020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387495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929E7D-67C2-478D-B0AC-3878201898D8}" type="datetimeFigureOut">
              <a:rPr lang="en-US" smtClean="0"/>
              <a:t>5/10/2020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28521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707122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746390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468420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4929E7D-67C2-478D-B0AC-3878201898D8}" type="datetimeFigureOut">
              <a:rPr lang="en-US" smtClean="0"/>
              <a:t>5/10/2020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7988893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4929E7D-67C2-478D-B0AC-3878201898D8}" type="datetimeFigureOut">
              <a:rPr lang="en-US" smtClean="0"/>
              <a:t>5/10/2020</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467494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2265816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A4929E7D-67C2-478D-B0AC-3878201898D8}" type="datetimeFigureOut">
              <a:rPr lang="en-US" smtClean="0"/>
              <a:t>5/10/2020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7E73C9B-D9A2-4DA2-AF94-DBE9ACB31512}" type="slidenum">
              <a:rPr lang="en-US" smtClean="0"/>
              <a:t>‹#›</a:t>
            </a:fld>
            <a:endParaRPr lang="en-US"/>
          </a:p>
        </p:txBody>
      </p:sp>
    </p:spTree>
    <p:extLst>
      <p:ext uri="{BB962C8B-B14F-4D97-AF65-F5344CB8AC3E}">
        <p14:creationId xmlns:p14="http://schemas.microsoft.com/office/powerpoint/2010/main" val="1868651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A4929E7D-67C2-478D-B0AC-3878201898D8}" type="datetimeFigureOut">
              <a:rPr lang="en-US" smtClean="0"/>
              <a:t>5/10/2020</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7E73C9B-D9A2-4DA2-AF94-DBE9ACB31512}" type="slidenum">
              <a:rPr lang="en-US" smtClean="0"/>
              <a:t>‹#›</a:t>
            </a:fld>
            <a:endParaRPr lang="en-US"/>
          </a:p>
        </p:txBody>
      </p:sp>
    </p:spTree>
    <p:extLst>
      <p:ext uri="{BB962C8B-B14F-4D97-AF65-F5344CB8AC3E}">
        <p14:creationId xmlns:p14="http://schemas.microsoft.com/office/powerpoint/2010/main" val="38078877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uru99.com/how-to-create-test-strategy-document.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uru99.com/functional-testing.html" TargetMode="External"/><Relationship Id="rId2" Type="http://schemas.openxmlformats.org/officeDocument/2006/relationships/hyperlink" Target="https://www.guru99.com/api-testing.html" TargetMode="External"/><Relationship Id="rId1" Type="http://schemas.openxmlformats.org/officeDocument/2006/relationships/slideLayout" Target="../slideLayouts/slideLayout2.xml"/><Relationship Id="rId4" Type="http://schemas.openxmlformats.org/officeDocument/2006/relationships/hyperlink" Target="https://www.guru99.com/data-testing.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uru99.com/test-environment-software-testing.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guru99.com/an-expert-view-on-test-estimation.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5065" y="1064260"/>
            <a:ext cx="8825865" cy="3713480"/>
          </a:xfrm>
        </p:spPr>
        <p:txBody>
          <a:bodyPr>
            <a:normAutofit fontScale="90000"/>
          </a:bodyPr>
          <a:lstStyle/>
          <a:p>
            <a:pPr algn="ctr"/>
            <a:br>
              <a:rPr lang="en-US" dirty="0"/>
            </a:br>
            <a:br>
              <a:rPr lang="en-US" dirty="0"/>
            </a:br>
            <a:br>
              <a:rPr lang="en-US" dirty="0"/>
            </a:br>
            <a:br>
              <a:rPr lang="en-US" dirty="0"/>
            </a:br>
            <a:br>
              <a:rPr lang="en-US" dirty="0"/>
            </a:br>
            <a:br>
              <a:rPr lang="en-US" dirty="0"/>
            </a:br>
            <a:r>
              <a:rPr lang="en-US" sz="4000" dirty="0"/>
              <a:t>BSSE    -Software Quality Engineering</a:t>
            </a:r>
            <a:r>
              <a:rPr lang="en-US" sz="4400" dirty="0"/>
              <a:t>					</a:t>
            </a:r>
            <a:br>
              <a:rPr lang="en-US" sz="4400" dirty="0"/>
            </a:br>
            <a:r>
              <a:rPr lang="en-US" sz="4400" dirty="0"/>
              <a:t>Week-12		Lecture 23-24</a:t>
            </a:r>
            <a:br>
              <a:rPr lang="en-US" sz="4400" dirty="0"/>
            </a:br>
            <a:r>
              <a:rPr lang="en-US" sz="4400" dirty="0"/>
              <a:t>	</a:t>
            </a:r>
            <a:r>
              <a:rPr lang="en-US" sz="2800" dirty="0"/>
              <a:t>Semester 6- Fall 2020</a:t>
            </a:r>
          </a:p>
        </p:txBody>
      </p:sp>
      <p:sp>
        <p:nvSpPr>
          <p:cNvPr id="3" name="Subtitle 2"/>
          <p:cNvSpPr>
            <a:spLocks noGrp="1"/>
          </p:cNvSpPr>
          <p:nvPr>
            <p:ph type="subTitle" idx="1"/>
          </p:nvPr>
        </p:nvSpPr>
        <p:spPr>
          <a:xfrm>
            <a:off x="1155065" y="4777105"/>
            <a:ext cx="8825865" cy="1313815"/>
          </a:xfrm>
        </p:spPr>
        <p:txBody>
          <a:bodyPr>
            <a:normAutofit/>
          </a:bodyPr>
          <a:lstStyle/>
          <a:p>
            <a:pPr lvl="8" algn="l"/>
            <a:r>
              <a:rPr lang="en-US" dirty="0">
                <a:latin typeface="Arial" panose="020B0604020202020204" pitchFamily="34" charset="0"/>
                <a:cs typeface="Arial" panose="020B0604020202020204" pitchFamily="34" charset="0"/>
              </a:rPr>
              <a:t>			</a:t>
            </a:r>
          </a:p>
        </p:txBody>
      </p:sp>
      <p:sp>
        <p:nvSpPr>
          <p:cNvPr id="5" name="Footer Placeholder 4"/>
          <p:cNvSpPr>
            <a:spLocks noGrp="1"/>
          </p:cNvSpPr>
          <p:nvPr>
            <p:ph type="ftr" sz="quarter" idx="11"/>
          </p:nvPr>
        </p:nvSpPr>
        <p:spPr/>
        <p:txBody>
          <a:bodyPr/>
          <a:lstStyle/>
          <a:p>
            <a:r>
              <a:rPr lang="en-US"/>
              <a:t>Lahore Garrison University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 y="90351"/>
            <a:ext cx="1905000" cy="190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B04EB-6FE1-4AA4-9097-944EE90F2316}"/>
              </a:ext>
            </a:extLst>
          </p:cNvPr>
          <p:cNvSpPr>
            <a:spLocks noGrp="1"/>
          </p:cNvSpPr>
          <p:nvPr>
            <p:ph type="title"/>
          </p:nvPr>
        </p:nvSpPr>
        <p:spPr>
          <a:xfrm>
            <a:off x="1028344" y="1100277"/>
            <a:ext cx="8761413" cy="706964"/>
          </a:xfrm>
        </p:spPr>
        <p:txBody>
          <a:bodyPr/>
          <a:lstStyle/>
          <a:p>
            <a:r>
              <a:rPr lang="en-US" dirty="0"/>
              <a:t>What is a Test Plan?</a:t>
            </a:r>
            <a:br>
              <a:rPr lang="en-US" dirty="0"/>
            </a:br>
            <a:endParaRPr lang="en-US" dirty="0"/>
          </a:p>
        </p:txBody>
      </p:sp>
      <p:sp>
        <p:nvSpPr>
          <p:cNvPr id="3" name="Content Placeholder 2">
            <a:extLst>
              <a:ext uri="{FF2B5EF4-FFF2-40B4-BE49-F238E27FC236}">
                <a16:creationId xmlns:a16="http://schemas.microsoft.com/office/drawing/2014/main" id="{7A3AEEE1-21FC-4667-AED9-53CE713589CD}"/>
              </a:ext>
            </a:extLst>
          </p:cNvPr>
          <p:cNvSpPr>
            <a:spLocks noGrp="1"/>
          </p:cNvSpPr>
          <p:nvPr>
            <p:ph idx="1"/>
          </p:nvPr>
        </p:nvSpPr>
        <p:spPr/>
        <p:txBody>
          <a:bodyPr/>
          <a:lstStyle/>
          <a:p>
            <a:r>
              <a:rPr lang="en-US" dirty="0"/>
              <a:t>A </a:t>
            </a:r>
            <a:r>
              <a:rPr lang="en-US" b="1" dirty="0"/>
              <a:t>TEST PLAN</a:t>
            </a:r>
            <a:r>
              <a:rPr lang="en-US" dirty="0"/>
              <a:t> is a detailed document that describes the test strategy, objectives, schedule, estimation and deliverables and resources required for testing. Test Plan helps us determine the effort needed to validate the quality of the application under test. The test plan serves as a blueprint to conduct software testing activities as a defined process which is minutely monitored and controlled by the test manager.</a:t>
            </a:r>
          </a:p>
          <a:p>
            <a:endParaRPr lang="en-US" dirty="0"/>
          </a:p>
        </p:txBody>
      </p:sp>
    </p:spTree>
    <p:extLst>
      <p:ext uri="{BB962C8B-B14F-4D97-AF65-F5344CB8AC3E}">
        <p14:creationId xmlns:p14="http://schemas.microsoft.com/office/powerpoint/2010/main" val="3233982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FBA79-C1B9-4FE4-964D-D4E277DFD6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A6DCAF-4C51-475F-9B61-D8F5669DF8BB}"/>
              </a:ext>
            </a:extLst>
          </p:cNvPr>
          <p:cNvSpPr>
            <a:spLocks noGrp="1"/>
          </p:cNvSpPr>
          <p:nvPr>
            <p:ph idx="1"/>
          </p:nvPr>
        </p:nvSpPr>
        <p:spPr/>
        <p:txBody>
          <a:bodyPr>
            <a:normAutofit/>
          </a:bodyPr>
          <a:lstStyle/>
          <a:p>
            <a:r>
              <a:rPr lang="en-US" b="1" dirty="0"/>
              <a:t>Importance of Test Plan</a:t>
            </a:r>
          </a:p>
          <a:p>
            <a:r>
              <a:rPr lang="en-US" dirty="0"/>
              <a:t>Making Test Plan has multiple benefits</a:t>
            </a:r>
          </a:p>
          <a:p>
            <a:r>
              <a:rPr lang="en-US" dirty="0"/>
              <a:t>Help people outside the test team such as developers, business managers, customers </a:t>
            </a:r>
            <a:r>
              <a:rPr lang="en-US" b="1" dirty="0"/>
              <a:t>understand</a:t>
            </a:r>
            <a:r>
              <a:rPr lang="en-US" dirty="0"/>
              <a:t> the details of testing.</a:t>
            </a:r>
          </a:p>
          <a:p>
            <a:r>
              <a:rPr lang="en-US" dirty="0"/>
              <a:t>Test Plan </a:t>
            </a:r>
            <a:r>
              <a:rPr lang="en-US" b="1" dirty="0"/>
              <a:t>guides</a:t>
            </a:r>
            <a:r>
              <a:rPr lang="en-US" dirty="0"/>
              <a:t> our thinking. It is like a rule book, which needs to be followed.</a:t>
            </a:r>
          </a:p>
          <a:p>
            <a:r>
              <a:rPr lang="en-US" dirty="0"/>
              <a:t>Important aspects like test estimation, test scope,</a:t>
            </a:r>
            <a:r>
              <a:rPr lang="en-US" dirty="0">
                <a:hlinkClick r:id="rId2"/>
              </a:rPr>
              <a:t> Test Strategy </a:t>
            </a:r>
            <a:r>
              <a:rPr lang="en-US" dirty="0"/>
              <a:t>are </a:t>
            </a:r>
            <a:r>
              <a:rPr lang="en-US" b="1" dirty="0"/>
              <a:t>documented</a:t>
            </a:r>
            <a:r>
              <a:rPr lang="en-US" dirty="0"/>
              <a:t> in Test Plan, so it can be reviewed by Management Team and re-used for other projects.</a:t>
            </a:r>
          </a:p>
          <a:p>
            <a:endParaRPr lang="en-US" dirty="0"/>
          </a:p>
        </p:txBody>
      </p:sp>
    </p:spTree>
    <p:extLst>
      <p:ext uri="{BB962C8B-B14F-4D97-AF65-F5344CB8AC3E}">
        <p14:creationId xmlns:p14="http://schemas.microsoft.com/office/powerpoint/2010/main" val="2925022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00BE-32AC-4784-AB31-F5A8B72CD4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D59604-5AF7-4F9C-B5DB-3B2EFF281291}"/>
              </a:ext>
            </a:extLst>
          </p:cNvPr>
          <p:cNvSpPr>
            <a:spLocks noGrp="1"/>
          </p:cNvSpPr>
          <p:nvPr>
            <p:ph idx="1"/>
          </p:nvPr>
        </p:nvSpPr>
        <p:spPr>
          <a:xfrm>
            <a:off x="773723" y="2433710"/>
            <a:ext cx="9446041" cy="3965917"/>
          </a:xfrm>
        </p:spPr>
        <p:txBody>
          <a:bodyPr>
            <a:normAutofit fontScale="92500" lnSpcReduction="20000"/>
          </a:bodyPr>
          <a:lstStyle/>
          <a:p>
            <a:r>
              <a:rPr lang="en-US" b="1" dirty="0"/>
              <a:t>How to write a Test Plan</a:t>
            </a:r>
          </a:p>
          <a:p>
            <a:r>
              <a:rPr lang="en-US" dirty="0"/>
              <a:t>You already know that making a </a:t>
            </a:r>
            <a:r>
              <a:rPr lang="en-US" b="1" dirty="0"/>
              <a:t>Test Plan</a:t>
            </a:r>
            <a:r>
              <a:rPr lang="en-US" dirty="0"/>
              <a:t> is the most important task of Test Management Process. Follow the seven steps below to create a test plan as per IEEE 829</a:t>
            </a:r>
          </a:p>
          <a:p>
            <a:r>
              <a:rPr lang="en-US" dirty="0"/>
              <a:t>Analyze the product</a:t>
            </a:r>
          </a:p>
          <a:p>
            <a:r>
              <a:rPr lang="en-US" dirty="0"/>
              <a:t>Design the Test Strategy</a:t>
            </a:r>
          </a:p>
          <a:p>
            <a:r>
              <a:rPr lang="en-US" dirty="0"/>
              <a:t>Define the Test Objectives</a:t>
            </a:r>
          </a:p>
          <a:p>
            <a:r>
              <a:rPr lang="en-US" dirty="0"/>
              <a:t>Define Test Criteria</a:t>
            </a:r>
          </a:p>
          <a:p>
            <a:r>
              <a:rPr lang="en-US" dirty="0"/>
              <a:t>Resource Planning</a:t>
            </a:r>
          </a:p>
          <a:p>
            <a:r>
              <a:rPr lang="en-US" dirty="0"/>
              <a:t>Plan Test Environment</a:t>
            </a:r>
          </a:p>
          <a:p>
            <a:r>
              <a:rPr lang="en-US" dirty="0"/>
              <a:t>Schedule &amp; Estimation</a:t>
            </a:r>
          </a:p>
          <a:p>
            <a:r>
              <a:rPr lang="en-US" dirty="0"/>
              <a:t>Determine Test Deliverables</a:t>
            </a:r>
          </a:p>
          <a:p>
            <a:endParaRPr lang="en-US" dirty="0"/>
          </a:p>
        </p:txBody>
      </p:sp>
    </p:spTree>
    <p:extLst>
      <p:ext uri="{BB962C8B-B14F-4D97-AF65-F5344CB8AC3E}">
        <p14:creationId xmlns:p14="http://schemas.microsoft.com/office/powerpoint/2010/main" val="4087331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2E4F5-5BC5-4413-9CED-46B6F927226D}"/>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DD5D0C9F-A7FF-4A8A-92DF-5C21B616B8DB}"/>
              </a:ext>
            </a:extLst>
          </p:cNvPr>
          <p:cNvPicPr>
            <a:picLocks noGrp="1" noChangeAspect="1"/>
          </p:cNvPicPr>
          <p:nvPr>
            <p:ph idx="1"/>
          </p:nvPr>
        </p:nvPicPr>
        <p:blipFill rotWithShape="1">
          <a:blip r:embed="rId2"/>
          <a:srcRect l="22134" r="9797" b="13295"/>
          <a:stretch/>
        </p:blipFill>
        <p:spPr>
          <a:xfrm>
            <a:off x="998806" y="712532"/>
            <a:ext cx="8201465" cy="5756341"/>
          </a:xfrm>
          <a:prstGeom prst="rect">
            <a:avLst/>
          </a:prstGeom>
        </p:spPr>
      </p:pic>
    </p:spTree>
    <p:extLst>
      <p:ext uri="{BB962C8B-B14F-4D97-AF65-F5344CB8AC3E}">
        <p14:creationId xmlns:p14="http://schemas.microsoft.com/office/powerpoint/2010/main" val="2003178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724A3-419B-47C1-8933-EDEB65061C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212C24-3D37-4E2C-9730-F6B75FE2D80E}"/>
              </a:ext>
            </a:extLst>
          </p:cNvPr>
          <p:cNvSpPr>
            <a:spLocks noGrp="1"/>
          </p:cNvSpPr>
          <p:nvPr>
            <p:ph idx="1"/>
          </p:nvPr>
        </p:nvSpPr>
        <p:spPr/>
        <p:txBody>
          <a:bodyPr>
            <a:normAutofit lnSpcReduction="10000"/>
          </a:bodyPr>
          <a:lstStyle/>
          <a:p>
            <a:r>
              <a:rPr lang="en-US" b="1" dirty="0"/>
              <a:t>Step 1) Analyze the product</a:t>
            </a:r>
          </a:p>
          <a:p>
            <a:r>
              <a:rPr lang="en-US" dirty="0"/>
              <a:t>How can you test a product </a:t>
            </a:r>
            <a:r>
              <a:rPr lang="en-US" b="1" dirty="0"/>
              <a:t>without</a:t>
            </a:r>
            <a:r>
              <a:rPr lang="en-US" dirty="0"/>
              <a:t> any information about it? The answer is </a:t>
            </a:r>
            <a:r>
              <a:rPr lang="en-US" b="1" dirty="0"/>
              <a:t>Impossible. </a:t>
            </a:r>
            <a:r>
              <a:rPr lang="en-US" dirty="0"/>
              <a:t>You must learn a product </a:t>
            </a:r>
            <a:r>
              <a:rPr lang="en-US" b="1" dirty="0"/>
              <a:t>thoroughly </a:t>
            </a:r>
            <a:r>
              <a:rPr lang="en-US" dirty="0"/>
              <a:t>before testing it.</a:t>
            </a:r>
          </a:p>
          <a:p>
            <a:r>
              <a:rPr lang="en-US" dirty="0"/>
              <a:t>The product under test is a banking website. You should research clients and the end users to know their needs and expectations from the application</a:t>
            </a:r>
          </a:p>
          <a:p>
            <a:r>
              <a:rPr lang="en-US" dirty="0"/>
              <a:t>Who will use the website?</a:t>
            </a:r>
          </a:p>
          <a:p>
            <a:r>
              <a:rPr lang="en-US" dirty="0"/>
              <a:t>What is it used for?</a:t>
            </a:r>
          </a:p>
          <a:p>
            <a:r>
              <a:rPr lang="en-US" dirty="0"/>
              <a:t>How will it work?</a:t>
            </a:r>
          </a:p>
          <a:p>
            <a:r>
              <a:rPr lang="en-US" dirty="0"/>
              <a:t>What are software/ hardware the product uses?</a:t>
            </a:r>
          </a:p>
          <a:p>
            <a:endParaRPr lang="en-US" dirty="0"/>
          </a:p>
        </p:txBody>
      </p:sp>
    </p:spTree>
    <p:extLst>
      <p:ext uri="{BB962C8B-B14F-4D97-AF65-F5344CB8AC3E}">
        <p14:creationId xmlns:p14="http://schemas.microsoft.com/office/powerpoint/2010/main" val="2384593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A2CA3-8C78-40AB-AF72-2A7A083237CE}"/>
              </a:ext>
            </a:extLst>
          </p:cNvPr>
          <p:cNvSpPr>
            <a:spLocks noGrp="1"/>
          </p:cNvSpPr>
          <p:nvPr>
            <p:ph type="title"/>
          </p:nvPr>
        </p:nvSpPr>
        <p:spPr/>
        <p:txBody>
          <a:bodyPr/>
          <a:lstStyle/>
          <a:p>
            <a:endParaRPr lang="en-US"/>
          </a:p>
        </p:txBody>
      </p:sp>
      <p:pic>
        <p:nvPicPr>
          <p:cNvPr id="4100" name="Picture 4">
            <a:extLst>
              <a:ext uri="{FF2B5EF4-FFF2-40B4-BE49-F238E27FC236}">
                <a16:creationId xmlns:a16="http://schemas.microsoft.com/office/drawing/2014/main" id="{6F304F8A-1789-4CE7-B813-52F2365F75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4954" y="810985"/>
            <a:ext cx="8658339" cy="5236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812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5F01-1E5B-4553-9B1A-637C0663AC9A}"/>
              </a:ext>
            </a:extLst>
          </p:cNvPr>
          <p:cNvSpPr>
            <a:spLocks noGrp="1"/>
          </p:cNvSpPr>
          <p:nvPr>
            <p:ph type="title"/>
          </p:nvPr>
        </p:nvSpPr>
        <p:spPr/>
        <p:txBody>
          <a:bodyPr/>
          <a:lstStyle/>
          <a:p>
            <a:r>
              <a:rPr lang="en-US" dirty="0"/>
              <a:t>Step 2) Develop Test Strategy</a:t>
            </a:r>
            <a:br>
              <a:rPr lang="en-US" dirty="0"/>
            </a:br>
            <a:endParaRPr lang="en-US" dirty="0"/>
          </a:p>
        </p:txBody>
      </p:sp>
      <p:sp>
        <p:nvSpPr>
          <p:cNvPr id="3" name="Content Placeholder 2">
            <a:extLst>
              <a:ext uri="{FF2B5EF4-FFF2-40B4-BE49-F238E27FC236}">
                <a16:creationId xmlns:a16="http://schemas.microsoft.com/office/drawing/2014/main" id="{3A8DC994-24EE-4687-8FD8-9BC9406F3AC1}"/>
              </a:ext>
            </a:extLst>
          </p:cNvPr>
          <p:cNvSpPr>
            <a:spLocks noGrp="1"/>
          </p:cNvSpPr>
          <p:nvPr>
            <p:ph idx="1"/>
          </p:nvPr>
        </p:nvSpPr>
        <p:spPr>
          <a:xfrm>
            <a:off x="1154954" y="2255157"/>
            <a:ext cx="8825659" cy="3416300"/>
          </a:xfrm>
        </p:spPr>
        <p:txBody>
          <a:bodyPr/>
          <a:lstStyle/>
          <a:p>
            <a:r>
              <a:rPr lang="en-US" dirty="0"/>
              <a:t>Test Strategy is a </a:t>
            </a:r>
            <a:r>
              <a:rPr lang="en-US" b="1" dirty="0"/>
              <a:t>critical step </a:t>
            </a:r>
            <a:r>
              <a:rPr lang="en-US" dirty="0"/>
              <a:t>in making a Test Plan. A Test Strategy document, is a high-level document, which is usually developed by Test Manager. This document defines:</a:t>
            </a:r>
          </a:p>
          <a:p>
            <a:r>
              <a:rPr lang="en-US" dirty="0"/>
              <a:t>The project’s </a:t>
            </a:r>
            <a:r>
              <a:rPr lang="en-US" b="1" dirty="0"/>
              <a:t>testing objectives</a:t>
            </a:r>
            <a:r>
              <a:rPr lang="en-US" dirty="0"/>
              <a:t> and the means to achieve them</a:t>
            </a:r>
          </a:p>
          <a:p>
            <a:r>
              <a:rPr lang="en-US" dirty="0"/>
              <a:t>Determines testing </a:t>
            </a:r>
            <a:r>
              <a:rPr lang="en-US" b="1" dirty="0"/>
              <a:t>effort</a:t>
            </a:r>
            <a:r>
              <a:rPr lang="en-US" dirty="0"/>
              <a:t> and </a:t>
            </a:r>
            <a:r>
              <a:rPr lang="en-US" b="1" dirty="0"/>
              <a:t>costs</a:t>
            </a:r>
            <a:endParaRPr lang="en-US" dirty="0"/>
          </a:p>
          <a:p>
            <a:r>
              <a:rPr lang="en-US" dirty="0"/>
              <a:t>Back to your project, you need to develop Test Strategy for testing that banking website. You should follow steps below</a:t>
            </a:r>
          </a:p>
          <a:p>
            <a:endParaRPr lang="en-US" dirty="0"/>
          </a:p>
        </p:txBody>
      </p:sp>
      <p:pic>
        <p:nvPicPr>
          <p:cNvPr id="4" name="Picture 3">
            <a:extLst>
              <a:ext uri="{FF2B5EF4-FFF2-40B4-BE49-F238E27FC236}">
                <a16:creationId xmlns:a16="http://schemas.microsoft.com/office/drawing/2014/main" id="{91E4237D-4C40-4F7B-950D-0B4BCE8236A0}"/>
              </a:ext>
            </a:extLst>
          </p:cNvPr>
          <p:cNvPicPr>
            <a:picLocks noChangeAspect="1"/>
          </p:cNvPicPr>
          <p:nvPr/>
        </p:nvPicPr>
        <p:blipFill>
          <a:blip r:embed="rId2"/>
          <a:stretch>
            <a:fillRect/>
          </a:stretch>
        </p:blipFill>
        <p:spPr>
          <a:xfrm>
            <a:off x="1604054" y="5203294"/>
            <a:ext cx="7648575" cy="1362075"/>
          </a:xfrm>
          <a:prstGeom prst="rect">
            <a:avLst/>
          </a:prstGeom>
        </p:spPr>
      </p:pic>
    </p:spTree>
    <p:extLst>
      <p:ext uri="{BB962C8B-B14F-4D97-AF65-F5344CB8AC3E}">
        <p14:creationId xmlns:p14="http://schemas.microsoft.com/office/powerpoint/2010/main" val="188954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2FFB-E54E-4F48-8714-86EE346CAF1F}"/>
              </a:ext>
            </a:extLst>
          </p:cNvPr>
          <p:cNvSpPr>
            <a:spLocks noGrp="1"/>
          </p:cNvSpPr>
          <p:nvPr>
            <p:ph type="title"/>
          </p:nvPr>
        </p:nvSpPr>
        <p:spPr/>
        <p:txBody>
          <a:bodyPr/>
          <a:lstStyle/>
          <a:p>
            <a:r>
              <a:rPr lang="en-US" dirty="0"/>
              <a:t>Step 2.1) Define Scope of Testing</a:t>
            </a:r>
            <a:br>
              <a:rPr lang="en-US" dirty="0"/>
            </a:br>
            <a:endParaRPr lang="en-US" dirty="0"/>
          </a:p>
        </p:txBody>
      </p:sp>
      <p:sp>
        <p:nvSpPr>
          <p:cNvPr id="3" name="Content Placeholder 2">
            <a:extLst>
              <a:ext uri="{FF2B5EF4-FFF2-40B4-BE49-F238E27FC236}">
                <a16:creationId xmlns:a16="http://schemas.microsoft.com/office/drawing/2014/main" id="{08360E3A-66CC-47A5-92B6-06E1D8F1DDFC}"/>
              </a:ext>
            </a:extLst>
          </p:cNvPr>
          <p:cNvSpPr>
            <a:spLocks noGrp="1"/>
          </p:cNvSpPr>
          <p:nvPr>
            <p:ph idx="1"/>
          </p:nvPr>
        </p:nvSpPr>
        <p:spPr>
          <a:xfrm>
            <a:off x="872197" y="2363372"/>
            <a:ext cx="9791113" cy="4037428"/>
          </a:xfrm>
        </p:spPr>
        <p:txBody>
          <a:bodyPr>
            <a:normAutofit/>
          </a:bodyPr>
          <a:lstStyle/>
          <a:p>
            <a:r>
              <a:rPr lang="en-US" dirty="0"/>
              <a:t>Before the start of any test activity, scope of the testing should be known. You must think hard about it.</a:t>
            </a:r>
          </a:p>
          <a:p>
            <a:r>
              <a:rPr lang="en-US" dirty="0"/>
              <a:t>The components of the system to be tested (hardware, software, middleware, etc.) are defined as "</a:t>
            </a:r>
            <a:r>
              <a:rPr lang="en-US" b="1" dirty="0"/>
              <a:t>in scope</a:t>
            </a:r>
            <a:r>
              <a:rPr lang="en-US" dirty="0"/>
              <a:t>"</a:t>
            </a:r>
          </a:p>
          <a:p>
            <a:r>
              <a:rPr lang="en-US" dirty="0"/>
              <a:t>The components of the system that will not be tested also need to be clearly defined as being "</a:t>
            </a:r>
            <a:r>
              <a:rPr lang="en-US" b="1" dirty="0"/>
              <a:t>out of scope</a:t>
            </a:r>
            <a:r>
              <a:rPr lang="en-US" dirty="0"/>
              <a:t>."</a:t>
            </a:r>
          </a:p>
          <a:p>
            <a:r>
              <a:rPr lang="en-US" dirty="0"/>
              <a:t>Defining the scope of your testing project is very important for all stakeholders. A precise scope helps you</a:t>
            </a:r>
          </a:p>
          <a:p>
            <a:r>
              <a:rPr lang="en-US" dirty="0"/>
              <a:t>Give everyone a </a:t>
            </a:r>
            <a:r>
              <a:rPr lang="en-US" b="1" dirty="0"/>
              <a:t>confidence &amp; accurate information</a:t>
            </a:r>
            <a:r>
              <a:rPr lang="en-US" dirty="0"/>
              <a:t> of the testing you  are doing</a:t>
            </a:r>
          </a:p>
          <a:p>
            <a:r>
              <a:rPr lang="en-US" dirty="0"/>
              <a:t>All project members will have a </a:t>
            </a:r>
            <a:r>
              <a:rPr lang="en-US" b="1" dirty="0"/>
              <a:t>clear</a:t>
            </a:r>
            <a:r>
              <a:rPr lang="en-US" dirty="0"/>
              <a:t> understanding about what is tested and what is not</a:t>
            </a:r>
          </a:p>
          <a:p>
            <a:endParaRPr lang="en-US" dirty="0"/>
          </a:p>
        </p:txBody>
      </p:sp>
    </p:spTree>
    <p:extLst>
      <p:ext uri="{BB962C8B-B14F-4D97-AF65-F5344CB8AC3E}">
        <p14:creationId xmlns:p14="http://schemas.microsoft.com/office/powerpoint/2010/main" val="3583080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B105C-C95D-4D6C-849A-903C21D47358}"/>
              </a:ext>
            </a:extLst>
          </p:cNvPr>
          <p:cNvSpPr>
            <a:spLocks noGrp="1"/>
          </p:cNvSpPr>
          <p:nvPr>
            <p:ph type="title"/>
          </p:nvPr>
        </p:nvSpPr>
        <p:spPr>
          <a:xfrm>
            <a:off x="915804" y="1128413"/>
            <a:ext cx="8761413" cy="706964"/>
          </a:xfrm>
        </p:spPr>
        <p:txBody>
          <a:bodyPr/>
          <a:lstStyle/>
          <a:p>
            <a:r>
              <a:rPr lang="en-US" dirty="0"/>
              <a:t>How do you determine scope your project?</a:t>
            </a:r>
            <a:br>
              <a:rPr lang="en-US" dirty="0"/>
            </a:br>
            <a:endParaRPr lang="en-US" dirty="0"/>
          </a:p>
        </p:txBody>
      </p:sp>
      <p:sp>
        <p:nvSpPr>
          <p:cNvPr id="3" name="Content Placeholder 2">
            <a:extLst>
              <a:ext uri="{FF2B5EF4-FFF2-40B4-BE49-F238E27FC236}">
                <a16:creationId xmlns:a16="http://schemas.microsoft.com/office/drawing/2014/main" id="{FBB92047-147F-47D1-B8D4-5FE62DAACEA0}"/>
              </a:ext>
            </a:extLst>
          </p:cNvPr>
          <p:cNvSpPr>
            <a:spLocks noGrp="1"/>
          </p:cNvSpPr>
          <p:nvPr>
            <p:ph idx="1"/>
          </p:nvPr>
        </p:nvSpPr>
        <p:spPr/>
        <p:txBody>
          <a:bodyPr/>
          <a:lstStyle/>
          <a:p>
            <a:endParaRPr lang="en-US" dirty="0"/>
          </a:p>
          <a:p>
            <a:r>
              <a:rPr lang="en-US" dirty="0"/>
              <a:t>To determine scope, you must –</a:t>
            </a:r>
          </a:p>
          <a:p>
            <a:r>
              <a:rPr lang="en-US" dirty="0"/>
              <a:t>Precise customer requirement</a:t>
            </a:r>
          </a:p>
          <a:p>
            <a:r>
              <a:rPr lang="en-US" dirty="0"/>
              <a:t>Project Budget</a:t>
            </a:r>
          </a:p>
          <a:p>
            <a:r>
              <a:rPr lang="en-US" dirty="0"/>
              <a:t>Product Specification</a:t>
            </a:r>
          </a:p>
          <a:p>
            <a:r>
              <a:rPr lang="en-US" dirty="0"/>
              <a:t>Skills &amp; talent of your test team</a:t>
            </a:r>
          </a:p>
        </p:txBody>
      </p:sp>
    </p:spTree>
    <p:extLst>
      <p:ext uri="{BB962C8B-B14F-4D97-AF65-F5344CB8AC3E}">
        <p14:creationId xmlns:p14="http://schemas.microsoft.com/office/powerpoint/2010/main" val="3594317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A1521-2698-4E93-BA2C-791056DF3C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A1CF23-B09B-4C02-9E89-E39956ACCCA3}"/>
              </a:ext>
            </a:extLst>
          </p:cNvPr>
          <p:cNvSpPr>
            <a:spLocks noGrp="1"/>
          </p:cNvSpPr>
          <p:nvPr>
            <p:ph idx="1"/>
          </p:nvPr>
        </p:nvSpPr>
        <p:spPr/>
        <p:txBody>
          <a:bodyPr>
            <a:normAutofit fontScale="92500" lnSpcReduction="10000"/>
          </a:bodyPr>
          <a:lstStyle/>
          <a:p>
            <a:r>
              <a:rPr lang="en-US" b="1" dirty="0"/>
              <a:t>Problem Scenario</a:t>
            </a:r>
            <a:endParaRPr lang="en-US" dirty="0"/>
          </a:p>
          <a:p>
            <a:r>
              <a:rPr lang="en-US" dirty="0"/>
              <a:t>The customer wants you to test his API. But the project budget does not permit to do so. In such a case what will you do?</a:t>
            </a:r>
          </a:p>
          <a:p>
            <a:r>
              <a:rPr lang="en-US" dirty="0"/>
              <a:t>Well, in such case you need to convince the customer that </a:t>
            </a:r>
            <a:r>
              <a:rPr lang="en-US" dirty="0" err="1">
                <a:hlinkClick r:id="rId2"/>
              </a:rPr>
              <a:t>Api</a:t>
            </a:r>
            <a:r>
              <a:rPr lang="en-US" dirty="0">
                <a:hlinkClick r:id="rId2"/>
              </a:rPr>
              <a:t> Testing</a:t>
            </a:r>
            <a:r>
              <a:rPr lang="en-US" dirty="0"/>
              <a:t> is extra work and will consume significant resources. Give him data supporting your facts. Tell him if </a:t>
            </a:r>
            <a:r>
              <a:rPr lang="en-US" dirty="0" err="1"/>
              <a:t>Api</a:t>
            </a:r>
            <a:r>
              <a:rPr lang="en-US" dirty="0"/>
              <a:t> Testing is included in-scope the budget will increase by XYZ amount.</a:t>
            </a:r>
          </a:p>
          <a:p>
            <a:r>
              <a:rPr lang="en-US" dirty="0"/>
              <a:t>The customer agrees and accordingly the new scopes, out of scope items are</a:t>
            </a:r>
          </a:p>
          <a:p>
            <a:r>
              <a:rPr lang="en-US" dirty="0"/>
              <a:t>In-scope items:</a:t>
            </a:r>
            <a:r>
              <a:rPr lang="en-US" dirty="0">
                <a:hlinkClick r:id="rId3"/>
              </a:rPr>
              <a:t> Functional Testing</a:t>
            </a:r>
            <a:r>
              <a:rPr lang="en-US" dirty="0"/>
              <a:t>, </a:t>
            </a:r>
            <a:r>
              <a:rPr lang="en-US" dirty="0" err="1"/>
              <a:t>Api</a:t>
            </a:r>
            <a:r>
              <a:rPr lang="en-US" dirty="0"/>
              <a:t> Testing</a:t>
            </a:r>
          </a:p>
          <a:p>
            <a:r>
              <a:rPr lang="en-US" dirty="0"/>
              <a:t>Out of scope items: </a:t>
            </a:r>
            <a:r>
              <a:rPr lang="en-US" dirty="0">
                <a:hlinkClick r:id="rId4"/>
              </a:rPr>
              <a:t>Database Testing</a:t>
            </a:r>
            <a:r>
              <a:rPr lang="en-US" dirty="0"/>
              <a:t>, hardware &amp; any other external interfaces</a:t>
            </a:r>
          </a:p>
          <a:p>
            <a:endParaRPr lang="en-US" dirty="0"/>
          </a:p>
        </p:txBody>
      </p:sp>
    </p:spTree>
    <p:extLst>
      <p:ext uri="{BB962C8B-B14F-4D97-AF65-F5344CB8AC3E}">
        <p14:creationId xmlns:p14="http://schemas.microsoft.com/office/powerpoint/2010/main" val="3150838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AF4B0-2493-4147-8320-2D3BE6FB99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30B6A0-EE02-4EEC-833F-B5204DDE24F2}"/>
              </a:ext>
            </a:extLst>
          </p:cNvPr>
          <p:cNvSpPr>
            <a:spLocks noGrp="1"/>
          </p:cNvSpPr>
          <p:nvPr>
            <p:ph idx="1"/>
          </p:nvPr>
        </p:nvSpPr>
        <p:spPr/>
        <p:txBody>
          <a:bodyPr/>
          <a:lstStyle/>
          <a:p>
            <a:r>
              <a:rPr lang="en-US" b="1" dirty="0"/>
              <a:t>Step 2.2) Identify Testing Type</a:t>
            </a:r>
          </a:p>
          <a:p>
            <a:r>
              <a:rPr lang="en-US" dirty="0"/>
              <a:t>A </a:t>
            </a:r>
            <a:r>
              <a:rPr lang="en-US" b="1" dirty="0"/>
              <a:t>Testing Type</a:t>
            </a:r>
            <a:r>
              <a:rPr lang="en-US" dirty="0"/>
              <a:t> is a standard test procedure that gives an expected test outcome.</a:t>
            </a:r>
          </a:p>
          <a:p>
            <a:r>
              <a:rPr lang="en-US" dirty="0"/>
              <a:t>Each testing type is formulated to identify a specific type of product bugs. But, all Testing Types are aimed at achieving one common goal “</a:t>
            </a:r>
            <a:r>
              <a:rPr lang="en-US" b="1" dirty="0"/>
              <a:t>Early detection of</a:t>
            </a:r>
            <a:r>
              <a:rPr lang="en-US" dirty="0"/>
              <a:t> all the defects before releasing the product to the customer”</a:t>
            </a:r>
          </a:p>
          <a:p>
            <a:endParaRPr lang="en-US" dirty="0"/>
          </a:p>
        </p:txBody>
      </p:sp>
    </p:spTree>
    <p:extLst>
      <p:ext uri="{BB962C8B-B14F-4D97-AF65-F5344CB8AC3E}">
        <p14:creationId xmlns:p14="http://schemas.microsoft.com/office/powerpoint/2010/main" val="230453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DC47E-1CA9-4B01-B1FA-0BF4E7D02C2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ADF193E-E829-4512-A438-6DB911E58449}"/>
              </a:ext>
            </a:extLst>
          </p:cNvPr>
          <p:cNvSpPr>
            <a:spLocks noGrp="1"/>
          </p:cNvSpPr>
          <p:nvPr>
            <p:ph idx="1"/>
          </p:nvPr>
        </p:nvSpPr>
        <p:spPr/>
        <p:txBody>
          <a:bodyPr/>
          <a:lstStyle/>
          <a:p>
            <a:endParaRPr lang="en-US"/>
          </a:p>
        </p:txBody>
      </p:sp>
      <p:pic>
        <p:nvPicPr>
          <p:cNvPr id="5122" name="Picture 2">
            <a:extLst>
              <a:ext uri="{FF2B5EF4-FFF2-40B4-BE49-F238E27FC236}">
                <a16:creationId xmlns:a16="http://schemas.microsoft.com/office/drawing/2014/main" id="{E77366FB-7FA7-477F-8916-6CB27AC445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656" y="497216"/>
            <a:ext cx="8997901" cy="6086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530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AF2D5-D819-4218-A278-AA56BD1FFCC4}"/>
              </a:ext>
            </a:extLst>
          </p:cNvPr>
          <p:cNvSpPr>
            <a:spLocks noGrp="1"/>
          </p:cNvSpPr>
          <p:nvPr>
            <p:ph type="title"/>
          </p:nvPr>
        </p:nvSpPr>
        <p:spPr/>
        <p:txBody>
          <a:bodyPr/>
          <a:lstStyle/>
          <a:p>
            <a:r>
              <a:rPr lang="en-US" dirty="0"/>
              <a:t>Step 2.3) Document Risk &amp; Issues</a:t>
            </a:r>
            <a:br>
              <a:rPr lang="en-US" dirty="0"/>
            </a:br>
            <a:endParaRPr lang="en-US" dirty="0"/>
          </a:p>
        </p:txBody>
      </p:sp>
      <p:sp>
        <p:nvSpPr>
          <p:cNvPr id="3" name="Content Placeholder 2">
            <a:extLst>
              <a:ext uri="{FF2B5EF4-FFF2-40B4-BE49-F238E27FC236}">
                <a16:creationId xmlns:a16="http://schemas.microsoft.com/office/drawing/2014/main" id="{A8565521-9E1D-46EF-A79D-04D1EEBAEA9B}"/>
              </a:ext>
            </a:extLst>
          </p:cNvPr>
          <p:cNvSpPr>
            <a:spLocks noGrp="1"/>
          </p:cNvSpPr>
          <p:nvPr>
            <p:ph idx="1"/>
          </p:nvPr>
        </p:nvSpPr>
        <p:spPr>
          <a:xfrm>
            <a:off x="915803" y="2350281"/>
            <a:ext cx="8825659" cy="3416300"/>
          </a:xfrm>
        </p:spPr>
        <p:txBody>
          <a:bodyPr/>
          <a:lstStyle/>
          <a:p>
            <a:r>
              <a:rPr lang="en-US" dirty="0"/>
              <a:t>Risk is future’s uncertain event with a probability of occurrence and a potential for loss. When the risk actually happens, it becomes the ‘issue’.</a:t>
            </a:r>
          </a:p>
          <a:p>
            <a:endParaRPr lang="en-US" dirty="0"/>
          </a:p>
        </p:txBody>
      </p:sp>
      <p:graphicFrame>
        <p:nvGraphicFramePr>
          <p:cNvPr id="4" name="Table 3">
            <a:extLst>
              <a:ext uri="{FF2B5EF4-FFF2-40B4-BE49-F238E27FC236}">
                <a16:creationId xmlns:a16="http://schemas.microsoft.com/office/drawing/2014/main" id="{1A46D5B5-6E95-4C23-AA7C-4F4B2AE3917E}"/>
              </a:ext>
            </a:extLst>
          </p:cNvPr>
          <p:cNvGraphicFramePr>
            <a:graphicFrameLocks noGrp="1"/>
          </p:cNvGraphicFramePr>
          <p:nvPr>
            <p:extLst>
              <p:ext uri="{D42A27DB-BD31-4B8C-83A1-F6EECF244321}">
                <p14:modId xmlns:p14="http://schemas.microsoft.com/office/powerpoint/2010/main" val="2637862661"/>
              </p:ext>
            </p:extLst>
          </p:nvPr>
        </p:nvGraphicFramePr>
        <p:xfrm>
          <a:off x="1154953" y="3019930"/>
          <a:ext cx="9578696" cy="3545702"/>
        </p:xfrm>
        <a:graphic>
          <a:graphicData uri="http://schemas.openxmlformats.org/drawingml/2006/table">
            <a:tbl>
              <a:tblPr/>
              <a:tblGrid>
                <a:gridCol w="4789348">
                  <a:extLst>
                    <a:ext uri="{9D8B030D-6E8A-4147-A177-3AD203B41FA5}">
                      <a16:colId xmlns:a16="http://schemas.microsoft.com/office/drawing/2014/main" val="818042312"/>
                    </a:ext>
                  </a:extLst>
                </a:gridCol>
                <a:gridCol w="4789348">
                  <a:extLst>
                    <a:ext uri="{9D8B030D-6E8A-4147-A177-3AD203B41FA5}">
                      <a16:colId xmlns:a16="http://schemas.microsoft.com/office/drawing/2014/main" val="3150482648"/>
                    </a:ext>
                  </a:extLst>
                </a:gridCol>
              </a:tblGrid>
              <a:tr h="266860">
                <a:tc>
                  <a:txBody>
                    <a:bodyPr/>
                    <a:lstStyle/>
                    <a:p>
                      <a:pPr algn="l" fontAlgn="t"/>
                      <a:r>
                        <a:rPr lang="en-US" sz="1600" b="1" dirty="0">
                          <a:effectLst/>
                        </a:rPr>
                        <a:t>Risk</a:t>
                      </a:r>
                    </a:p>
                  </a:txBody>
                  <a:tcPr marL="42491" marR="42491" marT="42491" marB="42491">
                    <a:lnL w="9525" cap="flat" cmpd="sng" algn="ctr">
                      <a:solidFill>
                        <a:srgbClr val="18C6FF"/>
                      </a:solidFill>
                      <a:prstDash val="solid"/>
                      <a:round/>
                      <a:headEnd type="none" w="med" len="med"/>
                      <a:tailEnd type="none" w="med" len="med"/>
                    </a:lnL>
                    <a:lnR w="9525" cap="flat" cmpd="sng" algn="ctr">
                      <a:solidFill>
                        <a:srgbClr val="18C4FF"/>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fontAlgn="t"/>
                      <a:r>
                        <a:rPr lang="en-US" sz="1600" b="1">
                          <a:effectLst/>
                        </a:rPr>
                        <a:t>Mitigation</a:t>
                      </a:r>
                    </a:p>
                  </a:txBody>
                  <a:tcPr marL="42491" marR="42491" marT="42491" marB="42491">
                    <a:lnL w="9525" cap="flat" cmpd="sng" algn="ctr">
                      <a:solidFill>
                        <a:srgbClr val="18C4FF"/>
                      </a:solidFill>
                      <a:prstDash val="solid"/>
                      <a:round/>
                      <a:headEnd type="none" w="med" len="med"/>
                      <a:tailEnd type="none" w="med" len="med"/>
                    </a:lnL>
                    <a:lnR w="12700" cap="flat" cmpd="sng" algn="ctr">
                      <a:solidFill>
                        <a:srgbClr val="C8C1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458514471"/>
                  </a:ext>
                </a:extLst>
              </a:tr>
              <a:tr h="538942">
                <a:tc>
                  <a:txBody>
                    <a:bodyPr/>
                    <a:lstStyle/>
                    <a:p>
                      <a:pPr algn="l" fontAlgn="t"/>
                      <a:r>
                        <a:rPr lang="en-US" sz="1600" dirty="0">
                          <a:effectLst/>
                        </a:rPr>
                        <a:t>Team member lack the required skills for website testing.</a:t>
                      </a:r>
                    </a:p>
                  </a:txBody>
                  <a:tcPr marL="42491" marR="42491" marT="42491" marB="42491">
                    <a:lnL w="12700" cap="flat" cmpd="sng" algn="ctr">
                      <a:solidFill>
                        <a:srgbClr val="88C22C"/>
                      </a:solidFill>
                      <a:prstDash val="solid"/>
                      <a:round/>
                      <a:headEnd type="none" w="med" len="med"/>
                      <a:tailEnd type="none" w="med" len="med"/>
                    </a:lnL>
                    <a:lnR w="12700" cap="flat" cmpd="sng" algn="ctr">
                      <a:solidFill>
                        <a:srgbClr val="F0C3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effectLst/>
                        </a:rPr>
                        <a:t>Plan </a:t>
                      </a:r>
                      <a:r>
                        <a:rPr lang="en-US" sz="1600" b="1">
                          <a:effectLst/>
                        </a:rPr>
                        <a:t>training course</a:t>
                      </a:r>
                      <a:r>
                        <a:rPr lang="en-US" sz="1600">
                          <a:effectLst/>
                        </a:rPr>
                        <a:t> to skill up your members</a:t>
                      </a:r>
                    </a:p>
                  </a:txBody>
                  <a:tcPr marL="42491" marR="42491" marT="42491" marB="42491">
                    <a:lnL w="12700" cap="flat" cmpd="sng" algn="ctr">
                      <a:solidFill>
                        <a:srgbClr val="F0C32C"/>
                      </a:solidFill>
                      <a:prstDash val="solid"/>
                      <a:round/>
                      <a:headEnd type="none" w="med" len="med"/>
                      <a:tailEnd type="none" w="med" len="med"/>
                    </a:lnL>
                    <a:lnR w="12700" cap="flat" cmpd="sng" algn="ctr">
                      <a:solidFill>
                        <a:srgbClr val="E0C4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03364009"/>
                  </a:ext>
                </a:extLst>
              </a:tr>
              <a:tr h="538942">
                <a:tc>
                  <a:txBody>
                    <a:bodyPr/>
                    <a:lstStyle/>
                    <a:p>
                      <a:pPr algn="l" fontAlgn="t"/>
                      <a:r>
                        <a:rPr lang="en-US" sz="1600" dirty="0">
                          <a:effectLst/>
                        </a:rPr>
                        <a:t>The project schedule is too tight; it's hard to complete this project on time</a:t>
                      </a:r>
                    </a:p>
                  </a:txBody>
                  <a:tcPr marL="42491" marR="42491" marT="42491" marB="42491">
                    <a:lnL w="12700" cap="flat" cmpd="sng" algn="ctr">
                      <a:solidFill>
                        <a:srgbClr val="A8C62C"/>
                      </a:solidFill>
                      <a:prstDash val="solid"/>
                      <a:round/>
                      <a:headEnd type="none" w="med" len="med"/>
                      <a:tailEnd type="none" w="med" len="med"/>
                    </a:lnL>
                    <a:lnR w="12700" cap="flat" cmpd="sng" algn="ctr">
                      <a:solidFill>
                        <a:srgbClr val="58C5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a:effectLst/>
                        </a:rPr>
                        <a:t>Set </a:t>
                      </a:r>
                      <a:r>
                        <a:rPr lang="en-US" sz="1600" b="1">
                          <a:effectLst/>
                        </a:rPr>
                        <a:t>Test Priority</a:t>
                      </a:r>
                      <a:r>
                        <a:rPr lang="en-US" sz="1600">
                          <a:effectLst/>
                        </a:rPr>
                        <a:t> for each of the test activity.  </a:t>
                      </a:r>
                    </a:p>
                  </a:txBody>
                  <a:tcPr marL="42491" marR="42491" marT="42491" marB="42491">
                    <a:lnL w="12700" cap="flat" cmpd="sng" algn="ctr">
                      <a:solidFill>
                        <a:srgbClr val="58C52C"/>
                      </a:solidFill>
                      <a:prstDash val="solid"/>
                      <a:round/>
                      <a:headEnd type="none" w="med" len="med"/>
                      <a:tailEnd type="none" w="med" len="med"/>
                    </a:lnL>
                    <a:lnR w="12700" cap="flat" cmpd="sng" algn="ctr">
                      <a:solidFill>
                        <a:srgbClr val="88C2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233192810"/>
                  </a:ext>
                </a:extLst>
              </a:tr>
              <a:tr h="387364">
                <a:tc>
                  <a:txBody>
                    <a:bodyPr/>
                    <a:lstStyle/>
                    <a:p>
                      <a:pPr algn="l" fontAlgn="t"/>
                      <a:r>
                        <a:rPr lang="en-US" sz="1600" dirty="0">
                          <a:effectLst/>
                        </a:rPr>
                        <a:t>Test Manager has poor management skill</a:t>
                      </a:r>
                    </a:p>
                  </a:txBody>
                  <a:tcPr marL="42491" marR="42491" marT="42491" marB="42491">
                    <a:lnL w="12700" cap="flat" cmpd="sng" algn="ctr">
                      <a:solidFill>
                        <a:srgbClr val="18CC2C"/>
                      </a:solidFill>
                      <a:prstDash val="solid"/>
                      <a:round/>
                      <a:headEnd type="none" w="med" len="med"/>
                      <a:tailEnd type="none" w="med" len="med"/>
                    </a:lnL>
                    <a:lnR w="12700" cap="flat" cmpd="sng" algn="ctr">
                      <a:solidFill>
                        <a:srgbClr val="18CC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effectLst/>
                        </a:rPr>
                        <a:t>Plan </a:t>
                      </a:r>
                      <a:r>
                        <a:rPr lang="en-US" sz="1600" b="1">
                          <a:effectLst/>
                        </a:rPr>
                        <a:t>leadership training</a:t>
                      </a:r>
                      <a:r>
                        <a:rPr lang="en-US" sz="1600">
                          <a:effectLst/>
                        </a:rPr>
                        <a:t> for manager</a:t>
                      </a:r>
                    </a:p>
                  </a:txBody>
                  <a:tcPr marL="42491" marR="42491" marT="42491" marB="42491">
                    <a:lnL w="12700" cap="flat" cmpd="sng" algn="ctr">
                      <a:solidFill>
                        <a:srgbClr val="18CC2C"/>
                      </a:solidFill>
                      <a:prstDash val="solid"/>
                      <a:round/>
                      <a:headEnd type="none" w="med" len="med"/>
                      <a:tailEnd type="none" w="med" len="med"/>
                    </a:lnL>
                    <a:lnR w="12700" cap="flat" cmpd="sng" algn="ctr">
                      <a:solidFill>
                        <a:srgbClr val="58C5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86636908"/>
                  </a:ext>
                </a:extLst>
              </a:tr>
              <a:tr h="690519">
                <a:tc>
                  <a:txBody>
                    <a:bodyPr/>
                    <a:lstStyle/>
                    <a:p>
                      <a:pPr algn="l" fontAlgn="t"/>
                      <a:r>
                        <a:rPr lang="en-US" sz="1600" dirty="0">
                          <a:effectLst/>
                        </a:rPr>
                        <a:t>A lack of cooperation negatively affects your employees' productivity</a:t>
                      </a:r>
                    </a:p>
                  </a:txBody>
                  <a:tcPr marL="42491" marR="42491" marT="42491" marB="42491">
                    <a:lnL w="12700" cap="flat" cmpd="sng" algn="ctr">
                      <a:solidFill>
                        <a:srgbClr val="D8CF2C"/>
                      </a:solidFill>
                      <a:prstDash val="solid"/>
                      <a:round/>
                      <a:headEnd type="none" w="med" len="med"/>
                      <a:tailEnd type="none" w="med" len="med"/>
                    </a:lnL>
                    <a:lnR w="12700" cap="flat" cmpd="sng" algn="ctr">
                      <a:solidFill>
                        <a:srgbClr val="50D0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b="1" dirty="0">
                          <a:effectLst/>
                        </a:rPr>
                        <a:t>Encourage </a:t>
                      </a:r>
                      <a:r>
                        <a:rPr lang="en-US" sz="1600" dirty="0">
                          <a:effectLst/>
                        </a:rPr>
                        <a:t>each team member in his task, </a:t>
                      </a:r>
                      <a:r>
                        <a:rPr lang="en-US" sz="1600" b="1" dirty="0">
                          <a:effectLst/>
                        </a:rPr>
                        <a:t>and inspire</a:t>
                      </a:r>
                      <a:r>
                        <a:rPr lang="en-US" sz="1600" dirty="0">
                          <a:effectLst/>
                        </a:rPr>
                        <a:t> them to greater efforts.  </a:t>
                      </a:r>
                    </a:p>
                  </a:txBody>
                  <a:tcPr marL="42491" marR="42491" marT="42491" marB="42491">
                    <a:lnL w="12700" cap="flat" cmpd="sng" algn="ctr">
                      <a:solidFill>
                        <a:srgbClr val="50D02C"/>
                      </a:solidFill>
                      <a:prstDash val="solid"/>
                      <a:round/>
                      <a:headEnd type="none" w="med" len="med"/>
                      <a:tailEnd type="none" w="med" len="med"/>
                    </a:lnL>
                    <a:lnR w="12700" cap="flat" cmpd="sng" algn="ctr">
                      <a:solidFill>
                        <a:srgbClr val="18CC2C"/>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87724552"/>
                  </a:ext>
                </a:extLst>
              </a:tr>
              <a:tr h="993673">
                <a:tc>
                  <a:txBody>
                    <a:bodyPr/>
                    <a:lstStyle/>
                    <a:p>
                      <a:pPr algn="l" fontAlgn="t"/>
                      <a:r>
                        <a:rPr lang="en-US" sz="1600">
                          <a:effectLst/>
                        </a:rPr>
                        <a:t>Wrong budget estimate and cost overruns</a:t>
                      </a:r>
                    </a:p>
                  </a:txBody>
                  <a:tcPr marL="42491" marR="42491" marT="42491" marB="42491">
                    <a:lnL w="12700" cap="flat" cmpd="sng" algn="ctr">
                      <a:solidFill>
                        <a:srgbClr val="E8D42C"/>
                      </a:solidFill>
                      <a:prstDash val="solid"/>
                      <a:round/>
                      <a:headEnd type="none" w="med" len="med"/>
                      <a:tailEnd type="none" w="med" len="med"/>
                    </a:lnL>
                    <a:lnR w="12700" cap="flat" cmpd="sng" algn="ctr">
                      <a:solidFill>
                        <a:srgbClr val="10D72C"/>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A0D42C"/>
                      </a:solidFill>
                      <a:prstDash val="solid"/>
                      <a:round/>
                      <a:headEnd type="none" w="med" len="med"/>
                      <a:tailEnd type="none" w="med" len="med"/>
                    </a:lnB>
                    <a:solidFill>
                      <a:srgbClr val="FFFFFF"/>
                    </a:solidFill>
                  </a:tcPr>
                </a:tc>
                <a:tc>
                  <a:txBody>
                    <a:bodyPr/>
                    <a:lstStyle/>
                    <a:p>
                      <a:pPr algn="l" fontAlgn="t"/>
                      <a:r>
                        <a:rPr lang="en-US" sz="1600" dirty="0">
                          <a:effectLst/>
                        </a:rPr>
                        <a:t>Establish the </a:t>
                      </a:r>
                      <a:r>
                        <a:rPr lang="en-US" sz="1600" b="1" dirty="0">
                          <a:effectLst/>
                        </a:rPr>
                        <a:t>scope</a:t>
                      </a:r>
                      <a:r>
                        <a:rPr lang="en-US" sz="1600" dirty="0">
                          <a:effectLst/>
                        </a:rPr>
                        <a:t> before beginning work, pay a lot of attention to project planning and constantly track and measure the progress</a:t>
                      </a:r>
                    </a:p>
                  </a:txBody>
                  <a:tcPr marL="42491" marR="42491" marT="42491" marB="42491">
                    <a:lnL w="12700" cap="flat" cmpd="sng" algn="ctr">
                      <a:solidFill>
                        <a:srgbClr val="10D72C"/>
                      </a:solidFill>
                      <a:prstDash val="solid"/>
                      <a:round/>
                      <a:headEnd type="none" w="med" len="med"/>
                      <a:tailEnd type="none" w="med" len="med"/>
                    </a:lnL>
                    <a:lnR w="12700" cap="flat" cmpd="sng" algn="ctr">
                      <a:solidFill>
                        <a:srgbClr val="50D02C"/>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F8D62C"/>
                      </a:solidFill>
                      <a:prstDash val="solid"/>
                      <a:round/>
                      <a:headEnd type="none" w="med" len="med"/>
                      <a:tailEnd type="none" w="med" len="med"/>
                    </a:lnB>
                    <a:solidFill>
                      <a:srgbClr val="FFFFFF"/>
                    </a:solidFill>
                  </a:tcPr>
                </a:tc>
                <a:extLst>
                  <a:ext uri="{0D108BD9-81ED-4DB2-BD59-A6C34878D82A}">
                    <a16:rowId xmlns:a16="http://schemas.microsoft.com/office/drawing/2014/main" val="3818405380"/>
                  </a:ext>
                </a:extLst>
              </a:tr>
            </a:tbl>
          </a:graphicData>
        </a:graphic>
      </p:graphicFrame>
    </p:spTree>
    <p:extLst>
      <p:ext uri="{BB962C8B-B14F-4D97-AF65-F5344CB8AC3E}">
        <p14:creationId xmlns:p14="http://schemas.microsoft.com/office/powerpoint/2010/main" val="264220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FC0C7-1245-421C-B92A-3BDC586CE1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0B31D3-387D-4429-BA8D-BB2D90DE46EB}"/>
              </a:ext>
            </a:extLst>
          </p:cNvPr>
          <p:cNvSpPr>
            <a:spLocks noGrp="1"/>
          </p:cNvSpPr>
          <p:nvPr>
            <p:ph idx="1"/>
          </p:nvPr>
        </p:nvSpPr>
        <p:spPr/>
        <p:txBody>
          <a:bodyPr>
            <a:normAutofit lnSpcReduction="10000"/>
          </a:bodyPr>
          <a:lstStyle/>
          <a:p>
            <a:r>
              <a:rPr lang="en-US" b="1" dirty="0"/>
              <a:t>Step 2.4) Create Test Logistics</a:t>
            </a:r>
          </a:p>
          <a:p>
            <a:r>
              <a:rPr lang="en-US" dirty="0"/>
              <a:t> In Test Logistics, the Test Manager should answer the following questions:</a:t>
            </a:r>
          </a:p>
          <a:p>
            <a:r>
              <a:rPr lang="en-US" b="1" dirty="0"/>
              <a:t>Who </a:t>
            </a:r>
            <a:r>
              <a:rPr lang="en-US" dirty="0"/>
              <a:t>will test?</a:t>
            </a:r>
          </a:p>
          <a:p>
            <a:r>
              <a:rPr lang="en-US" b="1" dirty="0"/>
              <a:t>When </a:t>
            </a:r>
            <a:r>
              <a:rPr lang="en-US" dirty="0"/>
              <a:t>will the test occur?</a:t>
            </a:r>
          </a:p>
          <a:p>
            <a:r>
              <a:rPr lang="en-US" b="1" dirty="0"/>
              <a:t>Who will test?</a:t>
            </a:r>
            <a:endParaRPr lang="en-US" dirty="0"/>
          </a:p>
          <a:p>
            <a:r>
              <a:rPr lang="en-US" dirty="0"/>
              <a:t>You may not know exact names of the tester who will test, but the </a:t>
            </a:r>
            <a:r>
              <a:rPr lang="en-US" b="1" dirty="0"/>
              <a:t>type of tester</a:t>
            </a:r>
            <a:r>
              <a:rPr lang="en-US" dirty="0"/>
              <a:t> can be defined.</a:t>
            </a:r>
          </a:p>
          <a:p>
            <a:r>
              <a:rPr lang="en-US" dirty="0"/>
              <a:t>To select the right member for specified task, you have to consider if his skill is qualified for the task or not, also estimate the project budget. Selecting wrong member for the task may cause the project to</a:t>
            </a:r>
            <a:r>
              <a:rPr lang="en-US" b="1" dirty="0"/>
              <a:t> fail</a:t>
            </a:r>
            <a:r>
              <a:rPr lang="en-US" dirty="0"/>
              <a:t> or </a:t>
            </a:r>
            <a:r>
              <a:rPr lang="en-US" b="1" dirty="0"/>
              <a:t>delay</a:t>
            </a:r>
            <a:r>
              <a:rPr lang="en-US" dirty="0"/>
              <a:t>.</a:t>
            </a:r>
          </a:p>
          <a:p>
            <a:endParaRPr lang="en-US" dirty="0"/>
          </a:p>
        </p:txBody>
      </p:sp>
    </p:spTree>
    <p:extLst>
      <p:ext uri="{BB962C8B-B14F-4D97-AF65-F5344CB8AC3E}">
        <p14:creationId xmlns:p14="http://schemas.microsoft.com/office/powerpoint/2010/main" val="2120683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926BD-BA98-4C3B-9EC3-BF5226D41E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DEEE15-4406-4FE9-8941-DC502D532B5F}"/>
              </a:ext>
            </a:extLst>
          </p:cNvPr>
          <p:cNvSpPr>
            <a:spLocks noGrp="1"/>
          </p:cNvSpPr>
          <p:nvPr>
            <p:ph idx="1"/>
          </p:nvPr>
        </p:nvSpPr>
        <p:spPr>
          <a:xfrm>
            <a:off x="759656" y="2546252"/>
            <a:ext cx="9220958" cy="3473548"/>
          </a:xfrm>
        </p:spPr>
        <p:txBody>
          <a:bodyPr>
            <a:normAutofit fontScale="92500" lnSpcReduction="10000"/>
          </a:bodyPr>
          <a:lstStyle/>
          <a:p>
            <a:r>
              <a:rPr lang="en-US" dirty="0"/>
              <a:t>Person having the following skills is most ideal for performing software testing:</a:t>
            </a:r>
          </a:p>
          <a:p>
            <a:r>
              <a:rPr lang="en-US" dirty="0"/>
              <a:t>Ability to </a:t>
            </a:r>
            <a:r>
              <a:rPr lang="en-US" b="1" dirty="0"/>
              <a:t>understand</a:t>
            </a:r>
            <a:r>
              <a:rPr lang="en-US" dirty="0"/>
              <a:t> customers point of view</a:t>
            </a:r>
          </a:p>
          <a:p>
            <a:r>
              <a:rPr lang="en-US" dirty="0"/>
              <a:t>Strong </a:t>
            </a:r>
            <a:r>
              <a:rPr lang="en-US" b="1" dirty="0"/>
              <a:t>desire</a:t>
            </a:r>
            <a:r>
              <a:rPr lang="en-US" dirty="0"/>
              <a:t> for quality</a:t>
            </a:r>
          </a:p>
          <a:p>
            <a:r>
              <a:rPr lang="en-US" b="1" dirty="0"/>
              <a:t>Attention</a:t>
            </a:r>
            <a:r>
              <a:rPr lang="en-US" dirty="0"/>
              <a:t> to detail</a:t>
            </a:r>
          </a:p>
          <a:p>
            <a:r>
              <a:rPr lang="en-US" dirty="0"/>
              <a:t>Good </a:t>
            </a:r>
            <a:r>
              <a:rPr lang="en-US" b="1" dirty="0"/>
              <a:t>cooperation</a:t>
            </a:r>
            <a:endParaRPr lang="en-US" dirty="0"/>
          </a:p>
          <a:p>
            <a:r>
              <a:rPr lang="en-US" dirty="0"/>
              <a:t>In your project, the member who will take in charge for the test execution is the </a:t>
            </a:r>
            <a:r>
              <a:rPr lang="en-US" b="1" dirty="0"/>
              <a:t>tester.</a:t>
            </a:r>
            <a:r>
              <a:rPr lang="en-US" dirty="0"/>
              <a:t> Base on the project budget, you can choose in-source or outsource member as the tester.</a:t>
            </a:r>
          </a:p>
          <a:p>
            <a:r>
              <a:rPr lang="en-US" b="1" dirty="0"/>
              <a:t>When will the test occur?</a:t>
            </a:r>
            <a:endParaRPr lang="en-US" dirty="0"/>
          </a:p>
          <a:p>
            <a:r>
              <a:rPr lang="en-US" dirty="0"/>
              <a:t>Test activities must be matched with associated development activities.</a:t>
            </a:r>
          </a:p>
          <a:p>
            <a:endParaRPr lang="en-US" dirty="0"/>
          </a:p>
        </p:txBody>
      </p:sp>
    </p:spTree>
    <p:extLst>
      <p:ext uri="{BB962C8B-B14F-4D97-AF65-F5344CB8AC3E}">
        <p14:creationId xmlns:p14="http://schemas.microsoft.com/office/powerpoint/2010/main" val="1083641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8AD37-F1FA-4EC8-83A9-C9AD50226727}"/>
              </a:ext>
            </a:extLst>
          </p:cNvPr>
          <p:cNvSpPr>
            <a:spLocks noGrp="1"/>
          </p:cNvSpPr>
          <p:nvPr>
            <p:ph type="title"/>
          </p:nvPr>
        </p:nvSpPr>
        <p:spPr/>
        <p:txBody>
          <a:bodyPr/>
          <a:lstStyle/>
          <a:p>
            <a:endParaRPr lang="en-US"/>
          </a:p>
        </p:txBody>
      </p:sp>
      <p:pic>
        <p:nvPicPr>
          <p:cNvPr id="7170" name="Picture 2">
            <a:extLst>
              <a:ext uri="{FF2B5EF4-FFF2-40B4-BE49-F238E27FC236}">
                <a16:creationId xmlns:a16="http://schemas.microsoft.com/office/drawing/2014/main" id="{8D9177A2-27F9-4202-AD80-D8FEA15FF8B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3905" y="3905795"/>
            <a:ext cx="10522792" cy="197853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D77F3A2-9D28-4EF4-8481-5E1F3583781F}"/>
              </a:ext>
            </a:extLst>
          </p:cNvPr>
          <p:cNvSpPr/>
          <p:nvPr/>
        </p:nvSpPr>
        <p:spPr>
          <a:xfrm>
            <a:off x="844062" y="3045203"/>
            <a:ext cx="8299938" cy="369332"/>
          </a:xfrm>
          <a:prstGeom prst="rect">
            <a:avLst/>
          </a:prstGeom>
        </p:spPr>
        <p:txBody>
          <a:bodyPr wrap="square">
            <a:spAutoFit/>
          </a:bodyPr>
          <a:lstStyle/>
          <a:p>
            <a:r>
              <a:rPr lang="en-US" dirty="0">
                <a:solidFill>
                  <a:srgbClr val="222222"/>
                </a:solidFill>
                <a:latin typeface="Source Sans Pro" panose="020B0503030403020204" pitchFamily="34" charset="0"/>
              </a:rPr>
              <a:t>You will start to test when you have </a:t>
            </a:r>
            <a:r>
              <a:rPr lang="en-US" b="1" dirty="0">
                <a:solidFill>
                  <a:srgbClr val="222222"/>
                </a:solidFill>
                <a:latin typeface="Source Sans Pro" panose="020B0503030403020204" pitchFamily="34" charset="0"/>
              </a:rPr>
              <a:t>all required items</a:t>
            </a:r>
            <a:r>
              <a:rPr lang="en-US" dirty="0">
                <a:solidFill>
                  <a:srgbClr val="222222"/>
                </a:solidFill>
                <a:latin typeface="Source Sans Pro" panose="020B0503030403020204" pitchFamily="34" charset="0"/>
              </a:rPr>
              <a:t> shown in following figure</a:t>
            </a:r>
            <a:endParaRPr lang="en-US" dirty="0"/>
          </a:p>
        </p:txBody>
      </p:sp>
    </p:spTree>
    <p:extLst>
      <p:ext uri="{BB962C8B-B14F-4D97-AF65-F5344CB8AC3E}">
        <p14:creationId xmlns:p14="http://schemas.microsoft.com/office/powerpoint/2010/main" val="2081538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010CA-A88A-4749-804A-81658B83A6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03D32A-5BFB-4E37-B18B-FD9FAE231F69}"/>
              </a:ext>
            </a:extLst>
          </p:cNvPr>
          <p:cNvSpPr>
            <a:spLocks noGrp="1"/>
          </p:cNvSpPr>
          <p:nvPr>
            <p:ph idx="1"/>
          </p:nvPr>
        </p:nvSpPr>
        <p:spPr>
          <a:xfrm>
            <a:off x="928468" y="2518117"/>
            <a:ext cx="9052145" cy="3501683"/>
          </a:xfrm>
        </p:spPr>
        <p:txBody>
          <a:bodyPr>
            <a:normAutofit fontScale="92500" lnSpcReduction="20000"/>
          </a:bodyPr>
          <a:lstStyle/>
          <a:p>
            <a:r>
              <a:rPr lang="en-US" b="1" dirty="0"/>
              <a:t>Step 3) Define Test Objective</a:t>
            </a:r>
          </a:p>
          <a:p>
            <a:r>
              <a:rPr lang="en-US" dirty="0"/>
              <a:t>Test Objective is the overall goal and achievement of the test execution. The objective of the testing is finding as many software defects as possible; ensure that the software under test is </a:t>
            </a:r>
            <a:r>
              <a:rPr lang="en-US" b="1" dirty="0"/>
              <a:t>bug free</a:t>
            </a:r>
            <a:r>
              <a:rPr lang="en-US" dirty="0"/>
              <a:t> before release.</a:t>
            </a:r>
          </a:p>
          <a:p>
            <a:r>
              <a:rPr lang="en-US" dirty="0"/>
              <a:t>To define the test objectives, you should do 2 following steps</a:t>
            </a:r>
          </a:p>
          <a:p>
            <a:r>
              <a:rPr lang="en-US" dirty="0"/>
              <a:t>List all the software features (functionality, performance, GUI…) which may need to test.</a:t>
            </a:r>
          </a:p>
          <a:p>
            <a:r>
              <a:rPr lang="en-US" dirty="0"/>
              <a:t>Define the </a:t>
            </a:r>
            <a:r>
              <a:rPr lang="en-US" b="1" dirty="0"/>
              <a:t>target</a:t>
            </a:r>
            <a:r>
              <a:rPr lang="en-US" dirty="0"/>
              <a:t> or the </a:t>
            </a:r>
            <a:r>
              <a:rPr lang="en-US" b="1" dirty="0"/>
              <a:t>goal</a:t>
            </a:r>
            <a:r>
              <a:rPr lang="en-US" dirty="0"/>
              <a:t> of  the test based on  above features</a:t>
            </a:r>
          </a:p>
          <a:p>
            <a:r>
              <a:rPr lang="en-US" dirty="0"/>
              <a:t>Let’s apply these steps to find the test objective of project</a:t>
            </a:r>
          </a:p>
          <a:p>
            <a:r>
              <a:rPr lang="en-US" dirty="0"/>
              <a:t>You can choose the ‘</a:t>
            </a:r>
            <a:r>
              <a:rPr lang="en-US" b="1" dirty="0"/>
              <a:t>TOP-DOWN’ </a:t>
            </a:r>
            <a:r>
              <a:rPr lang="en-US" dirty="0"/>
              <a:t>method to find the website’s features which may need to test. In this method, you break down the application under test to </a:t>
            </a:r>
            <a:r>
              <a:rPr lang="en-US" b="1" dirty="0"/>
              <a:t>component</a:t>
            </a:r>
            <a:r>
              <a:rPr lang="en-US" dirty="0"/>
              <a:t> and </a:t>
            </a:r>
            <a:r>
              <a:rPr lang="en-US" b="1" dirty="0"/>
              <a:t>sub-component</a:t>
            </a:r>
            <a:r>
              <a:rPr lang="en-US" dirty="0"/>
              <a:t>.</a:t>
            </a:r>
          </a:p>
          <a:p>
            <a:endParaRPr lang="en-US" dirty="0"/>
          </a:p>
        </p:txBody>
      </p:sp>
    </p:spTree>
    <p:extLst>
      <p:ext uri="{BB962C8B-B14F-4D97-AF65-F5344CB8AC3E}">
        <p14:creationId xmlns:p14="http://schemas.microsoft.com/office/powerpoint/2010/main" val="2408415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1156-ECC3-4034-B115-C636CB428D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470D6A-51C0-4432-9701-DCFF7A09CF2A}"/>
              </a:ext>
            </a:extLst>
          </p:cNvPr>
          <p:cNvSpPr>
            <a:spLocks noGrp="1"/>
          </p:cNvSpPr>
          <p:nvPr>
            <p:ph idx="1"/>
          </p:nvPr>
        </p:nvSpPr>
        <p:spPr/>
        <p:txBody>
          <a:bodyPr>
            <a:normAutofit fontScale="92500" lnSpcReduction="20000"/>
          </a:bodyPr>
          <a:lstStyle/>
          <a:p>
            <a:r>
              <a:rPr lang="en-US" dirty="0"/>
              <a:t>Step 4) Define Test Criteria</a:t>
            </a:r>
          </a:p>
          <a:p>
            <a:r>
              <a:rPr lang="en-US" dirty="0"/>
              <a:t>Test Criteria is a standard or rule on which a test procedure or test judgment can be based. There’re 2 types of test criteria as following</a:t>
            </a:r>
          </a:p>
          <a:p>
            <a:endParaRPr lang="en-US" dirty="0"/>
          </a:p>
          <a:p>
            <a:r>
              <a:rPr lang="en-US" dirty="0"/>
              <a:t>Suspension Criteria</a:t>
            </a:r>
          </a:p>
          <a:p>
            <a:r>
              <a:rPr lang="en-US" dirty="0"/>
              <a:t>Specify the critical suspension criteria for a test. If the suspension criteria are met during testing, the active test cycle will be suspended until the criteria are resolved.</a:t>
            </a:r>
          </a:p>
          <a:p>
            <a:endParaRPr lang="en-US" dirty="0"/>
          </a:p>
          <a:p>
            <a:r>
              <a:rPr lang="en-US" dirty="0"/>
              <a:t>Example: If your team members report that there are 40% of test cases failed, you should suspend testing until the development team fixes all the failed cases.</a:t>
            </a:r>
          </a:p>
        </p:txBody>
      </p:sp>
    </p:spTree>
    <p:extLst>
      <p:ext uri="{BB962C8B-B14F-4D97-AF65-F5344CB8AC3E}">
        <p14:creationId xmlns:p14="http://schemas.microsoft.com/office/powerpoint/2010/main" val="3216780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3AEF0-9C59-4390-ABEA-E1732C1D086D}"/>
              </a:ext>
            </a:extLst>
          </p:cNvPr>
          <p:cNvSpPr>
            <a:spLocks noGrp="1"/>
          </p:cNvSpPr>
          <p:nvPr>
            <p:ph type="title"/>
          </p:nvPr>
        </p:nvSpPr>
        <p:spPr/>
        <p:txBody>
          <a:bodyPr/>
          <a:lstStyle/>
          <a:p>
            <a:endParaRPr lang="en-US"/>
          </a:p>
        </p:txBody>
      </p:sp>
      <p:pic>
        <p:nvPicPr>
          <p:cNvPr id="8194" name="Picture 2">
            <a:extLst>
              <a:ext uri="{FF2B5EF4-FFF2-40B4-BE49-F238E27FC236}">
                <a16:creationId xmlns:a16="http://schemas.microsoft.com/office/drawing/2014/main" id="{1A3CEA57-909C-42A9-AFC0-FDC69A57A03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5797" y="734517"/>
            <a:ext cx="6258720" cy="5862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4068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D8E3E-4860-4D0D-B52D-4CA75080FE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A1DCF6-042C-415E-8B5F-BCC6CD3BBF25}"/>
              </a:ext>
            </a:extLst>
          </p:cNvPr>
          <p:cNvSpPr>
            <a:spLocks noGrp="1"/>
          </p:cNvSpPr>
          <p:nvPr>
            <p:ph idx="1"/>
          </p:nvPr>
        </p:nvSpPr>
        <p:spPr>
          <a:xfrm>
            <a:off x="844062" y="2363372"/>
            <a:ext cx="9136551" cy="3656428"/>
          </a:xfrm>
        </p:spPr>
        <p:txBody>
          <a:bodyPr>
            <a:normAutofit fontScale="92500" lnSpcReduction="10000"/>
          </a:bodyPr>
          <a:lstStyle/>
          <a:p>
            <a:r>
              <a:rPr lang="en-US" b="1" dirty="0"/>
              <a:t>Exit Criteria</a:t>
            </a:r>
          </a:p>
          <a:p>
            <a:r>
              <a:rPr lang="en-US" dirty="0"/>
              <a:t>It specifies the criteria that denote a </a:t>
            </a:r>
            <a:r>
              <a:rPr lang="en-US" b="1" dirty="0"/>
              <a:t>successful</a:t>
            </a:r>
            <a:r>
              <a:rPr lang="en-US" dirty="0"/>
              <a:t> completion of a test phase. The exit criteria are the targeted results of the test and are necessary before proceeding to the next phase of development. Example: </a:t>
            </a:r>
            <a:r>
              <a:rPr lang="en-US" b="1" dirty="0"/>
              <a:t>95%</a:t>
            </a:r>
            <a:r>
              <a:rPr lang="en-US" dirty="0"/>
              <a:t> of all critical test cases must pass.</a:t>
            </a:r>
          </a:p>
          <a:p>
            <a:r>
              <a:rPr lang="en-US" dirty="0"/>
              <a:t>Some methods of defining exit criteria are by specifying a targeted </a:t>
            </a:r>
            <a:r>
              <a:rPr lang="en-US" b="1" dirty="0"/>
              <a:t>run rate</a:t>
            </a:r>
            <a:r>
              <a:rPr lang="en-US" dirty="0"/>
              <a:t> and </a:t>
            </a:r>
            <a:r>
              <a:rPr lang="en-US" b="1" dirty="0"/>
              <a:t>pass rate</a:t>
            </a:r>
            <a:r>
              <a:rPr lang="en-US" dirty="0"/>
              <a:t>.</a:t>
            </a:r>
          </a:p>
          <a:p>
            <a:r>
              <a:rPr lang="en-US" dirty="0"/>
              <a:t>Run rate is ratio between </a:t>
            </a:r>
            <a:r>
              <a:rPr lang="en-US" b="1" dirty="0"/>
              <a:t>number test cases executed/total test cases</a:t>
            </a:r>
            <a:r>
              <a:rPr lang="en-US" dirty="0"/>
              <a:t> of test specification. For example, the test specification has total 120 TCs, but the tester only executed 100 TCs, So the run rate is 100/120 = 0.83 (83%)</a:t>
            </a:r>
          </a:p>
          <a:p>
            <a:r>
              <a:rPr lang="en-US" dirty="0"/>
              <a:t>Pass rate is ratio between </a:t>
            </a:r>
            <a:r>
              <a:rPr lang="en-US" b="1" dirty="0"/>
              <a:t>numbers test cases passed / test cases executed</a:t>
            </a:r>
            <a:r>
              <a:rPr lang="en-US" dirty="0"/>
              <a:t>. For example, in above 100 TCs executed, there’re 80 TCs that passed, so the pass rate is 80/100 = 0.8 (80%)</a:t>
            </a:r>
          </a:p>
          <a:p>
            <a:endParaRPr lang="en-US" dirty="0"/>
          </a:p>
        </p:txBody>
      </p:sp>
    </p:spTree>
    <p:extLst>
      <p:ext uri="{BB962C8B-B14F-4D97-AF65-F5344CB8AC3E}">
        <p14:creationId xmlns:p14="http://schemas.microsoft.com/office/powerpoint/2010/main" val="3673382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CFB15-A4AC-49F0-8504-8BE34B9DD2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C749C1-DC05-47E6-8E1D-F2440875375D}"/>
              </a:ext>
            </a:extLst>
          </p:cNvPr>
          <p:cNvSpPr>
            <a:spLocks noGrp="1"/>
          </p:cNvSpPr>
          <p:nvPr>
            <p:ph idx="1"/>
          </p:nvPr>
        </p:nvSpPr>
        <p:spPr/>
        <p:txBody>
          <a:bodyPr/>
          <a:lstStyle/>
          <a:p>
            <a:r>
              <a:rPr lang="en-US" dirty="0"/>
              <a:t>This data can be retrieved in Test Metric documents.</a:t>
            </a:r>
          </a:p>
          <a:p>
            <a:endParaRPr lang="en-US" dirty="0"/>
          </a:p>
          <a:p>
            <a:r>
              <a:rPr lang="en-US" dirty="0"/>
              <a:t>Run rate is mandatory to be 100% unless a clear reason is given.</a:t>
            </a:r>
          </a:p>
          <a:p>
            <a:r>
              <a:rPr lang="en-US" dirty="0"/>
              <a:t>Pass rate is dependent on project scope, but achieving high pass rate is a goal</a:t>
            </a:r>
          </a:p>
        </p:txBody>
      </p:sp>
    </p:spTree>
    <p:extLst>
      <p:ext uri="{BB962C8B-B14F-4D97-AF65-F5344CB8AC3E}">
        <p14:creationId xmlns:p14="http://schemas.microsoft.com/office/powerpoint/2010/main" val="744130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D6374-82B9-456A-90B8-83D7E6A12D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9E9FBA-5352-44E5-B98F-3C97A4B1E096}"/>
              </a:ext>
            </a:extLst>
          </p:cNvPr>
          <p:cNvSpPr>
            <a:spLocks noGrp="1"/>
          </p:cNvSpPr>
          <p:nvPr>
            <p:ph idx="1"/>
          </p:nvPr>
        </p:nvSpPr>
        <p:spPr/>
        <p:txBody>
          <a:bodyPr/>
          <a:lstStyle/>
          <a:p>
            <a:r>
              <a:rPr lang="en-US" dirty="0"/>
              <a:t>Step 5) Resource Planning</a:t>
            </a:r>
          </a:p>
          <a:p>
            <a:r>
              <a:rPr lang="en-US" dirty="0"/>
              <a:t>Resource plan is a detailed summary of all types of resources required to complete project task. Resource could be human, equipment and materials needed to complete a project</a:t>
            </a:r>
          </a:p>
          <a:p>
            <a:endParaRPr lang="en-US" dirty="0"/>
          </a:p>
          <a:p>
            <a:r>
              <a:rPr lang="en-US" dirty="0"/>
              <a:t>The resource planning is important factor of the test planning because helps in determining the number of resources (employee, equipment…) to be used for the project. Therefore, the Test Manager can make the correct schedule &amp; estimation for the project.</a:t>
            </a:r>
          </a:p>
        </p:txBody>
      </p:sp>
    </p:spTree>
    <p:extLst>
      <p:ext uri="{BB962C8B-B14F-4D97-AF65-F5344CB8AC3E}">
        <p14:creationId xmlns:p14="http://schemas.microsoft.com/office/powerpoint/2010/main" val="3857349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DD393-70E8-4FF2-B255-67EA63F94C13}"/>
              </a:ext>
            </a:extLst>
          </p:cNvPr>
          <p:cNvSpPr>
            <a:spLocks noGrp="1"/>
          </p:cNvSpPr>
          <p:nvPr>
            <p:ph type="title"/>
          </p:nvPr>
        </p:nvSpPr>
        <p:spPr/>
        <p:txBody>
          <a:bodyPr/>
          <a:lstStyle/>
          <a:p>
            <a:endParaRPr lang="en-US"/>
          </a:p>
        </p:txBody>
      </p:sp>
      <p:graphicFrame>
        <p:nvGraphicFramePr>
          <p:cNvPr id="6" name="Content Placeholder 5">
            <a:extLst>
              <a:ext uri="{FF2B5EF4-FFF2-40B4-BE49-F238E27FC236}">
                <a16:creationId xmlns:a16="http://schemas.microsoft.com/office/drawing/2014/main" id="{A23C7DE5-EF65-4A2A-8E59-8B982EED5D3A}"/>
              </a:ext>
            </a:extLst>
          </p:cNvPr>
          <p:cNvGraphicFramePr>
            <a:graphicFrameLocks noGrp="1"/>
          </p:cNvGraphicFramePr>
          <p:nvPr>
            <p:ph idx="1"/>
            <p:extLst>
              <p:ext uri="{D42A27DB-BD31-4B8C-83A1-F6EECF244321}">
                <p14:modId xmlns:p14="http://schemas.microsoft.com/office/powerpoint/2010/main" val="2384904622"/>
              </p:ext>
            </p:extLst>
          </p:nvPr>
        </p:nvGraphicFramePr>
        <p:xfrm>
          <a:off x="473613" y="973668"/>
          <a:ext cx="11718387" cy="4269957"/>
        </p:xfrm>
        <a:graphic>
          <a:graphicData uri="http://schemas.openxmlformats.org/drawingml/2006/table">
            <a:tbl>
              <a:tblPr/>
              <a:tblGrid>
                <a:gridCol w="768072">
                  <a:extLst>
                    <a:ext uri="{9D8B030D-6E8A-4147-A177-3AD203B41FA5}">
                      <a16:colId xmlns:a16="http://schemas.microsoft.com/office/drawing/2014/main" val="648912443"/>
                    </a:ext>
                  </a:extLst>
                </a:gridCol>
                <a:gridCol w="5829676">
                  <a:extLst>
                    <a:ext uri="{9D8B030D-6E8A-4147-A177-3AD203B41FA5}">
                      <a16:colId xmlns:a16="http://schemas.microsoft.com/office/drawing/2014/main" val="1083349095"/>
                    </a:ext>
                  </a:extLst>
                </a:gridCol>
                <a:gridCol w="5120639">
                  <a:extLst>
                    <a:ext uri="{9D8B030D-6E8A-4147-A177-3AD203B41FA5}">
                      <a16:colId xmlns:a16="http://schemas.microsoft.com/office/drawing/2014/main" val="2205420810"/>
                    </a:ext>
                  </a:extLst>
                </a:gridCol>
              </a:tblGrid>
              <a:tr h="91101">
                <a:tc>
                  <a:txBody>
                    <a:bodyPr/>
                    <a:lstStyle/>
                    <a:p>
                      <a:pPr algn="l" fontAlgn="t"/>
                      <a:r>
                        <a:rPr lang="en-US" sz="1400" b="1">
                          <a:effectLst/>
                        </a:rPr>
                        <a:t>No.</a:t>
                      </a:r>
                    </a:p>
                  </a:txBody>
                  <a:tcPr marL="16268" marR="16268" marT="16268" marB="16268">
                    <a:lnL w="9525" cap="flat" cmpd="sng" algn="ctr">
                      <a:solidFill>
                        <a:srgbClr val="80264E"/>
                      </a:solidFill>
                      <a:prstDash val="solid"/>
                      <a:round/>
                      <a:headEnd type="none" w="med" len="med"/>
                      <a:tailEnd type="none" w="med" len="med"/>
                    </a:lnL>
                    <a:lnR w="9525" cap="flat" cmpd="sng" algn="ctr">
                      <a:solidFill>
                        <a:srgbClr val="80264E"/>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fontAlgn="t"/>
                      <a:r>
                        <a:rPr lang="en-US" sz="1400" b="1">
                          <a:effectLst/>
                        </a:rPr>
                        <a:t>Member</a:t>
                      </a:r>
                    </a:p>
                  </a:txBody>
                  <a:tcPr marL="16268" marR="16268" marT="16268" marB="16268">
                    <a:lnL w="9525" cap="flat" cmpd="sng" algn="ctr">
                      <a:solidFill>
                        <a:srgbClr val="80264E"/>
                      </a:solidFill>
                      <a:prstDash val="solid"/>
                      <a:round/>
                      <a:headEnd type="none" w="med" len="med"/>
                      <a:tailEnd type="none" w="med" len="med"/>
                    </a:lnL>
                    <a:lnR w="9525" cap="flat" cmpd="sng" algn="ctr">
                      <a:solidFill>
                        <a:srgbClr val="40284E"/>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fontAlgn="t"/>
                      <a:r>
                        <a:rPr lang="en-US" sz="1400" b="1">
                          <a:effectLst/>
                        </a:rPr>
                        <a:t>Tasks</a:t>
                      </a:r>
                    </a:p>
                  </a:txBody>
                  <a:tcPr marL="16268" marR="16268" marT="16268" marB="16268">
                    <a:lnL w="9525" cap="flat" cmpd="sng" algn="ctr">
                      <a:solidFill>
                        <a:srgbClr val="40284E"/>
                      </a:solidFill>
                      <a:prstDash val="solid"/>
                      <a:round/>
                      <a:headEnd type="none" w="med" len="med"/>
                      <a:tailEnd type="none" w="med" len="med"/>
                    </a:lnL>
                    <a:lnR w="12700" cap="flat" cmpd="sng" algn="ctr">
                      <a:solidFill>
                        <a:srgbClr val="70A1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615281957"/>
                  </a:ext>
                </a:extLst>
              </a:tr>
              <a:tr h="442492">
                <a:tc>
                  <a:txBody>
                    <a:bodyPr/>
                    <a:lstStyle/>
                    <a:p>
                      <a:pPr algn="l" fontAlgn="t"/>
                      <a:r>
                        <a:rPr lang="en-US" sz="1400" b="1">
                          <a:effectLst/>
                        </a:rPr>
                        <a:t>1.     </a:t>
                      </a:r>
                      <a:endParaRPr lang="en-US" sz="1400">
                        <a:effectLst/>
                      </a:endParaRPr>
                    </a:p>
                  </a:txBody>
                  <a:tcPr marL="16268" marR="16268" marT="16268" marB="16268">
                    <a:lnL w="12700" cap="flat" cmpd="sng" algn="ctr">
                      <a:solidFill>
                        <a:srgbClr val="88A466"/>
                      </a:solidFill>
                      <a:prstDash val="solid"/>
                      <a:round/>
                      <a:headEnd type="none" w="med" len="med"/>
                      <a:tailEnd type="none" w="med" len="med"/>
                    </a:lnL>
                    <a:lnR w="12700" cap="flat" cmpd="sng" algn="ctr">
                      <a:solidFill>
                        <a:srgbClr val="E0A6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a:effectLst/>
                        </a:rPr>
                        <a:t>Test Manager</a:t>
                      </a:r>
                    </a:p>
                  </a:txBody>
                  <a:tcPr marL="16268" marR="16268" marT="16268" marB="16268">
                    <a:lnL w="12700" cap="flat" cmpd="sng" algn="ctr">
                      <a:solidFill>
                        <a:srgbClr val="E0A666"/>
                      </a:solidFill>
                      <a:prstDash val="solid"/>
                      <a:round/>
                      <a:headEnd type="none" w="med" len="med"/>
                      <a:tailEnd type="none" w="med" len="med"/>
                    </a:lnL>
                    <a:lnR w="12700" cap="flat" cmpd="sng" algn="ctr">
                      <a:solidFill>
                        <a:srgbClr val="E0A6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a:effectLst/>
                        </a:rPr>
                        <a:t>Manage</a:t>
                      </a:r>
                      <a:r>
                        <a:rPr lang="en-US" sz="1400">
                          <a:effectLst/>
                        </a:rPr>
                        <a:t> the whole project</a:t>
                      </a:r>
                    </a:p>
                    <a:p>
                      <a:pPr algn="l" fontAlgn="t"/>
                      <a:r>
                        <a:rPr lang="en-US" sz="1400">
                          <a:effectLst/>
                        </a:rPr>
                        <a:t>Define project </a:t>
                      </a:r>
                      <a:r>
                        <a:rPr lang="en-US" sz="1400" b="1">
                          <a:effectLst/>
                        </a:rPr>
                        <a:t>directions</a:t>
                      </a:r>
                      <a:endParaRPr lang="en-US" sz="1400">
                        <a:effectLst/>
                      </a:endParaRPr>
                    </a:p>
                    <a:p>
                      <a:pPr algn="l" fontAlgn="t"/>
                      <a:r>
                        <a:rPr lang="en-US" sz="1400">
                          <a:effectLst/>
                        </a:rPr>
                        <a:t>Acquire appropriate resources</a:t>
                      </a:r>
                    </a:p>
                  </a:txBody>
                  <a:tcPr marL="16268" marR="16268" marT="16268" marB="16268">
                    <a:lnL w="12700" cap="flat" cmpd="sng" algn="ctr">
                      <a:solidFill>
                        <a:srgbClr val="E0A666"/>
                      </a:solidFill>
                      <a:prstDash val="solid"/>
                      <a:round/>
                      <a:headEnd type="none" w="med" len="med"/>
                      <a:tailEnd type="none" w="med" len="med"/>
                    </a:lnL>
                    <a:lnR w="12700" cap="flat" cmpd="sng" algn="ctr">
                      <a:solidFill>
                        <a:srgbClr val="88A4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35206739"/>
                  </a:ext>
                </a:extLst>
              </a:tr>
              <a:tr h="1496665">
                <a:tc>
                  <a:txBody>
                    <a:bodyPr/>
                    <a:lstStyle/>
                    <a:p>
                      <a:pPr algn="l" fontAlgn="t"/>
                      <a:r>
                        <a:rPr lang="en-US" sz="1400" b="1">
                          <a:effectLst/>
                        </a:rPr>
                        <a:t>2.     </a:t>
                      </a:r>
                      <a:endParaRPr lang="en-US" sz="1400">
                        <a:effectLst/>
                      </a:endParaRPr>
                    </a:p>
                  </a:txBody>
                  <a:tcPr marL="16268" marR="16268" marT="16268" marB="16268">
                    <a:lnL w="12700" cap="flat" cmpd="sng" algn="ctr">
                      <a:solidFill>
                        <a:srgbClr val="10AD66"/>
                      </a:solidFill>
                      <a:prstDash val="solid"/>
                      <a:round/>
                      <a:headEnd type="none" w="med" len="med"/>
                      <a:tailEnd type="none" w="med" len="med"/>
                    </a:lnL>
                    <a:lnR w="12700" cap="flat" cmpd="sng" algn="ctr">
                      <a:solidFill>
                        <a:srgbClr val="B0AF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400" dirty="0">
                          <a:effectLst/>
                        </a:rPr>
                        <a:t>Tester</a:t>
                      </a:r>
                    </a:p>
                  </a:txBody>
                  <a:tcPr marL="16268" marR="16268" marT="16268" marB="16268">
                    <a:lnL w="12700" cap="flat" cmpd="sng" algn="ctr">
                      <a:solidFill>
                        <a:srgbClr val="B0AF66"/>
                      </a:solidFill>
                      <a:prstDash val="solid"/>
                      <a:round/>
                      <a:headEnd type="none" w="med" len="med"/>
                      <a:tailEnd type="none" w="med" len="med"/>
                    </a:lnL>
                    <a:lnR w="12700" cap="flat" cmpd="sng" algn="ctr">
                      <a:solidFill>
                        <a:srgbClr val="90B1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400">
                          <a:effectLst/>
                        </a:rPr>
                        <a:t>Identifying and describing appropriate test techniques/tools/automation architecture</a:t>
                      </a:r>
                    </a:p>
                    <a:p>
                      <a:pPr algn="l" fontAlgn="t"/>
                      <a:r>
                        <a:rPr lang="en-US" sz="1400">
                          <a:effectLst/>
                        </a:rPr>
                        <a:t>Verify and assess the Test Approach</a:t>
                      </a:r>
                    </a:p>
                    <a:p>
                      <a:pPr algn="l" fontAlgn="t"/>
                      <a:r>
                        <a:rPr lang="en-US" sz="1400" b="1">
                          <a:effectLst/>
                        </a:rPr>
                        <a:t>Execute</a:t>
                      </a:r>
                      <a:r>
                        <a:rPr lang="en-US" sz="1400">
                          <a:effectLst/>
                        </a:rPr>
                        <a:t> the tests, </a:t>
                      </a:r>
                      <a:r>
                        <a:rPr lang="en-US" sz="1400" b="1">
                          <a:effectLst/>
                        </a:rPr>
                        <a:t>Log</a:t>
                      </a:r>
                      <a:r>
                        <a:rPr lang="en-US" sz="1400">
                          <a:effectLst/>
                        </a:rPr>
                        <a:t> results, </a:t>
                      </a:r>
                      <a:r>
                        <a:rPr lang="en-US" sz="1400" b="1">
                          <a:effectLst/>
                        </a:rPr>
                        <a:t>Report</a:t>
                      </a:r>
                      <a:r>
                        <a:rPr lang="en-US" sz="1400">
                          <a:effectLst/>
                        </a:rPr>
                        <a:t> the defects.</a:t>
                      </a:r>
                    </a:p>
                    <a:p>
                      <a:pPr algn="l" fontAlgn="t"/>
                      <a:r>
                        <a:rPr lang="en-US" sz="1400">
                          <a:effectLst/>
                        </a:rPr>
                        <a:t>Tester could be in-sourced or out-sourced members, base on the project budget</a:t>
                      </a:r>
                    </a:p>
                    <a:p>
                      <a:pPr algn="l" fontAlgn="t"/>
                      <a:r>
                        <a:rPr lang="en-US" sz="1400">
                          <a:effectLst/>
                        </a:rPr>
                        <a:t>For the task which required </a:t>
                      </a:r>
                      <a:r>
                        <a:rPr lang="en-US" sz="1400" b="1">
                          <a:effectLst/>
                        </a:rPr>
                        <a:t>low</a:t>
                      </a:r>
                      <a:r>
                        <a:rPr lang="en-US" sz="1400">
                          <a:effectLst/>
                        </a:rPr>
                        <a:t> skill, I recommend you choose </a:t>
                      </a:r>
                      <a:r>
                        <a:rPr lang="en-US" sz="1400" b="1">
                          <a:effectLst/>
                        </a:rPr>
                        <a:t>outsourced</a:t>
                      </a:r>
                      <a:r>
                        <a:rPr lang="en-US" sz="1400">
                          <a:effectLst/>
                        </a:rPr>
                        <a:t> members to </a:t>
                      </a:r>
                      <a:r>
                        <a:rPr lang="en-US" sz="1400" b="1">
                          <a:effectLst/>
                        </a:rPr>
                        <a:t>save</a:t>
                      </a:r>
                      <a:r>
                        <a:rPr lang="en-US" sz="1400">
                          <a:effectLst/>
                        </a:rPr>
                        <a:t> project cost.</a:t>
                      </a:r>
                    </a:p>
                  </a:txBody>
                  <a:tcPr marL="16268" marR="16268" marT="16268" marB="16268">
                    <a:lnL w="12700" cap="flat" cmpd="sng" algn="ctr">
                      <a:solidFill>
                        <a:srgbClr val="90B166"/>
                      </a:solidFill>
                      <a:prstDash val="solid"/>
                      <a:round/>
                      <a:headEnd type="none" w="med" len="med"/>
                      <a:tailEnd type="none" w="med" len="med"/>
                    </a:lnL>
                    <a:lnR w="12700" cap="flat" cmpd="sng" algn="ctr">
                      <a:solidFill>
                        <a:srgbClr val="10AD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82880458"/>
                  </a:ext>
                </a:extLst>
              </a:tr>
              <a:tr h="266797">
                <a:tc>
                  <a:txBody>
                    <a:bodyPr/>
                    <a:lstStyle/>
                    <a:p>
                      <a:pPr algn="l" fontAlgn="t"/>
                      <a:r>
                        <a:rPr lang="en-US" sz="1400" b="1">
                          <a:effectLst/>
                        </a:rPr>
                        <a:t>3.     </a:t>
                      </a:r>
                      <a:endParaRPr lang="en-US" sz="1400">
                        <a:effectLst/>
                      </a:endParaRPr>
                    </a:p>
                  </a:txBody>
                  <a:tcPr marL="16268" marR="16268" marT="16268" marB="16268">
                    <a:lnL w="12700" cap="flat" cmpd="sng" algn="ctr">
                      <a:solidFill>
                        <a:srgbClr val="B0B866"/>
                      </a:solidFill>
                      <a:prstDash val="solid"/>
                      <a:round/>
                      <a:headEnd type="none" w="med" len="med"/>
                      <a:tailEnd type="none" w="med" len="med"/>
                    </a:lnL>
                    <a:lnR w="12700" cap="flat" cmpd="sng" algn="ctr">
                      <a:solidFill>
                        <a:srgbClr val="60BA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a:effectLst/>
                        </a:rPr>
                        <a:t>Developer in Test</a:t>
                      </a:r>
                    </a:p>
                  </a:txBody>
                  <a:tcPr marL="16268" marR="16268" marT="16268" marB="16268">
                    <a:lnL w="12700" cap="flat" cmpd="sng" algn="ctr">
                      <a:solidFill>
                        <a:srgbClr val="60BA66"/>
                      </a:solidFill>
                      <a:prstDash val="solid"/>
                      <a:round/>
                      <a:headEnd type="none" w="med" len="med"/>
                      <a:tailEnd type="none" w="med" len="med"/>
                    </a:lnL>
                    <a:lnR w="12700" cap="flat" cmpd="sng" algn="ctr">
                      <a:solidFill>
                        <a:srgbClr val="88B9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a:effectLst/>
                        </a:rPr>
                        <a:t>Implement </a:t>
                      </a:r>
                      <a:r>
                        <a:rPr lang="en-US" sz="1400">
                          <a:effectLst/>
                        </a:rPr>
                        <a:t>the test cases, test program, test suite etc.</a:t>
                      </a:r>
                    </a:p>
                  </a:txBody>
                  <a:tcPr marL="16268" marR="16268" marT="16268" marB="16268">
                    <a:lnL w="12700" cap="flat" cmpd="sng" algn="ctr">
                      <a:solidFill>
                        <a:srgbClr val="88B966"/>
                      </a:solidFill>
                      <a:prstDash val="solid"/>
                      <a:round/>
                      <a:headEnd type="none" w="med" len="med"/>
                      <a:tailEnd type="none" w="med" len="med"/>
                    </a:lnL>
                    <a:lnR w="12700" cap="flat" cmpd="sng" algn="ctr">
                      <a:solidFill>
                        <a:srgbClr val="E0B86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88113040"/>
                  </a:ext>
                </a:extLst>
              </a:tr>
              <a:tr h="618188">
                <a:tc>
                  <a:txBody>
                    <a:bodyPr/>
                    <a:lstStyle/>
                    <a:p>
                      <a:pPr algn="l" fontAlgn="t"/>
                      <a:r>
                        <a:rPr lang="en-US" sz="1400" b="1">
                          <a:effectLst/>
                        </a:rPr>
                        <a:t>4.     </a:t>
                      </a:r>
                      <a:endParaRPr lang="en-US" sz="1400">
                        <a:effectLst/>
                      </a:endParaRPr>
                    </a:p>
                  </a:txBody>
                  <a:tcPr marL="16268" marR="16268" marT="16268" marB="16268">
                    <a:lnL w="12700" cap="flat" cmpd="sng" algn="ctr">
                      <a:solidFill>
                        <a:srgbClr val="C01387"/>
                      </a:solidFill>
                      <a:prstDash val="solid"/>
                      <a:round/>
                      <a:headEnd type="none" w="med" len="med"/>
                      <a:tailEnd type="none" w="med" len="med"/>
                    </a:lnL>
                    <a:lnR w="12700" cap="flat" cmpd="sng" algn="ctr">
                      <a:solidFill>
                        <a:srgbClr val="C01C87"/>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400">
                          <a:effectLst/>
                        </a:rPr>
                        <a:t>Test Administrator</a:t>
                      </a:r>
                    </a:p>
                  </a:txBody>
                  <a:tcPr marL="16268" marR="16268" marT="16268" marB="16268">
                    <a:lnL w="12700" cap="flat" cmpd="sng" algn="ctr">
                      <a:solidFill>
                        <a:srgbClr val="C01C87"/>
                      </a:solidFill>
                      <a:prstDash val="solid"/>
                      <a:round/>
                      <a:headEnd type="none" w="med" len="med"/>
                      <a:tailEnd type="none" w="med" len="med"/>
                    </a:lnL>
                    <a:lnR w="12700" cap="flat" cmpd="sng" algn="ctr">
                      <a:solidFill>
                        <a:srgbClr val="C01C87"/>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400">
                          <a:effectLst/>
                        </a:rPr>
                        <a:t>Builds up and ensures</a:t>
                      </a:r>
                      <a:r>
                        <a:rPr lang="en-US" sz="1400" u="none" strike="noStrike">
                          <a:solidFill>
                            <a:srgbClr val="04B8E6"/>
                          </a:solidFill>
                          <a:effectLst/>
                          <a:hlinkClick r:id="rId2"/>
                        </a:rPr>
                        <a:t> Test Environment </a:t>
                      </a:r>
                      <a:r>
                        <a:rPr lang="en-US" sz="1400">
                          <a:effectLst/>
                        </a:rPr>
                        <a:t>and assets are </a:t>
                      </a:r>
                      <a:r>
                        <a:rPr lang="en-US" sz="1400" b="1">
                          <a:effectLst/>
                        </a:rPr>
                        <a:t>managed</a:t>
                      </a:r>
                      <a:r>
                        <a:rPr lang="en-US" sz="1400">
                          <a:effectLst/>
                        </a:rPr>
                        <a:t> and </a:t>
                      </a:r>
                      <a:r>
                        <a:rPr lang="en-US" sz="1400" b="1">
                          <a:effectLst/>
                        </a:rPr>
                        <a:t>maintained</a:t>
                      </a:r>
                      <a:endParaRPr lang="en-US" sz="1400">
                        <a:effectLst/>
                      </a:endParaRPr>
                    </a:p>
                    <a:p>
                      <a:pPr algn="l" fontAlgn="t"/>
                      <a:r>
                        <a:rPr lang="en-US" sz="1400" b="1">
                          <a:effectLst/>
                        </a:rPr>
                        <a:t>Support</a:t>
                      </a:r>
                      <a:r>
                        <a:rPr lang="en-US" sz="1400">
                          <a:effectLst/>
                        </a:rPr>
                        <a:t>Tester to use the test environment for test execution</a:t>
                      </a:r>
                    </a:p>
                  </a:txBody>
                  <a:tcPr marL="16268" marR="16268" marT="16268" marB="16268">
                    <a:lnL w="12700" cap="flat" cmpd="sng" algn="ctr">
                      <a:solidFill>
                        <a:srgbClr val="C01C87"/>
                      </a:solidFill>
                      <a:prstDash val="solid"/>
                      <a:round/>
                      <a:headEnd type="none" w="med" len="med"/>
                      <a:tailEnd type="none" w="med" len="med"/>
                    </a:lnL>
                    <a:lnR w="12700" cap="flat" cmpd="sng" algn="ctr">
                      <a:solidFill>
                        <a:srgbClr val="C01387"/>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35649440"/>
                  </a:ext>
                </a:extLst>
              </a:tr>
              <a:tr h="501057">
                <a:tc>
                  <a:txBody>
                    <a:bodyPr/>
                    <a:lstStyle/>
                    <a:p>
                      <a:pPr algn="l" fontAlgn="t"/>
                      <a:r>
                        <a:rPr lang="en-US" sz="1400" b="1">
                          <a:effectLst/>
                        </a:rPr>
                        <a:t>5.     </a:t>
                      </a:r>
                      <a:endParaRPr lang="en-US" sz="1400">
                        <a:effectLst/>
                      </a:endParaRPr>
                    </a:p>
                  </a:txBody>
                  <a:tcPr marL="16268" marR="16268" marT="16268" marB="16268">
                    <a:lnL w="12700" cap="flat" cmpd="sng" algn="ctr">
                      <a:solidFill>
                        <a:srgbClr val="309E86"/>
                      </a:solidFill>
                      <a:prstDash val="solid"/>
                      <a:round/>
                      <a:headEnd type="none" w="med" len="med"/>
                      <a:tailEnd type="none" w="med" len="med"/>
                    </a:lnL>
                    <a:lnR w="12700" cap="flat" cmpd="sng" algn="ctr">
                      <a:solidFill>
                        <a:srgbClr val="48A186"/>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089F86"/>
                      </a:solidFill>
                      <a:prstDash val="solid"/>
                      <a:round/>
                      <a:headEnd type="none" w="med" len="med"/>
                      <a:tailEnd type="none" w="med" len="med"/>
                    </a:lnB>
                    <a:solidFill>
                      <a:srgbClr val="FFFFFF"/>
                    </a:solidFill>
                  </a:tcPr>
                </a:tc>
                <a:tc>
                  <a:txBody>
                    <a:bodyPr/>
                    <a:lstStyle/>
                    <a:p>
                      <a:pPr algn="l" fontAlgn="t"/>
                      <a:r>
                        <a:rPr lang="en-US" sz="1400">
                          <a:effectLst/>
                        </a:rPr>
                        <a:t>SQA members</a:t>
                      </a:r>
                    </a:p>
                  </a:txBody>
                  <a:tcPr marL="16268" marR="16268" marT="16268" marB="16268">
                    <a:lnL w="12700" cap="flat" cmpd="sng" algn="ctr">
                      <a:solidFill>
                        <a:srgbClr val="48A186"/>
                      </a:solidFill>
                      <a:prstDash val="solid"/>
                      <a:round/>
                      <a:headEnd type="none" w="med" len="med"/>
                      <a:tailEnd type="none" w="med" len="med"/>
                    </a:lnL>
                    <a:lnR w="12700" cap="flat" cmpd="sng" algn="ctr">
                      <a:solidFill>
                        <a:srgbClr val="48A186"/>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30A186"/>
                      </a:solidFill>
                      <a:prstDash val="solid"/>
                      <a:round/>
                      <a:headEnd type="none" w="med" len="med"/>
                      <a:tailEnd type="none" w="med" len="med"/>
                    </a:lnB>
                    <a:solidFill>
                      <a:srgbClr val="FFFFFF"/>
                    </a:solidFill>
                  </a:tcPr>
                </a:tc>
                <a:tc>
                  <a:txBody>
                    <a:bodyPr/>
                    <a:lstStyle/>
                    <a:p>
                      <a:pPr algn="l" fontAlgn="t"/>
                      <a:r>
                        <a:rPr lang="en-US" sz="1400" dirty="0">
                          <a:effectLst/>
                        </a:rPr>
                        <a:t>Take in charge of quality assurance</a:t>
                      </a:r>
                    </a:p>
                    <a:p>
                      <a:pPr algn="l" fontAlgn="t"/>
                      <a:r>
                        <a:rPr lang="en-US" sz="1400" dirty="0">
                          <a:effectLst/>
                        </a:rPr>
                        <a:t>Check  to confirm whether the testing process is meeting specified requirements</a:t>
                      </a:r>
                    </a:p>
                  </a:txBody>
                  <a:tcPr marL="16268" marR="16268" marT="16268" marB="16268">
                    <a:lnL w="12700" cap="flat" cmpd="sng" algn="ctr">
                      <a:solidFill>
                        <a:srgbClr val="48A186"/>
                      </a:solidFill>
                      <a:prstDash val="solid"/>
                      <a:round/>
                      <a:headEnd type="none" w="med" len="med"/>
                      <a:tailEnd type="none" w="med" len="med"/>
                    </a:lnL>
                    <a:lnR w="12700" cap="flat" cmpd="sng" algn="ctr">
                      <a:solidFill>
                        <a:srgbClr val="089F86"/>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30A186"/>
                      </a:solidFill>
                      <a:prstDash val="solid"/>
                      <a:round/>
                      <a:headEnd type="none" w="med" len="med"/>
                      <a:tailEnd type="none" w="med" len="med"/>
                    </a:lnB>
                    <a:solidFill>
                      <a:srgbClr val="FFFFFF"/>
                    </a:solidFill>
                  </a:tcPr>
                </a:tc>
                <a:extLst>
                  <a:ext uri="{0D108BD9-81ED-4DB2-BD59-A6C34878D82A}">
                    <a16:rowId xmlns:a16="http://schemas.microsoft.com/office/drawing/2014/main" val="1075243949"/>
                  </a:ext>
                </a:extLst>
              </a:tr>
            </a:tbl>
          </a:graphicData>
        </a:graphic>
      </p:graphicFrame>
    </p:spTree>
    <p:extLst>
      <p:ext uri="{BB962C8B-B14F-4D97-AF65-F5344CB8AC3E}">
        <p14:creationId xmlns:p14="http://schemas.microsoft.com/office/powerpoint/2010/main" val="3776587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BC840-0543-46C2-AF17-AFA6430BEC4F}"/>
              </a:ext>
            </a:extLst>
          </p:cNvPr>
          <p:cNvSpPr>
            <a:spLocks noGrp="1"/>
          </p:cNvSpPr>
          <p:nvPr>
            <p:ph type="title"/>
          </p:nvPr>
        </p:nvSpPr>
        <p:spPr>
          <a:xfrm>
            <a:off x="893322" y="1111348"/>
            <a:ext cx="9536539" cy="709961"/>
          </a:xfrm>
        </p:spPr>
        <p:txBody>
          <a:bodyPr/>
          <a:lstStyle/>
          <a:p>
            <a:r>
              <a:rPr lang="en-US" b="1" dirty="0"/>
              <a:t>System Resource</a:t>
            </a:r>
            <a:br>
              <a:rPr lang="en-US" b="1" dirty="0"/>
            </a:br>
            <a:r>
              <a:rPr lang="en-US" dirty="0"/>
              <a:t>For testing, a web application, you should plan the resources as following tables:</a:t>
            </a:r>
            <a:br>
              <a:rPr lang="en-US" dirty="0"/>
            </a:br>
            <a:endParaRPr lang="en-US" dirty="0"/>
          </a:p>
        </p:txBody>
      </p:sp>
      <p:graphicFrame>
        <p:nvGraphicFramePr>
          <p:cNvPr id="7" name="Content Placeholder 6">
            <a:extLst>
              <a:ext uri="{FF2B5EF4-FFF2-40B4-BE49-F238E27FC236}">
                <a16:creationId xmlns:a16="http://schemas.microsoft.com/office/drawing/2014/main" id="{A091469E-E677-434F-8FB1-21A87F6E8F4C}"/>
              </a:ext>
            </a:extLst>
          </p:cNvPr>
          <p:cNvGraphicFramePr>
            <a:graphicFrameLocks noGrp="1"/>
          </p:cNvGraphicFramePr>
          <p:nvPr>
            <p:ph idx="1"/>
            <p:extLst>
              <p:ext uri="{D42A27DB-BD31-4B8C-83A1-F6EECF244321}">
                <p14:modId xmlns:p14="http://schemas.microsoft.com/office/powerpoint/2010/main" val="3093551474"/>
              </p:ext>
            </p:extLst>
          </p:nvPr>
        </p:nvGraphicFramePr>
        <p:xfrm>
          <a:off x="893322" y="2532185"/>
          <a:ext cx="9284676" cy="4157655"/>
        </p:xfrm>
        <a:graphic>
          <a:graphicData uri="http://schemas.openxmlformats.org/drawingml/2006/table">
            <a:tbl>
              <a:tblPr/>
              <a:tblGrid>
                <a:gridCol w="1258938">
                  <a:extLst>
                    <a:ext uri="{9D8B030D-6E8A-4147-A177-3AD203B41FA5}">
                      <a16:colId xmlns:a16="http://schemas.microsoft.com/office/drawing/2014/main" val="572643615"/>
                    </a:ext>
                  </a:extLst>
                </a:gridCol>
                <a:gridCol w="2032901">
                  <a:extLst>
                    <a:ext uri="{9D8B030D-6E8A-4147-A177-3AD203B41FA5}">
                      <a16:colId xmlns:a16="http://schemas.microsoft.com/office/drawing/2014/main" val="929580764"/>
                    </a:ext>
                  </a:extLst>
                </a:gridCol>
                <a:gridCol w="5992837">
                  <a:extLst>
                    <a:ext uri="{9D8B030D-6E8A-4147-A177-3AD203B41FA5}">
                      <a16:colId xmlns:a16="http://schemas.microsoft.com/office/drawing/2014/main" val="3631595540"/>
                    </a:ext>
                  </a:extLst>
                </a:gridCol>
              </a:tblGrid>
              <a:tr h="175489">
                <a:tc>
                  <a:txBody>
                    <a:bodyPr/>
                    <a:lstStyle/>
                    <a:p>
                      <a:pPr algn="ctr" fontAlgn="t"/>
                      <a:r>
                        <a:rPr lang="en-US" sz="1600" b="1">
                          <a:effectLst/>
                        </a:rPr>
                        <a:t>No.</a:t>
                      </a:r>
                    </a:p>
                  </a:txBody>
                  <a:tcPr marL="26524" marR="26524" marT="26524" marB="26524">
                    <a:lnL w="9525" cap="flat" cmpd="sng" algn="ctr">
                      <a:solidFill>
                        <a:srgbClr val="40F04D"/>
                      </a:solidFill>
                      <a:prstDash val="solid"/>
                      <a:round/>
                      <a:headEnd type="none" w="med" len="med"/>
                      <a:tailEnd type="none" w="med" len="med"/>
                    </a:lnL>
                    <a:lnR w="9525" cap="flat" cmpd="sng" algn="ctr">
                      <a:solidFill>
                        <a:srgbClr val="80EB4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fontAlgn="t"/>
                      <a:r>
                        <a:rPr lang="en-US" sz="1600" b="1">
                          <a:effectLst/>
                        </a:rPr>
                        <a:t>Resources</a:t>
                      </a:r>
                    </a:p>
                  </a:txBody>
                  <a:tcPr marL="26524" marR="26524" marT="26524" marB="26524">
                    <a:lnL w="9525" cap="flat" cmpd="sng" algn="ctr">
                      <a:solidFill>
                        <a:srgbClr val="80EB4D"/>
                      </a:solidFill>
                      <a:prstDash val="solid"/>
                      <a:round/>
                      <a:headEnd type="none" w="med" len="med"/>
                      <a:tailEnd type="none" w="med" len="med"/>
                    </a:lnL>
                    <a:lnR w="9525" cap="flat" cmpd="sng" algn="ctr">
                      <a:solidFill>
                        <a:srgbClr val="00EE4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ctr" fontAlgn="t"/>
                      <a:r>
                        <a:rPr lang="en-US" sz="1600" b="1">
                          <a:effectLst/>
                        </a:rPr>
                        <a:t>Descriptions</a:t>
                      </a:r>
                    </a:p>
                  </a:txBody>
                  <a:tcPr marL="26524" marR="26524" marT="26524" marB="26524">
                    <a:lnL w="9525" cap="flat" cmpd="sng" algn="ctr">
                      <a:solidFill>
                        <a:srgbClr val="00EE4D"/>
                      </a:solidFill>
                      <a:prstDash val="solid"/>
                      <a:round/>
                      <a:headEnd type="none" w="med" len="med"/>
                      <a:tailEnd type="none" w="med" len="med"/>
                    </a:lnL>
                    <a:lnR w="12700" cap="flat" cmpd="sng" algn="ctr">
                      <a:solidFill>
                        <a:srgbClr val="089C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528754749"/>
                  </a:ext>
                </a:extLst>
              </a:tr>
              <a:tr h="1078006">
                <a:tc>
                  <a:txBody>
                    <a:bodyPr/>
                    <a:lstStyle/>
                    <a:p>
                      <a:pPr algn="ctr" fontAlgn="t"/>
                      <a:r>
                        <a:rPr lang="en-US" sz="1600" b="1">
                          <a:effectLst/>
                        </a:rPr>
                        <a:t>1.     </a:t>
                      </a:r>
                      <a:endParaRPr lang="en-US" sz="1600">
                        <a:effectLst/>
                      </a:endParaRPr>
                    </a:p>
                  </a:txBody>
                  <a:tcPr marL="26524" marR="26524" marT="26524" marB="26524">
                    <a:lnL w="12700" cap="flat" cmpd="sng" algn="ctr">
                      <a:solidFill>
                        <a:srgbClr val="089FDA"/>
                      </a:solidFill>
                      <a:prstDash val="solid"/>
                      <a:round/>
                      <a:headEnd type="none" w="med" len="med"/>
                      <a:tailEnd type="none" w="med" len="med"/>
                    </a:lnL>
                    <a:lnR w="12700" cap="flat" cmpd="sng" algn="ctr">
                      <a:solidFill>
                        <a:srgbClr val="48A1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US" sz="1600" dirty="0">
                          <a:effectLst/>
                        </a:rPr>
                        <a:t>Server</a:t>
                      </a:r>
                    </a:p>
                  </a:txBody>
                  <a:tcPr marL="26524" marR="26524" marT="26524" marB="26524">
                    <a:lnL w="12700" cap="flat" cmpd="sng" algn="ctr">
                      <a:solidFill>
                        <a:srgbClr val="48A1DA"/>
                      </a:solidFill>
                      <a:prstDash val="solid"/>
                      <a:round/>
                      <a:headEnd type="none" w="med" len="med"/>
                      <a:tailEnd type="none" w="med" len="med"/>
                    </a:lnL>
                    <a:lnR w="12700" cap="flat" cmpd="sng" algn="ctr">
                      <a:solidFill>
                        <a:srgbClr val="68A5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effectLst/>
                        </a:rPr>
                        <a:t>Install the web application under test</a:t>
                      </a:r>
                    </a:p>
                    <a:p>
                      <a:pPr algn="l" fontAlgn="t"/>
                      <a:r>
                        <a:rPr lang="en-US" sz="1600">
                          <a:effectLst/>
                        </a:rPr>
                        <a:t>This includes a separate web server, database server, and application server if applicable</a:t>
                      </a:r>
                    </a:p>
                  </a:txBody>
                  <a:tcPr marL="26524" marR="26524" marT="26524" marB="26524">
                    <a:lnL w="12700" cap="flat" cmpd="sng" algn="ctr">
                      <a:solidFill>
                        <a:srgbClr val="68A5DA"/>
                      </a:solidFill>
                      <a:prstDash val="solid"/>
                      <a:round/>
                      <a:headEnd type="none" w="med" len="med"/>
                      <a:tailEnd type="none" w="med" len="med"/>
                    </a:lnL>
                    <a:lnR w="12700" cap="flat" cmpd="sng" algn="ctr">
                      <a:solidFill>
                        <a:srgbClr val="48A1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505577015"/>
                  </a:ext>
                </a:extLst>
              </a:tr>
              <a:tr h="1529264">
                <a:tc>
                  <a:txBody>
                    <a:bodyPr/>
                    <a:lstStyle/>
                    <a:p>
                      <a:pPr algn="ctr" fontAlgn="t"/>
                      <a:r>
                        <a:rPr lang="en-US" sz="1600" b="1">
                          <a:effectLst/>
                        </a:rPr>
                        <a:t>2.     </a:t>
                      </a:r>
                      <a:endParaRPr lang="en-US" sz="1600">
                        <a:effectLst/>
                      </a:endParaRPr>
                    </a:p>
                  </a:txBody>
                  <a:tcPr marL="26524" marR="26524" marT="26524" marB="26524">
                    <a:lnL w="12700" cap="flat" cmpd="sng" algn="ctr">
                      <a:solidFill>
                        <a:srgbClr val="68A5DA"/>
                      </a:solidFill>
                      <a:prstDash val="solid"/>
                      <a:round/>
                      <a:headEnd type="none" w="med" len="med"/>
                      <a:tailEnd type="none" w="med" len="med"/>
                    </a:lnL>
                    <a:lnR w="12700" cap="flat" cmpd="sng" algn="ctr">
                      <a:solidFill>
                        <a:srgbClr val="48AA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en-US" sz="1600" dirty="0">
                          <a:effectLst/>
                        </a:rPr>
                        <a:t>Test tool</a:t>
                      </a:r>
                    </a:p>
                  </a:txBody>
                  <a:tcPr marL="26524" marR="26524" marT="26524" marB="26524">
                    <a:lnL w="12700" cap="flat" cmpd="sng" algn="ctr">
                      <a:solidFill>
                        <a:srgbClr val="48AADA"/>
                      </a:solidFill>
                      <a:prstDash val="solid"/>
                      <a:round/>
                      <a:headEnd type="none" w="med" len="med"/>
                      <a:tailEnd type="none" w="med" len="med"/>
                    </a:lnL>
                    <a:lnR w="12700" cap="flat" cmpd="sng" algn="ctr">
                      <a:solidFill>
                        <a:srgbClr val="D0A9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a:effectLst/>
                        </a:rPr>
                        <a:t>The testing tool is to automate the testing, simulate the user operation, generate the test results</a:t>
                      </a:r>
                    </a:p>
                    <a:p>
                      <a:pPr algn="l" fontAlgn="t"/>
                      <a:r>
                        <a:rPr lang="en-US" sz="1600">
                          <a:effectLst/>
                        </a:rPr>
                        <a:t>There are tons of test tools you can use for this project such as Selenium, QTP…etc.</a:t>
                      </a:r>
                    </a:p>
                  </a:txBody>
                  <a:tcPr marL="26524" marR="26524" marT="26524" marB="26524">
                    <a:lnL w="12700" cap="flat" cmpd="sng" algn="ctr">
                      <a:solidFill>
                        <a:srgbClr val="D0A9DA"/>
                      </a:solidFill>
                      <a:prstDash val="solid"/>
                      <a:round/>
                      <a:headEnd type="none" w="med" len="med"/>
                      <a:tailEnd type="none" w="med" len="med"/>
                    </a:lnL>
                    <a:lnR w="12700" cap="flat" cmpd="sng" algn="ctr">
                      <a:solidFill>
                        <a:srgbClr val="98AB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999404939"/>
                  </a:ext>
                </a:extLst>
              </a:tr>
              <a:tr h="739563">
                <a:tc>
                  <a:txBody>
                    <a:bodyPr/>
                    <a:lstStyle/>
                    <a:p>
                      <a:pPr algn="ctr" fontAlgn="t"/>
                      <a:r>
                        <a:rPr lang="en-US" sz="1600" b="1">
                          <a:effectLst/>
                        </a:rPr>
                        <a:t>3.     </a:t>
                      </a:r>
                      <a:endParaRPr lang="en-US" sz="1600">
                        <a:effectLst/>
                      </a:endParaRPr>
                    </a:p>
                  </a:txBody>
                  <a:tcPr marL="26524" marR="26524" marT="26524" marB="26524">
                    <a:lnL w="12700" cap="flat" cmpd="sng" algn="ctr">
                      <a:solidFill>
                        <a:srgbClr val="D0A9DA"/>
                      </a:solidFill>
                      <a:prstDash val="solid"/>
                      <a:round/>
                      <a:headEnd type="none" w="med" len="med"/>
                      <a:tailEnd type="none" w="med" len="med"/>
                    </a:lnL>
                    <a:lnR w="12700" cap="flat" cmpd="sng" algn="ctr">
                      <a:solidFill>
                        <a:srgbClr val="F833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US" sz="1600">
                          <a:effectLst/>
                        </a:rPr>
                        <a:t>Network</a:t>
                      </a:r>
                    </a:p>
                  </a:txBody>
                  <a:tcPr marL="26524" marR="26524" marT="26524" marB="26524">
                    <a:lnL w="12700" cap="flat" cmpd="sng" algn="ctr">
                      <a:solidFill>
                        <a:srgbClr val="F833DA"/>
                      </a:solidFill>
                      <a:prstDash val="solid"/>
                      <a:round/>
                      <a:headEnd type="none" w="med" len="med"/>
                      <a:tailEnd type="none" w="med" len="med"/>
                    </a:lnL>
                    <a:lnR w="12700" cap="flat" cmpd="sng" algn="ctr">
                      <a:solidFill>
                        <a:srgbClr val="884F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effectLst/>
                        </a:rPr>
                        <a:t>You need a Network include LAN and Internet to simulate the real business and user environment</a:t>
                      </a:r>
                    </a:p>
                  </a:txBody>
                  <a:tcPr marL="26524" marR="26524" marT="26524" marB="26524">
                    <a:lnL w="12700" cap="flat" cmpd="sng" algn="ctr">
                      <a:solidFill>
                        <a:srgbClr val="884FDA"/>
                      </a:solidFill>
                      <a:prstDash val="solid"/>
                      <a:round/>
                      <a:headEnd type="none" w="med" len="med"/>
                      <a:tailEnd type="none" w="med" len="med"/>
                    </a:lnL>
                    <a:lnR w="12700" cap="flat" cmpd="sng" algn="ctr">
                      <a:solidFill>
                        <a:srgbClr val="F833D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36747957"/>
                  </a:ext>
                </a:extLst>
              </a:tr>
              <a:tr h="513934">
                <a:tc>
                  <a:txBody>
                    <a:bodyPr/>
                    <a:lstStyle/>
                    <a:p>
                      <a:pPr algn="ctr" fontAlgn="t"/>
                      <a:r>
                        <a:rPr lang="en-US" sz="1200" b="1" dirty="0">
                          <a:effectLst/>
                        </a:rPr>
                        <a:t>4.     </a:t>
                      </a:r>
                      <a:endParaRPr lang="en-US" sz="1200" dirty="0">
                        <a:effectLst/>
                      </a:endParaRPr>
                    </a:p>
                  </a:txBody>
                  <a:tcPr marL="26524" marR="26524" marT="26524" marB="26524">
                    <a:lnL w="12700" cap="flat" cmpd="sng" algn="ctr">
                      <a:solidFill>
                        <a:srgbClr val="884FDA"/>
                      </a:solidFill>
                      <a:prstDash val="solid"/>
                      <a:round/>
                      <a:headEnd type="none" w="med" len="med"/>
                      <a:tailEnd type="none" w="med" len="med"/>
                    </a:lnL>
                    <a:lnR w="12700" cap="flat" cmpd="sng" algn="ctr">
                      <a:solidFill>
                        <a:srgbClr val="C056DA"/>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1034DA"/>
                      </a:solidFill>
                      <a:prstDash val="solid"/>
                      <a:round/>
                      <a:headEnd type="none" w="med" len="med"/>
                      <a:tailEnd type="none" w="med" len="med"/>
                    </a:lnB>
                    <a:solidFill>
                      <a:srgbClr val="F9F9F9"/>
                    </a:solidFill>
                  </a:tcPr>
                </a:tc>
                <a:tc>
                  <a:txBody>
                    <a:bodyPr/>
                    <a:lstStyle/>
                    <a:p>
                      <a:pPr algn="ctr" fontAlgn="t"/>
                      <a:r>
                        <a:rPr lang="en-US" sz="1200" dirty="0">
                          <a:effectLst/>
                        </a:rPr>
                        <a:t>Computer</a:t>
                      </a:r>
                    </a:p>
                  </a:txBody>
                  <a:tcPr marL="26524" marR="26524" marT="26524" marB="26524">
                    <a:lnL w="12700" cap="flat" cmpd="sng" algn="ctr">
                      <a:solidFill>
                        <a:srgbClr val="C056DA"/>
                      </a:solidFill>
                      <a:prstDash val="solid"/>
                      <a:round/>
                      <a:headEnd type="none" w="med" len="med"/>
                      <a:tailEnd type="none" w="med" len="med"/>
                    </a:lnL>
                    <a:lnR w="12700" cap="flat" cmpd="sng" algn="ctr">
                      <a:solidFill>
                        <a:srgbClr val="8057DA"/>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8057DA"/>
                      </a:solidFill>
                      <a:prstDash val="solid"/>
                      <a:round/>
                      <a:headEnd type="none" w="med" len="med"/>
                      <a:tailEnd type="none" w="med" len="med"/>
                    </a:lnB>
                    <a:solidFill>
                      <a:srgbClr val="F9F9F9"/>
                    </a:solidFill>
                  </a:tcPr>
                </a:tc>
                <a:tc>
                  <a:txBody>
                    <a:bodyPr/>
                    <a:lstStyle/>
                    <a:p>
                      <a:pPr algn="l" fontAlgn="t"/>
                      <a:r>
                        <a:rPr lang="en-US" sz="1200" dirty="0">
                          <a:effectLst/>
                        </a:rPr>
                        <a:t>The PC which users often use to connect the web server</a:t>
                      </a:r>
                    </a:p>
                  </a:txBody>
                  <a:tcPr marL="26524" marR="26524" marT="26524" marB="26524">
                    <a:lnL w="12700" cap="flat" cmpd="sng" algn="ctr">
                      <a:solidFill>
                        <a:srgbClr val="8057DA"/>
                      </a:solidFill>
                      <a:prstDash val="solid"/>
                      <a:round/>
                      <a:headEnd type="none" w="med" len="med"/>
                      <a:tailEnd type="none" w="med" len="med"/>
                    </a:lnL>
                    <a:lnR w="12700" cap="flat" cmpd="sng" algn="ctr">
                      <a:solidFill>
                        <a:srgbClr val="1058DA"/>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C056DA"/>
                      </a:solidFill>
                      <a:prstDash val="solid"/>
                      <a:round/>
                      <a:headEnd type="none" w="med" len="med"/>
                      <a:tailEnd type="none" w="med" len="med"/>
                    </a:lnB>
                    <a:solidFill>
                      <a:srgbClr val="F9F9F9"/>
                    </a:solidFill>
                  </a:tcPr>
                </a:tc>
                <a:extLst>
                  <a:ext uri="{0D108BD9-81ED-4DB2-BD59-A6C34878D82A}">
                    <a16:rowId xmlns:a16="http://schemas.microsoft.com/office/drawing/2014/main" val="2772489243"/>
                  </a:ext>
                </a:extLst>
              </a:tr>
            </a:tbl>
          </a:graphicData>
        </a:graphic>
      </p:graphicFrame>
    </p:spTree>
    <p:extLst>
      <p:ext uri="{BB962C8B-B14F-4D97-AF65-F5344CB8AC3E}">
        <p14:creationId xmlns:p14="http://schemas.microsoft.com/office/powerpoint/2010/main" val="16208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611D2-0D22-47EC-956F-B9E8622E63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C69DAD-270B-4B1B-9C1C-87D01B430FB4}"/>
              </a:ext>
            </a:extLst>
          </p:cNvPr>
          <p:cNvSpPr>
            <a:spLocks noGrp="1"/>
          </p:cNvSpPr>
          <p:nvPr>
            <p:ph idx="1"/>
          </p:nvPr>
        </p:nvSpPr>
        <p:spPr/>
        <p:txBody>
          <a:bodyPr>
            <a:normAutofit fontScale="92500" lnSpcReduction="20000"/>
          </a:bodyPr>
          <a:lstStyle/>
          <a:p>
            <a:r>
              <a:rPr lang="en-US" dirty="0"/>
              <a:t>Step 6) Plan Test Environment</a:t>
            </a:r>
          </a:p>
          <a:p>
            <a:r>
              <a:rPr lang="en-US" dirty="0"/>
              <a:t>What is the Test Environment</a:t>
            </a:r>
          </a:p>
          <a:p>
            <a:r>
              <a:rPr lang="en-US" dirty="0"/>
              <a:t>A testing environment is a setup of software and hardware on which the testing team is going to execute test cases. The test environment consists of real business and user environment, as well as physical environments, such as server, front end running environment.</a:t>
            </a:r>
          </a:p>
          <a:p>
            <a:endParaRPr lang="en-US" dirty="0"/>
          </a:p>
          <a:p>
            <a:r>
              <a:rPr lang="en-US" dirty="0"/>
              <a:t>How to setup the Test Environment</a:t>
            </a:r>
          </a:p>
          <a:p>
            <a:r>
              <a:rPr lang="en-US" dirty="0"/>
              <a:t>Back to your project, how do you set up test environment for a project?</a:t>
            </a:r>
          </a:p>
          <a:p>
            <a:r>
              <a:rPr lang="en-US" dirty="0"/>
              <a:t>To finish this task, you need a strong cooperation between Test Team and Development Team</a:t>
            </a:r>
          </a:p>
        </p:txBody>
      </p:sp>
    </p:spTree>
    <p:extLst>
      <p:ext uri="{BB962C8B-B14F-4D97-AF65-F5344CB8AC3E}">
        <p14:creationId xmlns:p14="http://schemas.microsoft.com/office/powerpoint/2010/main" val="620515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D2E0E-5EF6-4215-9BB4-B41D73C298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F53250-55B6-47A3-B92F-348C83AD418C}"/>
              </a:ext>
            </a:extLst>
          </p:cNvPr>
          <p:cNvSpPr>
            <a:spLocks noGrp="1"/>
          </p:cNvSpPr>
          <p:nvPr>
            <p:ph idx="1"/>
          </p:nvPr>
        </p:nvSpPr>
        <p:spPr/>
        <p:txBody>
          <a:bodyPr/>
          <a:lstStyle/>
          <a:p>
            <a:r>
              <a:rPr lang="en-US" dirty="0"/>
              <a:t>You should ask the developer some questions to understand the web application under test clearly. Here’re some recommended questions. Of course, you can ask the other questions if you need.</a:t>
            </a:r>
          </a:p>
          <a:p>
            <a:endParaRPr lang="en-US" dirty="0"/>
          </a:p>
          <a:p>
            <a:r>
              <a:rPr lang="en-US" dirty="0"/>
              <a:t>What is the maximum user connection which this website can handle at the same time?</a:t>
            </a:r>
          </a:p>
          <a:p>
            <a:r>
              <a:rPr lang="en-US" dirty="0"/>
              <a:t>What are hardware/software requirements to install this website?</a:t>
            </a:r>
          </a:p>
          <a:p>
            <a:r>
              <a:rPr lang="en-US" dirty="0"/>
              <a:t>Does the user's computer need any particular setting to browse the website?</a:t>
            </a:r>
          </a:p>
        </p:txBody>
      </p:sp>
    </p:spTree>
    <p:extLst>
      <p:ext uri="{BB962C8B-B14F-4D97-AF65-F5344CB8AC3E}">
        <p14:creationId xmlns:p14="http://schemas.microsoft.com/office/powerpoint/2010/main" val="4003469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DD21-C550-4114-B9E7-595B87931F4C}"/>
              </a:ext>
            </a:extLst>
          </p:cNvPr>
          <p:cNvSpPr>
            <a:spLocks noGrp="1"/>
          </p:cNvSpPr>
          <p:nvPr>
            <p:ph type="title"/>
          </p:nvPr>
        </p:nvSpPr>
        <p:spPr/>
        <p:txBody>
          <a:bodyPr/>
          <a:lstStyle/>
          <a:p>
            <a:r>
              <a:rPr lang="en-US" b="1" dirty="0"/>
              <a:t>Step 7) Schedule &amp; Estimation</a:t>
            </a:r>
            <a:br>
              <a:rPr lang="en-US" b="1" dirty="0"/>
            </a:br>
            <a:endParaRPr lang="en-US" dirty="0"/>
          </a:p>
        </p:txBody>
      </p:sp>
      <p:sp>
        <p:nvSpPr>
          <p:cNvPr id="3" name="Content Placeholder 2">
            <a:extLst>
              <a:ext uri="{FF2B5EF4-FFF2-40B4-BE49-F238E27FC236}">
                <a16:creationId xmlns:a16="http://schemas.microsoft.com/office/drawing/2014/main" id="{036D7BF8-231A-4242-B137-102146D8226E}"/>
              </a:ext>
            </a:extLst>
          </p:cNvPr>
          <p:cNvSpPr>
            <a:spLocks noGrp="1"/>
          </p:cNvSpPr>
          <p:nvPr>
            <p:ph idx="1"/>
          </p:nvPr>
        </p:nvSpPr>
        <p:spPr/>
        <p:txBody>
          <a:bodyPr/>
          <a:lstStyle/>
          <a:p>
            <a:r>
              <a:rPr lang="en-US" dirty="0"/>
              <a:t>In the article </a:t>
            </a:r>
            <a:r>
              <a:rPr lang="en-US" dirty="0">
                <a:hlinkClick r:id="rId2"/>
              </a:rPr>
              <a:t>Test estimation</a:t>
            </a:r>
            <a:r>
              <a:rPr lang="en-US" dirty="0"/>
              <a:t>, you already used some techniques to estimate the effort to complete the project. Now you should include that estimation as well as the schedule to the Test Planning</a:t>
            </a:r>
          </a:p>
          <a:p>
            <a:endParaRPr lang="en-US" dirty="0"/>
          </a:p>
        </p:txBody>
      </p:sp>
    </p:spTree>
    <p:extLst>
      <p:ext uri="{BB962C8B-B14F-4D97-AF65-F5344CB8AC3E}">
        <p14:creationId xmlns:p14="http://schemas.microsoft.com/office/powerpoint/2010/main" val="12653764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4110F-0B61-4D47-97E9-9D21CA45D3A8}"/>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4E26CF66-37C9-46C0-9F7E-E84ABBE5EFF2}"/>
              </a:ext>
            </a:extLst>
          </p:cNvPr>
          <p:cNvGraphicFramePr>
            <a:graphicFrameLocks noGrp="1"/>
          </p:cNvGraphicFramePr>
          <p:nvPr>
            <p:ph idx="1"/>
            <p:extLst>
              <p:ext uri="{D42A27DB-BD31-4B8C-83A1-F6EECF244321}">
                <p14:modId xmlns:p14="http://schemas.microsoft.com/office/powerpoint/2010/main" val="3058767353"/>
              </p:ext>
            </p:extLst>
          </p:nvPr>
        </p:nvGraphicFramePr>
        <p:xfrm>
          <a:off x="1154954" y="2757169"/>
          <a:ext cx="8761413" cy="3320072"/>
        </p:xfrm>
        <a:graphic>
          <a:graphicData uri="http://schemas.openxmlformats.org/drawingml/2006/table">
            <a:tbl>
              <a:tblPr/>
              <a:tblGrid>
                <a:gridCol w="2920471">
                  <a:extLst>
                    <a:ext uri="{9D8B030D-6E8A-4147-A177-3AD203B41FA5}">
                      <a16:colId xmlns:a16="http://schemas.microsoft.com/office/drawing/2014/main" val="1862676288"/>
                    </a:ext>
                  </a:extLst>
                </a:gridCol>
                <a:gridCol w="2920471">
                  <a:extLst>
                    <a:ext uri="{9D8B030D-6E8A-4147-A177-3AD203B41FA5}">
                      <a16:colId xmlns:a16="http://schemas.microsoft.com/office/drawing/2014/main" val="3518713699"/>
                    </a:ext>
                  </a:extLst>
                </a:gridCol>
                <a:gridCol w="2920471">
                  <a:extLst>
                    <a:ext uri="{9D8B030D-6E8A-4147-A177-3AD203B41FA5}">
                      <a16:colId xmlns:a16="http://schemas.microsoft.com/office/drawing/2014/main" val="2844025092"/>
                    </a:ext>
                  </a:extLst>
                </a:gridCol>
              </a:tblGrid>
              <a:tr h="455696">
                <a:tc>
                  <a:txBody>
                    <a:bodyPr/>
                    <a:lstStyle/>
                    <a:p>
                      <a:pPr algn="l" fontAlgn="t"/>
                      <a:r>
                        <a:rPr lang="en-US" b="1">
                          <a:effectLst/>
                        </a:rPr>
                        <a:t>Task</a:t>
                      </a:r>
                    </a:p>
                  </a:txBody>
                  <a:tcPr marL="76200" marR="76200" marT="76200" marB="76200">
                    <a:lnL w="9525" cap="flat" cmpd="sng" algn="ctr">
                      <a:solidFill>
                        <a:srgbClr val="E86AE3"/>
                      </a:solidFill>
                      <a:prstDash val="solid"/>
                      <a:round/>
                      <a:headEnd type="none" w="med" len="med"/>
                      <a:tailEnd type="none" w="med" len="med"/>
                    </a:lnL>
                    <a:lnR w="9525" cap="flat" cmpd="sng" algn="ctr">
                      <a:solidFill>
                        <a:srgbClr val="686CE3"/>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fontAlgn="t"/>
                      <a:r>
                        <a:rPr lang="en-US" b="1">
                          <a:effectLst/>
                        </a:rPr>
                        <a:t>Members</a:t>
                      </a:r>
                    </a:p>
                  </a:txBody>
                  <a:tcPr marL="76200" marR="76200" marT="76200" marB="76200">
                    <a:lnL w="9525" cap="flat" cmpd="sng" algn="ctr">
                      <a:solidFill>
                        <a:srgbClr val="686CE3"/>
                      </a:solidFill>
                      <a:prstDash val="solid"/>
                      <a:round/>
                      <a:headEnd type="none" w="med" len="med"/>
                      <a:tailEnd type="none" w="med" len="med"/>
                    </a:lnL>
                    <a:lnR w="9525" cap="flat" cmpd="sng" algn="ctr">
                      <a:solidFill>
                        <a:srgbClr val="A86EE3"/>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fontAlgn="t"/>
                      <a:r>
                        <a:rPr lang="en-US" b="1">
                          <a:effectLst/>
                        </a:rPr>
                        <a:t>Estimate effort</a:t>
                      </a:r>
                    </a:p>
                  </a:txBody>
                  <a:tcPr marL="76200" marR="76200" marT="76200" marB="76200">
                    <a:lnL w="9525" cap="flat" cmpd="sng" algn="ctr">
                      <a:solidFill>
                        <a:srgbClr val="A86EE3"/>
                      </a:solidFill>
                      <a:prstDash val="solid"/>
                      <a:round/>
                      <a:headEnd type="none" w="med" len="med"/>
                      <a:tailEnd type="none" w="med" len="med"/>
                    </a:lnL>
                    <a:lnR w="12700" cap="flat" cmpd="sng" algn="ctr">
                      <a:solidFill>
                        <a:srgbClr val="B07A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764408245"/>
                  </a:ext>
                </a:extLst>
              </a:tr>
              <a:tr h="748644">
                <a:tc>
                  <a:txBody>
                    <a:bodyPr/>
                    <a:lstStyle/>
                    <a:p>
                      <a:pPr algn="l" fontAlgn="t"/>
                      <a:r>
                        <a:rPr lang="en-US" b="1">
                          <a:effectLst/>
                        </a:rPr>
                        <a:t>Create the test specification</a:t>
                      </a:r>
                      <a:endParaRPr lang="en-US">
                        <a:effectLst/>
                      </a:endParaRPr>
                    </a:p>
                  </a:txBody>
                  <a:tcPr marL="76200" marR="76200" marT="76200" marB="76200">
                    <a:lnL w="12700" cap="flat" cmpd="sng" algn="ctr">
                      <a:solidFill>
                        <a:srgbClr val="A07EF0"/>
                      </a:solidFill>
                      <a:prstDash val="solid"/>
                      <a:round/>
                      <a:headEnd type="none" w="med" len="med"/>
                      <a:tailEnd type="none" w="med" len="med"/>
                    </a:lnL>
                    <a:lnR w="12700" cap="flat" cmpd="sng" algn="ctr">
                      <a:solidFill>
                        <a:srgbClr val="4885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Test Designer</a:t>
                      </a:r>
                    </a:p>
                  </a:txBody>
                  <a:tcPr marL="76200" marR="76200" marT="76200" marB="76200">
                    <a:lnL w="12700" cap="flat" cmpd="sng" algn="ctr">
                      <a:solidFill>
                        <a:srgbClr val="4885F0"/>
                      </a:solidFill>
                      <a:prstDash val="solid"/>
                      <a:round/>
                      <a:headEnd type="none" w="med" len="med"/>
                      <a:tailEnd type="none" w="med" len="med"/>
                    </a:lnL>
                    <a:lnR w="12700" cap="flat" cmpd="sng" algn="ctr">
                      <a:solidFill>
                        <a:srgbClr val="4885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170 man-hour</a:t>
                      </a:r>
                    </a:p>
                  </a:txBody>
                  <a:tcPr marL="76200" marR="76200" marT="76200" marB="76200">
                    <a:lnL w="12700" cap="flat" cmpd="sng" algn="ctr">
                      <a:solidFill>
                        <a:srgbClr val="4885F0"/>
                      </a:solidFill>
                      <a:prstDash val="solid"/>
                      <a:round/>
                      <a:headEnd type="none" w="med" len="med"/>
                      <a:tailEnd type="none" w="med" len="med"/>
                    </a:lnL>
                    <a:lnR w="12700" cap="flat" cmpd="sng" algn="ctr">
                      <a:solidFill>
                        <a:srgbClr val="187F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24395083"/>
                  </a:ext>
                </a:extLst>
              </a:tr>
              <a:tr h="748644">
                <a:tc>
                  <a:txBody>
                    <a:bodyPr/>
                    <a:lstStyle/>
                    <a:p>
                      <a:pPr algn="l" fontAlgn="t"/>
                      <a:r>
                        <a:rPr lang="en-US" b="1">
                          <a:effectLst/>
                        </a:rPr>
                        <a:t>Perform Test Execution</a:t>
                      </a:r>
                      <a:endParaRPr lang="en-US">
                        <a:effectLst/>
                      </a:endParaRPr>
                    </a:p>
                  </a:txBody>
                  <a:tcPr marL="76200" marR="76200" marT="76200" marB="76200">
                    <a:lnL w="12700" cap="flat" cmpd="sng" algn="ctr">
                      <a:solidFill>
                        <a:srgbClr val="4885F0"/>
                      </a:solidFill>
                      <a:prstDash val="solid"/>
                      <a:round/>
                      <a:headEnd type="none" w="med" len="med"/>
                      <a:tailEnd type="none" w="med" len="med"/>
                    </a:lnL>
                    <a:lnR w="12700" cap="flat" cmpd="sng" algn="ctr">
                      <a:solidFill>
                        <a:srgbClr val="7891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a:effectLst/>
                        </a:rPr>
                        <a:t>Tester, Test Administrator</a:t>
                      </a:r>
                    </a:p>
                  </a:txBody>
                  <a:tcPr marL="76200" marR="76200" marT="76200" marB="76200">
                    <a:lnL w="12700" cap="flat" cmpd="sng" algn="ctr">
                      <a:solidFill>
                        <a:srgbClr val="7891F0"/>
                      </a:solidFill>
                      <a:prstDash val="solid"/>
                      <a:round/>
                      <a:headEnd type="none" w="med" len="med"/>
                      <a:tailEnd type="none" w="med" len="med"/>
                    </a:lnL>
                    <a:lnR w="12700" cap="flat" cmpd="sng" algn="ctr">
                      <a:solidFill>
                        <a:srgbClr val="7891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a:effectLst/>
                        </a:rPr>
                        <a:t>80 man-hour</a:t>
                      </a:r>
                    </a:p>
                  </a:txBody>
                  <a:tcPr marL="76200" marR="76200" marT="76200" marB="76200">
                    <a:lnL w="12700" cap="flat" cmpd="sng" algn="ctr">
                      <a:solidFill>
                        <a:srgbClr val="7891F0"/>
                      </a:solidFill>
                      <a:prstDash val="solid"/>
                      <a:round/>
                      <a:headEnd type="none" w="med" len="med"/>
                      <a:tailEnd type="none" w="med" len="med"/>
                    </a:lnL>
                    <a:lnR w="12700" cap="flat" cmpd="sng" algn="ctr">
                      <a:solidFill>
                        <a:srgbClr val="3082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029470511"/>
                  </a:ext>
                </a:extLst>
              </a:tr>
              <a:tr h="455696">
                <a:tc>
                  <a:txBody>
                    <a:bodyPr/>
                    <a:lstStyle/>
                    <a:p>
                      <a:pPr algn="l" fontAlgn="t"/>
                      <a:r>
                        <a:rPr lang="en-US" b="1">
                          <a:effectLst/>
                        </a:rPr>
                        <a:t>Test Report</a:t>
                      </a:r>
                      <a:endParaRPr lang="en-US">
                        <a:effectLst/>
                      </a:endParaRPr>
                    </a:p>
                  </a:txBody>
                  <a:tcPr marL="76200" marR="76200" marT="76200" marB="76200">
                    <a:lnL w="12700" cap="flat" cmpd="sng" algn="ctr">
                      <a:solidFill>
                        <a:srgbClr val="7891F0"/>
                      </a:solidFill>
                      <a:prstDash val="solid"/>
                      <a:round/>
                      <a:headEnd type="none" w="med" len="med"/>
                      <a:tailEnd type="none" w="med" len="med"/>
                    </a:lnL>
                    <a:lnR w="12700" cap="flat" cmpd="sng" algn="ctr">
                      <a:solidFill>
                        <a:srgbClr val="0061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Tester</a:t>
                      </a:r>
                    </a:p>
                  </a:txBody>
                  <a:tcPr marL="76200" marR="76200" marT="76200" marB="76200">
                    <a:lnL w="12700" cap="flat" cmpd="sng" algn="ctr">
                      <a:solidFill>
                        <a:srgbClr val="0061F0"/>
                      </a:solidFill>
                      <a:prstDash val="solid"/>
                      <a:round/>
                      <a:headEnd type="none" w="med" len="med"/>
                      <a:tailEnd type="none" w="med" len="med"/>
                    </a:lnL>
                    <a:lnR w="12700" cap="flat" cmpd="sng" algn="ctr">
                      <a:solidFill>
                        <a:srgbClr val="1060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a:effectLst/>
                        </a:rPr>
                        <a:t>10 man-hour</a:t>
                      </a:r>
                    </a:p>
                  </a:txBody>
                  <a:tcPr marL="76200" marR="76200" marT="76200" marB="76200">
                    <a:lnL w="12700" cap="flat" cmpd="sng" algn="ctr">
                      <a:solidFill>
                        <a:srgbClr val="1060F0"/>
                      </a:solidFill>
                      <a:prstDash val="solid"/>
                      <a:round/>
                      <a:headEnd type="none" w="med" len="med"/>
                      <a:tailEnd type="none" w="med" len="med"/>
                    </a:lnL>
                    <a:lnR w="12700" cap="flat" cmpd="sng" algn="ctr">
                      <a:solidFill>
                        <a:srgbClr val="7891F0"/>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01214352"/>
                  </a:ext>
                </a:extLst>
              </a:tr>
              <a:tr h="455696">
                <a:tc>
                  <a:txBody>
                    <a:bodyPr/>
                    <a:lstStyle/>
                    <a:p>
                      <a:pPr algn="l" fontAlgn="t"/>
                      <a:r>
                        <a:rPr lang="en-US" b="1">
                          <a:effectLst/>
                        </a:rPr>
                        <a:t>Test Delivery</a:t>
                      </a:r>
                      <a:endParaRPr lang="en-US">
                        <a:effectLst/>
                      </a:endParaRPr>
                    </a:p>
                  </a:txBody>
                  <a:tcPr marL="76200" marR="76200" marT="76200" marB="76200">
                    <a:lnL w="12700" cap="flat" cmpd="sng" algn="ctr">
                      <a:solidFill>
                        <a:srgbClr val="0061F0"/>
                      </a:solidFill>
                      <a:prstDash val="solid"/>
                      <a:round/>
                      <a:headEnd type="none" w="med" len="med"/>
                      <a:tailEnd type="none" w="med" len="med"/>
                    </a:lnL>
                    <a:lnR w="12700" cap="flat" cmpd="sng" algn="ctr">
                      <a:solidFill>
                        <a:srgbClr val="E8880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a:effectLst/>
                        </a:rPr>
                        <a:t> </a:t>
                      </a:r>
                    </a:p>
                  </a:txBody>
                  <a:tcPr marL="76200" marR="76200" marT="76200" marB="76200">
                    <a:lnL w="12700" cap="flat" cmpd="sng" algn="ctr">
                      <a:solidFill>
                        <a:srgbClr val="E88809"/>
                      </a:solidFill>
                      <a:prstDash val="solid"/>
                      <a:round/>
                      <a:headEnd type="none" w="med" len="med"/>
                      <a:tailEnd type="none" w="med" len="med"/>
                    </a:lnL>
                    <a:lnR w="12700" cap="flat" cmpd="sng" algn="ctr">
                      <a:solidFill>
                        <a:srgbClr val="18AA0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US">
                          <a:effectLst/>
                        </a:rPr>
                        <a:t>20 man-hour</a:t>
                      </a:r>
                    </a:p>
                  </a:txBody>
                  <a:tcPr marL="76200" marR="76200" marT="76200" marB="76200">
                    <a:lnL w="12700" cap="flat" cmpd="sng" algn="ctr">
                      <a:solidFill>
                        <a:srgbClr val="18AA09"/>
                      </a:solidFill>
                      <a:prstDash val="solid"/>
                      <a:round/>
                      <a:headEnd type="none" w="med" len="med"/>
                      <a:tailEnd type="none" w="med" len="med"/>
                    </a:lnL>
                    <a:lnR w="12700" cap="flat" cmpd="sng" algn="ctr">
                      <a:solidFill>
                        <a:srgbClr val="70A60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169374068"/>
                  </a:ext>
                </a:extLst>
              </a:tr>
              <a:tr h="455696">
                <a:tc>
                  <a:txBody>
                    <a:bodyPr/>
                    <a:lstStyle/>
                    <a:p>
                      <a:pPr algn="l" fontAlgn="t"/>
                      <a:r>
                        <a:rPr lang="en-US" b="1">
                          <a:effectLst/>
                        </a:rPr>
                        <a:t>Total</a:t>
                      </a:r>
                      <a:endParaRPr lang="en-US">
                        <a:effectLst/>
                      </a:endParaRPr>
                    </a:p>
                  </a:txBody>
                  <a:tcPr marL="76200" marR="76200" marT="76200" marB="76200">
                    <a:lnL w="12700" cap="flat" cmpd="sng" algn="ctr">
                      <a:solidFill>
                        <a:srgbClr val="F87428"/>
                      </a:solidFill>
                      <a:prstDash val="solid"/>
                      <a:round/>
                      <a:headEnd type="none" w="med" len="med"/>
                      <a:tailEnd type="none" w="med" len="med"/>
                    </a:lnL>
                    <a:lnR w="12700" cap="flat" cmpd="sng" algn="ctr">
                      <a:solidFill>
                        <a:srgbClr val="A07528"/>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A07228"/>
                      </a:solidFill>
                      <a:prstDash val="solid"/>
                      <a:round/>
                      <a:headEnd type="none" w="med" len="med"/>
                      <a:tailEnd type="none" w="med" len="med"/>
                    </a:lnB>
                    <a:solidFill>
                      <a:srgbClr val="FFFFFF"/>
                    </a:solidFill>
                  </a:tcPr>
                </a:tc>
                <a:tc>
                  <a:txBody>
                    <a:bodyPr/>
                    <a:lstStyle/>
                    <a:p>
                      <a:pPr algn="l" fontAlgn="t"/>
                      <a:r>
                        <a:rPr lang="en-US">
                          <a:effectLst/>
                        </a:rPr>
                        <a:t> </a:t>
                      </a:r>
                    </a:p>
                  </a:txBody>
                  <a:tcPr marL="76200" marR="76200" marT="76200" marB="76200">
                    <a:lnL w="12700" cap="flat" cmpd="sng" algn="ctr">
                      <a:solidFill>
                        <a:srgbClr val="A07528"/>
                      </a:solidFill>
                      <a:prstDash val="solid"/>
                      <a:round/>
                      <a:headEnd type="none" w="med" len="med"/>
                      <a:tailEnd type="none" w="med" len="med"/>
                    </a:lnL>
                    <a:lnR w="12700" cap="flat" cmpd="sng" algn="ctr">
                      <a:solidFill>
                        <a:srgbClr val="A87628"/>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687728"/>
                      </a:solidFill>
                      <a:prstDash val="solid"/>
                      <a:round/>
                      <a:headEnd type="none" w="med" len="med"/>
                      <a:tailEnd type="none" w="med" len="med"/>
                    </a:lnB>
                    <a:solidFill>
                      <a:srgbClr val="FFFFFF"/>
                    </a:solidFill>
                  </a:tcPr>
                </a:tc>
                <a:tc>
                  <a:txBody>
                    <a:bodyPr/>
                    <a:lstStyle/>
                    <a:p>
                      <a:pPr algn="l" fontAlgn="t"/>
                      <a:r>
                        <a:rPr lang="en-US" b="1" dirty="0">
                          <a:effectLst/>
                        </a:rPr>
                        <a:t>280 man-hour</a:t>
                      </a:r>
                      <a:endParaRPr lang="en-US" dirty="0">
                        <a:effectLst/>
                      </a:endParaRPr>
                    </a:p>
                  </a:txBody>
                  <a:tcPr marL="76200" marR="76200" marT="76200" marB="76200">
                    <a:lnL w="12700" cap="flat" cmpd="sng" algn="ctr">
                      <a:solidFill>
                        <a:srgbClr val="A87628"/>
                      </a:solidFill>
                      <a:prstDash val="solid"/>
                      <a:round/>
                      <a:headEnd type="none" w="med" len="med"/>
                      <a:tailEnd type="none" w="med" len="med"/>
                    </a:lnL>
                    <a:lnR w="12700" cap="flat" cmpd="sng" algn="ctr">
                      <a:solidFill>
                        <a:srgbClr val="487328"/>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rgbClr val="C87728"/>
                      </a:solidFill>
                      <a:prstDash val="solid"/>
                      <a:round/>
                      <a:headEnd type="none" w="med" len="med"/>
                      <a:tailEnd type="none" w="med" len="med"/>
                    </a:lnB>
                    <a:solidFill>
                      <a:srgbClr val="FFFFFF"/>
                    </a:solidFill>
                  </a:tcPr>
                </a:tc>
                <a:extLst>
                  <a:ext uri="{0D108BD9-81ED-4DB2-BD59-A6C34878D82A}">
                    <a16:rowId xmlns:a16="http://schemas.microsoft.com/office/drawing/2014/main" val="2591081957"/>
                  </a:ext>
                </a:extLst>
              </a:tr>
            </a:tbl>
          </a:graphicData>
        </a:graphic>
      </p:graphicFrame>
    </p:spTree>
    <p:extLst>
      <p:ext uri="{BB962C8B-B14F-4D97-AF65-F5344CB8AC3E}">
        <p14:creationId xmlns:p14="http://schemas.microsoft.com/office/powerpoint/2010/main" val="857134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BC4B-FD45-4E8B-BC47-5AA6CCD559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F7C46D-EC92-4585-BDA2-8D382B41C3CB}"/>
              </a:ext>
            </a:extLst>
          </p:cNvPr>
          <p:cNvSpPr>
            <a:spLocks noGrp="1"/>
          </p:cNvSpPr>
          <p:nvPr>
            <p:ph idx="1"/>
          </p:nvPr>
        </p:nvSpPr>
        <p:spPr>
          <a:xfrm>
            <a:off x="956604" y="2560320"/>
            <a:ext cx="9206890" cy="3684563"/>
          </a:xfrm>
        </p:spPr>
        <p:txBody>
          <a:bodyPr>
            <a:normAutofit fontScale="85000" lnSpcReduction="20000"/>
          </a:bodyPr>
          <a:lstStyle/>
          <a:p>
            <a:r>
              <a:rPr lang="en-US" dirty="0"/>
              <a:t>Then you create the schedule to complete these tasks.</a:t>
            </a:r>
          </a:p>
          <a:p>
            <a:endParaRPr lang="en-US" dirty="0"/>
          </a:p>
          <a:p>
            <a:r>
              <a:rPr lang="en-US" dirty="0"/>
              <a:t>Making schedule is a common term in project management. By creating a solid schedule in the Test Planning, the Test Manager can use it as tool for monitoring the project progress, control the cost overruns.</a:t>
            </a:r>
          </a:p>
          <a:p>
            <a:endParaRPr lang="en-US" dirty="0"/>
          </a:p>
          <a:p>
            <a:r>
              <a:rPr lang="en-US" dirty="0"/>
              <a:t>To create the project schedule, the Test Manager needs several types of input as below:</a:t>
            </a:r>
          </a:p>
          <a:p>
            <a:endParaRPr lang="en-US" dirty="0"/>
          </a:p>
          <a:p>
            <a:r>
              <a:rPr lang="en-US" b="1" dirty="0"/>
              <a:t>Employee and project deadline</a:t>
            </a:r>
            <a:r>
              <a:rPr lang="en-US" dirty="0"/>
              <a:t>: The working days, the project deadline, resource availability are the factors which affected to the schedule</a:t>
            </a:r>
          </a:p>
          <a:p>
            <a:r>
              <a:rPr lang="en-US" b="1" dirty="0"/>
              <a:t>Project estimation</a:t>
            </a:r>
            <a:r>
              <a:rPr lang="en-US" dirty="0"/>
              <a:t>:  Base on the estimation, the Test Manager knows how long it takes to complete the project. So he can make the appropriate project schedule</a:t>
            </a:r>
          </a:p>
          <a:p>
            <a:r>
              <a:rPr lang="en-US" b="1" dirty="0"/>
              <a:t>Project Risk : </a:t>
            </a:r>
            <a:r>
              <a:rPr lang="en-US" dirty="0"/>
              <a:t>Understanding the risk helps Test Manager add enough extra time to the project schedule to deal with the risks</a:t>
            </a:r>
          </a:p>
        </p:txBody>
      </p:sp>
    </p:spTree>
    <p:extLst>
      <p:ext uri="{BB962C8B-B14F-4D97-AF65-F5344CB8AC3E}">
        <p14:creationId xmlns:p14="http://schemas.microsoft.com/office/powerpoint/2010/main" val="4028288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033F6-14E5-4278-BF53-F17D5AAA6537}"/>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68F85217-5668-4EB6-9E80-F77BBD2585B5}"/>
              </a:ext>
            </a:extLst>
          </p:cNvPr>
          <p:cNvPicPr>
            <a:picLocks noGrp="1" noChangeAspect="1"/>
          </p:cNvPicPr>
          <p:nvPr>
            <p:ph idx="1"/>
          </p:nvPr>
        </p:nvPicPr>
        <p:blipFill>
          <a:blip r:embed="rId2"/>
          <a:stretch>
            <a:fillRect/>
          </a:stretch>
        </p:blipFill>
        <p:spPr>
          <a:xfrm>
            <a:off x="538491" y="2983791"/>
            <a:ext cx="10851480" cy="3135655"/>
          </a:xfrm>
          <a:prstGeom prst="rect">
            <a:avLst/>
          </a:prstGeom>
        </p:spPr>
      </p:pic>
    </p:spTree>
    <p:extLst>
      <p:ext uri="{BB962C8B-B14F-4D97-AF65-F5344CB8AC3E}">
        <p14:creationId xmlns:p14="http://schemas.microsoft.com/office/powerpoint/2010/main" val="10315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96AC8-D118-4AA6-A922-663881D3AE86}"/>
              </a:ext>
            </a:extLst>
          </p:cNvPr>
          <p:cNvSpPr>
            <a:spLocks noGrp="1"/>
          </p:cNvSpPr>
          <p:nvPr>
            <p:ph type="title"/>
          </p:nvPr>
        </p:nvSpPr>
        <p:spPr/>
        <p:txBody>
          <a:bodyPr/>
          <a:lstStyle/>
          <a:p>
            <a:r>
              <a:rPr lang="en-US" dirty="0"/>
              <a:t>Step 8) Test Deliverables</a:t>
            </a:r>
            <a:br>
              <a:rPr lang="en-US" dirty="0"/>
            </a:br>
            <a:endParaRPr lang="en-US" dirty="0"/>
          </a:p>
        </p:txBody>
      </p:sp>
      <p:sp>
        <p:nvSpPr>
          <p:cNvPr id="4" name="Content Placeholder 3">
            <a:extLst>
              <a:ext uri="{FF2B5EF4-FFF2-40B4-BE49-F238E27FC236}">
                <a16:creationId xmlns:a16="http://schemas.microsoft.com/office/drawing/2014/main" id="{EF9AC4C7-3F19-45CB-AA82-9FAE52E7AEC0}"/>
              </a:ext>
            </a:extLst>
          </p:cNvPr>
          <p:cNvSpPr>
            <a:spLocks noGrp="1"/>
          </p:cNvSpPr>
          <p:nvPr>
            <p:ph idx="1"/>
          </p:nvPr>
        </p:nvSpPr>
        <p:spPr/>
        <p:txBody>
          <a:bodyPr/>
          <a:lstStyle/>
          <a:p>
            <a:r>
              <a:rPr lang="en-US" dirty="0"/>
              <a:t>Step 8) Test Deliverables</a:t>
            </a:r>
          </a:p>
          <a:p>
            <a:r>
              <a:rPr lang="en-US" dirty="0"/>
              <a:t>Test Deliverables is a list of all the documents, tools and other components that has to be developed and maintained in support of the testing effort.</a:t>
            </a:r>
          </a:p>
          <a:p>
            <a:r>
              <a:rPr lang="en-US" dirty="0"/>
              <a:t>There are different test deliverables at every phase of the software development lifecycle.</a:t>
            </a:r>
          </a:p>
          <a:p>
            <a:endParaRPr lang="en-US" dirty="0"/>
          </a:p>
        </p:txBody>
      </p:sp>
      <p:pic>
        <p:nvPicPr>
          <p:cNvPr id="5" name="Picture 4">
            <a:extLst>
              <a:ext uri="{FF2B5EF4-FFF2-40B4-BE49-F238E27FC236}">
                <a16:creationId xmlns:a16="http://schemas.microsoft.com/office/drawing/2014/main" id="{B60204A8-C542-499A-99BD-65C648F38A25}"/>
              </a:ext>
            </a:extLst>
          </p:cNvPr>
          <p:cNvPicPr>
            <a:picLocks noChangeAspect="1"/>
          </p:cNvPicPr>
          <p:nvPr/>
        </p:nvPicPr>
        <p:blipFill>
          <a:blip r:embed="rId2"/>
          <a:stretch>
            <a:fillRect/>
          </a:stretch>
        </p:blipFill>
        <p:spPr>
          <a:xfrm>
            <a:off x="1897527" y="4480706"/>
            <a:ext cx="6559940" cy="1206678"/>
          </a:xfrm>
          <a:prstGeom prst="rect">
            <a:avLst/>
          </a:prstGeom>
        </p:spPr>
      </p:pic>
    </p:spTree>
    <p:extLst>
      <p:ext uri="{BB962C8B-B14F-4D97-AF65-F5344CB8AC3E}">
        <p14:creationId xmlns:p14="http://schemas.microsoft.com/office/powerpoint/2010/main" val="2517381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1424D-B0EF-4586-A545-5C20F9B239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4837C9-FA25-493F-9D80-D73BD909B82A}"/>
              </a:ext>
            </a:extLst>
          </p:cNvPr>
          <p:cNvSpPr>
            <a:spLocks noGrp="1"/>
          </p:cNvSpPr>
          <p:nvPr>
            <p:ph idx="1"/>
          </p:nvPr>
        </p:nvSpPr>
        <p:spPr>
          <a:xfrm>
            <a:off x="759656" y="2264898"/>
            <a:ext cx="9220958" cy="3754902"/>
          </a:xfrm>
        </p:spPr>
        <p:txBody>
          <a:bodyPr>
            <a:normAutofit fontScale="70000" lnSpcReduction="20000"/>
          </a:bodyPr>
          <a:lstStyle/>
          <a:p>
            <a:pPr marL="0" indent="0">
              <a:buNone/>
            </a:pPr>
            <a:r>
              <a:rPr lang="en-US" dirty="0"/>
              <a:t>Test deliverables are provided before testing phase.</a:t>
            </a:r>
          </a:p>
          <a:p>
            <a:endParaRPr lang="en-US" dirty="0"/>
          </a:p>
          <a:p>
            <a:r>
              <a:rPr lang="en-US" dirty="0"/>
              <a:t>Test plans document.</a:t>
            </a:r>
          </a:p>
          <a:p>
            <a:r>
              <a:rPr lang="en-US" dirty="0"/>
              <a:t>Test cases documents</a:t>
            </a:r>
          </a:p>
          <a:p>
            <a:r>
              <a:rPr lang="en-US" dirty="0"/>
              <a:t>Test Design specifications.</a:t>
            </a:r>
          </a:p>
          <a:p>
            <a:endParaRPr lang="en-US" dirty="0"/>
          </a:p>
          <a:p>
            <a:pPr marL="0" indent="0">
              <a:buNone/>
            </a:pPr>
            <a:r>
              <a:rPr lang="en-US" dirty="0"/>
              <a:t>Test deliverables are provided during the testing</a:t>
            </a:r>
          </a:p>
          <a:p>
            <a:endParaRPr lang="en-US" dirty="0"/>
          </a:p>
          <a:p>
            <a:r>
              <a:rPr lang="en-US" dirty="0"/>
              <a:t>Test Scripts</a:t>
            </a:r>
          </a:p>
          <a:p>
            <a:r>
              <a:rPr lang="en-US" dirty="0"/>
              <a:t>Simulators.</a:t>
            </a:r>
          </a:p>
          <a:p>
            <a:r>
              <a:rPr lang="en-US" dirty="0"/>
              <a:t>Test Data</a:t>
            </a:r>
          </a:p>
          <a:p>
            <a:r>
              <a:rPr lang="en-US" dirty="0"/>
              <a:t>Test Traceability Matrix</a:t>
            </a:r>
          </a:p>
          <a:p>
            <a:r>
              <a:rPr lang="en-US" dirty="0"/>
              <a:t>Error logs and execution logs.</a:t>
            </a:r>
          </a:p>
        </p:txBody>
      </p:sp>
    </p:spTree>
    <p:extLst>
      <p:ext uri="{BB962C8B-B14F-4D97-AF65-F5344CB8AC3E}">
        <p14:creationId xmlns:p14="http://schemas.microsoft.com/office/powerpoint/2010/main" val="408056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DD8B8-81BD-48CD-9C01-63C2E83F96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76BE90-CB07-488E-90B5-B1C5BB29E516}"/>
              </a:ext>
            </a:extLst>
          </p:cNvPr>
          <p:cNvSpPr>
            <a:spLocks noGrp="1"/>
          </p:cNvSpPr>
          <p:nvPr>
            <p:ph idx="1"/>
          </p:nvPr>
        </p:nvSpPr>
        <p:spPr/>
        <p:txBody>
          <a:bodyPr/>
          <a:lstStyle/>
          <a:p>
            <a:r>
              <a:rPr lang="en-US" dirty="0"/>
              <a:t>Test deliverables are provided </a:t>
            </a:r>
            <a:r>
              <a:rPr lang="en-US" b="1" dirty="0"/>
              <a:t>after</a:t>
            </a:r>
            <a:r>
              <a:rPr lang="en-US" dirty="0"/>
              <a:t> the testing cycles is over.</a:t>
            </a:r>
          </a:p>
          <a:p>
            <a:r>
              <a:rPr lang="en-US" b="1" dirty="0"/>
              <a:t>Test Results/reports</a:t>
            </a:r>
            <a:endParaRPr lang="en-US" dirty="0"/>
          </a:p>
          <a:p>
            <a:r>
              <a:rPr lang="en-US" dirty="0"/>
              <a:t>Defect Report</a:t>
            </a:r>
          </a:p>
          <a:p>
            <a:r>
              <a:rPr lang="en-US" dirty="0"/>
              <a:t>Installation/ Test procedures guidelines</a:t>
            </a:r>
          </a:p>
          <a:p>
            <a:r>
              <a:rPr lang="en-US" b="1" dirty="0"/>
              <a:t>Release notes</a:t>
            </a:r>
            <a:endParaRPr lang="en-US" dirty="0"/>
          </a:p>
          <a:p>
            <a:endParaRPr lang="en-US" dirty="0"/>
          </a:p>
        </p:txBody>
      </p:sp>
    </p:spTree>
    <p:extLst>
      <p:ext uri="{BB962C8B-B14F-4D97-AF65-F5344CB8AC3E}">
        <p14:creationId xmlns:p14="http://schemas.microsoft.com/office/powerpoint/2010/main" val="31713292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1771</TotalTime>
  <Words>2371</Words>
  <Application>Microsoft Office PowerPoint</Application>
  <PresentationFormat>Widescreen</PresentationFormat>
  <Paragraphs>219</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Century Gothic</vt:lpstr>
      <vt:lpstr>Source Sans Pro</vt:lpstr>
      <vt:lpstr>Wingdings 3</vt:lpstr>
      <vt:lpstr>Ion Boardroom</vt:lpstr>
      <vt:lpstr>      BSSE    -Software Quality Engineering      Week-12  Lecture 23-24  Semester 6- Fall 2020</vt:lpstr>
      <vt:lpstr>What is a Test Plan? </vt:lpstr>
      <vt:lpstr>PowerPoint Presentation</vt:lpstr>
      <vt:lpstr>PowerPoint Presentation</vt:lpstr>
      <vt:lpstr>PowerPoint Presentation</vt:lpstr>
      <vt:lpstr>PowerPoint Presentation</vt:lpstr>
      <vt:lpstr>PowerPoint Presentation</vt:lpstr>
      <vt:lpstr>Step 2) Develop Test Strategy </vt:lpstr>
      <vt:lpstr>Step 2.1) Define Scope of Testing </vt:lpstr>
      <vt:lpstr>How do you determine scope your project? </vt:lpstr>
      <vt:lpstr>PowerPoint Presentation</vt:lpstr>
      <vt:lpstr>PowerPoint Presentation</vt:lpstr>
      <vt:lpstr>PowerPoint Presentation</vt:lpstr>
      <vt:lpstr>Step 2.3) Document Risk &amp; Issues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Resource For testing, a web application, you should plan the resources as following tables: </vt:lpstr>
      <vt:lpstr>PowerPoint Presentation</vt:lpstr>
      <vt:lpstr>PowerPoint Presentation</vt:lpstr>
      <vt:lpstr>Step 7) Schedule &amp; Estimation </vt:lpstr>
      <vt:lpstr>PowerPoint Presentation</vt:lpstr>
      <vt:lpstr>PowerPoint Presentation</vt:lpstr>
      <vt:lpstr>PowerPoint Presentation</vt:lpstr>
      <vt:lpstr>Step 8) Test Deliverables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13</dc:title>
  <dc:creator>Zarsha</dc:creator>
  <cp:lastModifiedBy>Zarsha</cp:lastModifiedBy>
  <cp:revision>32</cp:revision>
  <dcterms:created xsi:type="dcterms:W3CDTF">2019-10-13T12:26:15Z</dcterms:created>
  <dcterms:modified xsi:type="dcterms:W3CDTF">2020-05-10T10:40:31Z</dcterms:modified>
</cp:coreProperties>
</file>